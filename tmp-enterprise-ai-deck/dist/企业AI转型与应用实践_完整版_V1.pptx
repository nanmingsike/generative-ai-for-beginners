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</p:sldIdLst>
  <p:notesMasterIdLst>
    <p:notesMasterId r:id="rId9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notesMaster" Target="notesMasters/notesMaster1.xml"/><Relationship Id="rId98" Type="http://schemas.openxmlformats.org/officeDocument/2006/relationships/presProps" Target="presProps.xml"/><Relationship Id="rId99" Type="http://schemas.openxmlformats.org/officeDocument/2006/relationships/viewProps" Target="viewProps.xml"/><Relationship Id="rId100" Type="http://schemas.openxmlformats.org/officeDocument/2006/relationships/theme" Target="theme/theme1.xml"/><Relationship Id="rId10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8BFF"/>
          </a:solidFill>
          <a:ln w="12700">
            <a:solidFill>
              <a:srgbClr val="1D8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71A32"/>
          </a:solidFill>
          <a:ln w="12700">
            <a:solidFill>
              <a:srgbClr val="071A3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sv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sv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sv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sv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image" Target="../media/image-21-7.png"/><Relationship Id="rId8" Type="http://schemas.openxmlformats.org/officeDocument/2006/relationships/image" Target="../media/image-21-8.svg"/><Relationship Id="rId9" Type="http://schemas.openxmlformats.org/officeDocument/2006/relationships/image" Target="../media/image-21-9.png"/><Relationship Id="rId10" Type="http://schemas.openxmlformats.org/officeDocument/2006/relationships/image" Target="../media/image-21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image" Target="../media/image-24-5.png"/><Relationship Id="rId6" Type="http://schemas.openxmlformats.org/officeDocument/2006/relationships/image" Target="../media/image-24-6.svg"/><Relationship Id="rId7" Type="http://schemas.openxmlformats.org/officeDocument/2006/relationships/image" Target="../media/image-24-7.png"/><Relationship Id="rId8" Type="http://schemas.openxmlformats.org/officeDocument/2006/relationships/image" Target="../media/image-24-8.svg"/><Relationship Id="rId9" Type="http://schemas.openxmlformats.org/officeDocument/2006/relationships/image" Target="../media/image-24-9.png"/><Relationship Id="rId10" Type="http://schemas.openxmlformats.org/officeDocument/2006/relationships/image" Target="../media/image-24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image" Target="../media/image-25-5.png"/><Relationship Id="rId6" Type="http://schemas.openxmlformats.org/officeDocument/2006/relationships/image" Target="../media/image-25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image" Target="../media/image-26-3.png"/><Relationship Id="rId4" Type="http://schemas.openxmlformats.org/officeDocument/2006/relationships/image" Target="../media/image-26-4.svg"/><Relationship Id="rId5" Type="http://schemas.openxmlformats.org/officeDocument/2006/relationships/image" Target="../media/image-26-5.png"/><Relationship Id="rId6" Type="http://schemas.openxmlformats.org/officeDocument/2006/relationships/image" Target="../media/image-26-6.svg"/><Relationship Id="rId7" Type="http://schemas.openxmlformats.org/officeDocument/2006/relationships/image" Target="../media/image-26-7.png"/><Relationship Id="rId8" Type="http://schemas.openxmlformats.org/officeDocument/2006/relationships/image" Target="../media/image-26-8.svg"/><Relationship Id="rId9" Type="http://schemas.openxmlformats.org/officeDocument/2006/relationships/image" Target="../media/image-26-9.png"/><Relationship Id="rId10" Type="http://schemas.openxmlformats.org/officeDocument/2006/relationships/image" Target="../media/image-26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image" Target="../media/image-27-3.png"/><Relationship Id="rId4" Type="http://schemas.openxmlformats.org/officeDocument/2006/relationships/image" Target="../media/image-27-4.svg"/><Relationship Id="rId5" Type="http://schemas.openxmlformats.org/officeDocument/2006/relationships/image" Target="../media/image-27-5.png"/><Relationship Id="rId6" Type="http://schemas.openxmlformats.org/officeDocument/2006/relationships/image" Target="../media/image-27-6.svg"/><Relationship Id="rId7" Type="http://schemas.openxmlformats.org/officeDocument/2006/relationships/image" Target="../media/image-27-7.png"/><Relationship Id="rId8" Type="http://schemas.openxmlformats.org/officeDocument/2006/relationships/image" Target="../media/image-27-8.svg"/><Relationship Id="rId9" Type="http://schemas.openxmlformats.org/officeDocument/2006/relationships/image" Target="../media/image-27-9.png"/><Relationship Id="rId10" Type="http://schemas.openxmlformats.org/officeDocument/2006/relationships/image" Target="../media/image-27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image" Target="../media/image-28-3.png"/><Relationship Id="rId4" Type="http://schemas.openxmlformats.org/officeDocument/2006/relationships/image" Target="../media/image-28-4.svg"/><Relationship Id="rId5" Type="http://schemas.openxmlformats.org/officeDocument/2006/relationships/image" Target="../media/image-28-5.png"/><Relationship Id="rId6" Type="http://schemas.openxmlformats.org/officeDocument/2006/relationships/image" Target="../media/image-28-6.svg"/><Relationship Id="rId7" Type="http://schemas.openxmlformats.org/officeDocument/2006/relationships/image" Target="../media/image-28-7.png"/><Relationship Id="rId8" Type="http://schemas.openxmlformats.org/officeDocument/2006/relationships/image" Target="../media/image-28-8.svg"/><Relationship Id="rId9" Type="http://schemas.openxmlformats.org/officeDocument/2006/relationships/image" Target="../media/image-28-9.png"/><Relationship Id="rId10" Type="http://schemas.openxmlformats.org/officeDocument/2006/relationships/image" Target="../media/image-28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image" Target="../media/image-29-3.png"/><Relationship Id="rId4" Type="http://schemas.openxmlformats.org/officeDocument/2006/relationships/image" Target="../media/image-29-4.svg"/><Relationship Id="rId5" Type="http://schemas.openxmlformats.org/officeDocument/2006/relationships/image" Target="../media/image-29-5.png"/><Relationship Id="rId6" Type="http://schemas.openxmlformats.org/officeDocument/2006/relationships/image" Target="../media/image-29-6.svg"/><Relationship Id="rId7" Type="http://schemas.openxmlformats.org/officeDocument/2006/relationships/image" Target="../media/image-29-7.png"/><Relationship Id="rId8" Type="http://schemas.openxmlformats.org/officeDocument/2006/relationships/image" Target="../media/image-29-8.svg"/><Relationship Id="rId9" Type="http://schemas.openxmlformats.org/officeDocument/2006/relationships/image" Target="../media/image-29-9.png"/><Relationship Id="rId10" Type="http://schemas.openxmlformats.org/officeDocument/2006/relationships/image" Target="../media/image-29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image" Target="../media/image-31-3.png"/><Relationship Id="rId4" Type="http://schemas.openxmlformats.org/officeDocument/2006/relationships/image" Target="../media/image-31-4.svg"/><Relationship Id="rId5" Type="http://schemas.openxmlformats.org/officeDocument/2006/relationships/image" Target="../media/image-31-5.png"/><Relationship Id="rId6" Type="http://schemas.openxmlformats.org/officeDocument/2006/relationships/image" Target="../media/image-31-6.svg"/><Relationship Id="rId7" Type="http://schemas.openxmlformats.org/officeDocument/2006/relationships/image" Target="../media/image-31-7.png"/><Relationship Id="rId8" Type="http://schemas.openxmlformats.org/officeDocument/2006/relationships/image" Target="../media/image-31-8.svg"/><Relationship Id="rId9" Type="http://schemas.openxmlformats.org/officeDocument/2006/relationships/image" Target="../media/image-31-9.png"/><Relationship Id="rId10" Type="http://schemas.openxmlformats.org/officeDocument/2006/relationships/image" Target="../media/image-31-10.svg"/><Relationship Id="rId11" Type="http://schemas.openxmlformats.org/officeDocument/2006/relationships/image" Target="../media/image-31-11.png"/><Relationship Id="rId12" Type="http://schemas.openxmlformats.org/officeDocument/2006/relationships/image" Target="../media/image-31-12.svg"/><Relationship Id="rId13" Type="http://schemas.openxmlformats.org/officeDocument/2006/relationships/image" Target="../media/image-31-13.png"/><Relationship Id="rId14" Type="http://schemas.openxmlformats.org/officeDocument/2006/relationships/image" Target="../media/image-31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image" Target="../media/image-32-3.png"/><Relationship Id="rId4" Type="http://schemas.openxmlformats.org/officeDocument/2006/relationships/image" Target="../media/image-32-4.svg"/><Relationship Id="rId5" Type="http://schemas.openxmlformats.org/officeDocument/2006/relationships/image" Target="../media/image-32-5.png"/><Relationship Id="rId6" Type="http://schemas.openxmlformats.org/officeDocument/2006/relationships/image" Target="../media/image-32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image" Target="../media/image-33-3.png"/><Relationship Id="rId4" Type="http://schemas.openxmlformats.org/officeDocument/2006/relationships/image" Target="../media/image-33-4.svg"/><Relationship Id="rId5" Type="http://schemas.openxmlformats.org/officeDocument/2006/relationships/image" Target="../media/image-33-5.png"/><Relationship Id="rId6" Type="http://schemas.openxmlformats.org/officeDocument/2006/relationships/image" Target="../media/image-33-6.svg"/><Relationship Id="rId7" Type="http://schemas.openxmlformats.org/officeDocument/2006/relationships/image" Target="../media/image-33-7.png"/><Relationship Id="rId8" Type="http://schemas.openxmlformats.org/officeDocument/2006/relationships/image" Target="../media/image-33-8.svg"/><Relationship Id="rId9" Type="http://schemas.openxmlformats.org/officeDocument/2006/relationships/image" Target="../media/image-33-9.png"/><Relationship Id="rId10" Type="http://schemas.openxmlformats.org/officeDocument/2006/relationships/image" Target="../media/image-33-10.svg"/><Relationship Id="rId11" Type="http://schemas.openxmlformats.org/officeDocument/2006/relationships/image" Target="../media/image-33-11.png"/><Relationship Id="rId12" Type="http://schemas.openxmlformats.org/officeDocument/2006/relationships/image" Target="../media/image-33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svg"/><Relationship Id="rId3" Type="http://schemas.openxmlformats.org/officeDocument/2006/relationships/image" Target="../media/image-34-3.png"/><Relationship Id="rId4" Type="http://schemas.openxmlformats.org/officeDocument/2006/relationships/image" Target="../media/image-34-4.svg"/><Relationship Id="rId5" Type="http://schemas.openxmlformats.org/officeDocument/2006/relationships/image" Target="../media/image-34-5.png"/><Relationship Id="rId6" Type="http://schemas.openxmlformats.org/officeDocument/2006/relationships/image" Target="../media/image-34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svg"/><Relationship Id="rId3" Type="http://schemas.openxmlformats.org/officeDocument/2006/relationships/image" Target="../media/image-35-3.png"/><Relationship Id="rId4" Type="http://schemas.openxmlformats.org/officeDocument/2006/relationships/image" Target="../media/image-35-4.svg"/><Relationship Id="rId5" Type="http://schemas.openxmlformats.org/officeDocument/2006/relationships/image" Target="../media/image-35-5.png"/><Relationship Id="rId6" Type="http://schemas.openxmlformats.org/officeDocument/2006/relationships/image" Target="../media/image-35-6.svg"/><Relationship Id="rId7" Type="http://schemas.openxmlformats.org/officeDocument/2006/relationships/image" Target="../media/image-35-7.png"/><Relationship Id="rId8" Type="http://schemas.openxmlformats.org/officeDocument/2006/relationships/image" Target="../media/image-35-8.svg"/><Relationship Id="rId9" Type="http://schemas.openxmlformats.org/officeDocument/2006/relationships/image" Target="../media/image-35-9.png"/><Relationship Id="rId10" Type="http://schemas.openxmlformats.org/officeDocument/2006/relationships/image" Target="../media/image-35-10.svg"/><Relationship Id="rId11" Type="http://schemas.openxmlformats.org/officeDocument/2006/relationships/image" Target="../media/image-35-11.png"/><Relationship Id="rId12" Type="http://schemas.openxmlformats.org/officeDocument/2006/relationships/image" Target="../media/image-35-12.svg"/><Relationship Id="rId13" Type="http://schemas.openxmlformats.org/officeDocument/2006/relationships/image" Target="../media/image-35-13.png"/><Relationship Id="rId14" Type="http://schemas.openxmlformats.org/officeDocument/2006/relationships/image" Target="../media/image-35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svg"/><Relationship Id="rId3" Type="http://schemas.openxmlformats.org/officeDocument/2006/relationships/image" Target="../media/image-36-3.png"/><Relationship Id="rId4" Type="http://schemas.openxmlformats.org/officeDocument/2006/relationships/image" Target="../media/image-36-4.svg"/><Relationship Id="rId5" Type="http://schemas.openxmlformats.org/officeDocument/2006/relationships/image" Target="../media/image-36-5.png"/><Relationship Id="rId6" Type="http://schemas.openxmlformats.org/officeDocument/2006/relationships/image" Target="../media/image-36-6.svg"/><Relationship Id="rId7" Type="http://schemas.openxmlformats.org/officeDocument/2006/relationships/image" Target="../media/image-36-7.png"/><Relationship Id="rId8" Type="http://schemas.openxmlformats.org/officeDocument/2006/relationships/image" Target="../media/image-36-8.svg"/><Relationship Id="rId9" Type="http://schemas.openxmlformats.org/officeDocument/2006/relationships/image" Target="../media/image-36-9.png"/><Relationship Id="rId10" Type="http://schemas.openxmlformats.org/officeDocument/2006/relationships/image" Target="../media/image-36-10.svg"/><Relationship Id="rId11" Type="http://schemas.openxmlformats.org/officeDocument/2006/relationships/image" Target="../media/image-36-11.png"/><Relationship Id="rId12" Type="http://schemas.openxmlformats.org/officeDocument/2006/relationships/image" Target="../media/image-36-12.svg"/><Relationship Id="rId13" Type="http://schemas.openxmlformats.org/officeDocument/2006/relationships/image" Target="../media/image-36-13.png"/><Relationship Id="rId14" Type="http://schemas.openxmlformats.org/officeDocument/2006/relationships/image" Target="../media/image-36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svg"/><Relationship Id="rId3" Type="http://schemas.openxmlformats.org/officeDocument/2006/relationships/image" Target="../media/image-37-3.png"/><Relationship Id="rId4" Type="http://schemas.openxmlformats.org/officeDocument/2006/relationships/image" Target="../media/image-37-4.svg"/><Relationship Id="rId5" Type="http://schemas.openxmlformats.org/officeDocument/2006/relationships/image" Target="../media/image-37-5.png"/><Relationship Id="rId6" Type="http://schemas.openxmlformats.org/officeDocument/2006/relationships/image" Target="../media/image-37-6.svg"/><Relationship Id="rId7" Type="http://schemas.openxmlformats.org/officeDocument/2006/relationships/image" Target="../media/image-37-7.png"/><Relationship Id="rId8" Type="http://schemas.openxmlformats.org/officeDocument/2006/relationships/image" Target="../media/image-37-8.svg"/><Relationship Id="rId9" Type="http://schemas.openxmlformats.org/officeDocument/2006/relationships/image" Target="../media/image-37-9.png"/><Relationship Id="rId10" Type="http://schemas.openxmlformats.org/officeDocument/2006/relationships/image" Target="../media/image-37-10.svg"/><Relationship Id="rId11" Type="http://schemas.openxmlformats.org/officeDocument/2006/relationships/image" Target="../media/image-37-11.png"/><Relationship Id="rId12" Type="http://schemas.openxmlformats.org/officeDocument/2006/relationships/image" Target="../media/image-37-12.svg"/><Relationship Id="rId13" Type="http://schemas.openxmlformats.org/officeDocument/2006/relationships/image" Target="../media/image-37-13.png"/><Relationship Id="rId14" Type="http://schemas.openxmlformats.org/officeDocument/2006/relationships/image" Target="../media/image-37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svg"/><Relationship Id="rId3" Type="http://schemas.openxmlformats.org/officeDocument/2006/relationships/image" Target="../media/image-39-3.png"/><Relationship Id="rId4" Type="http://schemas.openxmlformats.org/officeDocument/2006/relationships/image" Target="../media/image-39-4.svg"/><Relationship Id="rId5" Type="http://schemas.openxmlformats.org/officeDocument/2006/relationships/image" Target="../media/image-39-5.png"/><Relationship Id="rId6" Type="http://schemas.openxmlformats.org/officeDocument/2006/relationships/image" Target="../media/image-39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svg"/><Relationship Id="rId3" Type="http://schemas.openxmlformats.org/officeDocument/2006/relationships/image" Target="../media/image-40-3.png"/><Relationship Id="rId4" Type="http://schemas.openxmlformats.org/officeDocument/2006/relationships/image" Target="../media/image-40-4.svg"/><Relationship Id="rId5" Type="http://schemas.openxmlformats.org/officeDocument/2006/relationships/image" Target="../media/image-40-5.png"/><Relationship Id="rId6" Type="http://schemas.openxmlformats.org/officeDocument/2006/relationships/image" Target="../media/image-40-6.svg"/><Relationship Id="rId7" Type="http://schemas.openxmlformats.org/officeDocument/2006/relationships/image" Target="../media/image-40-7.png"/><Relationship Id="rId8" Type="http://schemas.openxmlformats.org/officeDocument/2006/relationships/image" Target="../media/image-40-8.svg"/><Relationship Id="rId9" Type="http://schemas.openxmlformats.org/officeDocument/2006/relationships/image" Target="../media/image-40-9.png"/><Relationship Id="rId10" Type="http://schemas.openxmlformats.org/officeDocument/2006/relationships/image" Target="../media/image-40-10.svg"/><Relationship Id="rId11" Type="http://schemas.openxmlformats.org/officeDocument/2006/relationships/image" Target="../media/image-40-11.png"/><Relationship Id="rId12" Type="http://schemas.openxmlformats.org/officeDocument/2006/relationships/image" Target="../media/image-40-12.svg"/><Relationship Id="rId13" Type="http://schemas.openxmlformats.org/officeDocument/2006/relationships/image" Target="../media/image-40-13.png"/><Relationship Id="rId14" Type="http://schemas.openxmlformats.org/officeDocument/2006/relationships/image" Target="../media/image-40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svg"/><Relationship Id="rId3" Type="http://schemas.openxmlformats.org/officeDocument/2006/relationships/image" Target="../media/image-41-3.png"/><Relationship Id="rId4" Type="http://schemas.openxmlformats.org/officeDocument/2006/relationships/image" Target="../media/image-41-4.svg"/><Relationship Id="rId5" Type="http://schemas.openxmlformats.org/officeDocument/2006/relationships/image" Target="../media/image-41-5.png"/><Relationship Id="rId6" Type="http://schemas.openxmlformats.org/officeDocument/2006/relationships/image" Target="../media/image-41-6.svg"/><Relationship Id="rId7" Type="http://schemas.openxmlformats.org/officeDocument/2006/relationships/image" Target="../media/image-41-7.png"/><Relationship Id="rId8" Type="http://schemas.openxmlformats.org/officeDocument/2006/relationships/image" Target="../media/image-41-8.svg"/><Relationship Id="rId9" Type="http://schemas.openxmlformats.org/officeDocument/2006/relationships/image" Target="../media/image-41-9.png"/><Relationship Id="rId10" Type="http://schemas.openxmlformats.org/officeDocument/2006/relationships/image" Target="../media/image-41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svg"/><Relationship Id="rId3" Type="http://schemas.openxmlformats.org/officeDocument/2006/relationships/image" Target="../media/image-42-3.png"/><Relationship Id="rId4" Type="http://schemas.openxmlformats.org/officeDocument/2006/relationships/image" Target="../media/image-42-4.svg"/><Relationship Id="rId5" Type="http://schemas.openxmlformats.org/officeDocument/2006/relationships/image" Target="../media/image-42-5.png"/><Relationship Id="rId6" Type="http://schemas.openxmlformats.org/officeDocument/2006/relationships/image" Target="../media/image-42-6.svg"/><Relationship Id="rId7" Type="http://schemas.openxmlformats.org/officeDocument/2006/relationships/image" Target="../media/image-42-7.png"/><Relationship Id="rId8" Type="http://schemas.openxmlformats.org/officeDocument/2006/relationships/image" Target="../media/image-42-8.svg"/><Relationship Id="rId9" Type="http://schemas.openxmlformats.org/officeDocument/2006/relationships/image" Target="../media/image-42-9.png"/><Relationship Id="rId10" Type="http://schemas.openxmlformats.org/officeDocument/2006/relationships/image" Target="../media/image-42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svg"/><Relationship Id="rId3" Type="http://schemas.openxmlformats.org/officeDocument/2006/relationships/image" Target="../media/image-43-3.png"/><Relationship Id="rId4" Type="http://schemas.openxmlformats.org/officeDocument/2006/relationships/image" Target="../media/image-43-4.svg"/><Relationship Id="rId5" Type="http://schemas.openxmlformats.org/officeDocument/2006/relationships/image" Target="../media/image-43-5.png"/><Relationship Id="rId6" Type="http://schemas.openxmlformats.org/officeDocument/2006/relationships/image" Target="../media/image-43-6.svg"/><Relationship Id="rId7" Type="http://schemas.openxmlformats.org/officeDocument/2006/relationships/image" Target="../media/image-43-7.png"/><Relationship Id="rId8" Type="http://schemas.openxmlformats.org/officeDocument/2006/relationships/image" Target="../media/image-43-8.svg"/><Relationship Id="rId9" Type="http://schemas.openxmlformats.org/officeDocument/2006/relationships/image" Target="../media/image-43-9.png"/><Relationship Id="rId10" Type="http://schemas.openxmlformats.org/officeDocument/2006/relationships/image" Target="../media/image-43-10.svg"/><Relationship Id="rId11" Type="http://schemas.openxmlformats.org/officeDocument/2006/relationships/image" Target="../media/image-43-11.png"/><Relationship Id="rId12" Type="http://schemas.openxmlformats.org/officeDocument/2006/relationships/image" Target="../media/image-43-12.svg"/><Relationship Id="rId13" Type="http://schemas.openxmlformats.org/officeDocument/2006/relationships/image" Target="../media/image-43-13.png"/><Relationship Id="rId14" Type="http://schemas.openxmlformats.org/officeDocument/2006/relationships/image" Target="../media/image-43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svg"/><Relationship Id="rId3" Type="http://schemas.openxmlformats.org/officeDocument/2006/relationships/image" Target="../media/image-44-3.png"/><Relationship Id="rId4" Type="http://schemas.openxmlformats.org/officeDocument/2006/relationships/image" Target="../media/image-44-4.svg"/><Relationship Id="rId5" Type="http://schemas.openxmlformats.org/officeDocument/2006/relationships/image" Target="../media/image-44-5.png"/><Relationship Id="rId6" Type="http://schemas.openxmlformats.org/officeDocument/2006/relationships/image" Target="../media/image-44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svg"/><Relationship Id="rId3" Type="http://schemas.openxmlformats.org/officeDocument/2006/relationships/image" Target="../media/image-45-3.png"/><Relationship Id="rId4" Type="http://schemas.openxmlformats.org/officeDocument/2006/relationships/image" Target="../media/image-45-4.svg"/><Relationship Id="rId5" Type="http://schemas.openxmlformats.org/officeDocument/2006/relationships/image" Target="../media/image-45-5.png"/><Relationship Id="rId6" Type="http://schemas.openxmlformats.org/officeDocument/2006/relationships/image" Target="../media/image-45-6.svg"/><Relationship Id="rId7" Type="http://schemas.openxmlformats.org/officeDocument/2006/relationships/image" Target="../media/image-45-7.png"/><Relationship Id="rId8" Type="http://schemas.openxmlformats.org/officeDocument/2006/relationships/image" Target="../media/image-45-8.svg"/><Relationship Id="rId9" Type="http://schemas.openxmlformats.org/officeDocument/2006/relationships/image" Target="../media/image-45-9.png"/><Relationship Id="rId10" Type="http://schemas.openxmlformats.org/officeDocument/2006/relationships/image" Target="../media/image-45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svg"/><Relationship Id="rId3" Type="http://schemas.openxmlformats.org/officeDocument/2006/relationships/image" Target="../media/image-46-3.png"/><Relationship Id="rId4" Type="http://schemas.openxmlformats.org/officeDocument/2006/relationships/image" Target="../media/image-46-4.svg"/><Relationship Id="rId5" Type="http://schemas.openxmlformats.org/officeDocument/2006/relationships/image" Target="../media/image-46-5.png"/><Relationship Id="rId6" Type="http://schemas.openxmlformats.org/officeDocument/2006/relationships/image" Target="../media/image-46-6.svg"/><Relationship Id="rId7" Type="http://schemas.openxmlformats.org/officeDocument/2006/relationships/image" Target="../media/image-46-7.png"/><Relationship Id="rId8" Type="http://schemas.openxmlformats.org/officeDocument/2006/relationships/image" Target="../media/image-46-8.svg"/><Relationship Id="rId9" Type="http://schemas.openxmlformats.org/officeDocument/2006/relationships/image" Target="../media/image-46-9.png"/><Relationship Id="rId10" Type="http://schemas.openxmlformats.org/officeDocument/2006/relationships/image" Target="../media/image-46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svg"/><Relationship Id="rId3" Type="http://schemas.openxmlformats.org/officeDocument/2006/relationships/image" Target="../media/image-47-3.png"/><Relationship Id="rId4" Type="http://schemas.openxmlformats.org/officeDocument/2006/relationships/image" Target="../media/image-47-4.svg"/><Relationship Id="rId5" Type="http://schemas.openxmlformats.org/officeDocument/2006/relationships/image" Target="../media/image-47-5.png"/><Relationship Id="rId6" Type="http://schemas.openxmlformats.org/officeDocument/2006/relationships/image" Target="../media/image-47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svg"/><Relationship Id="rId3" Type="http://schemas.openxmlformats.org/officeDocument/2006/relationships/image" Target="../media/image-48-3.png"/><Relationship Id="rId4" Type="http://schemas.openxmlformats.org/officeDocument/2006/relationships/image" Target="../media/image-48-4.svg"/><Relationship Id="rId5" Type="http://schemas.openxmlformats.org/officeDocument/2006/relationships/image" Target="../media/image-48-5.png"/><Relationship Id="rId6" Type="http://schemas.openxmlformats.org/officeDocument/2006/relationships/image" Target="../media/image-48-6.svg"/><Relationship Id="rId7" Type="http://schemas.openxmlformats.org/officeDocument/2006/relationships/image" Target="../media/image-48-7.png"/><Relationship Id="rId8" Type="http://schemas.openxmlformats.org/officeDocument/2006/relationships/image" Target="../media/image-48-8.svg"/><Relationship Id="rId9" Type="http://schemas.openxmlformats.org/officeDocument/2006/relationships/image" Target="../media/image-48-9.png"/><Relationship Id="rId10" Type="http://schemas.openxmlformats.org/officeDocument/2006/relationships/image" Target="../media/image-48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svg"/><Relationship Id="rId3" Type="http://schemas.openxmlformats.org/officeDocument/2006/relationships/image" Target="../media/image-49-3.png"/><Relationship Id="rId4" Type="http://schemas.openxmlformats.org/officeDocument/2006/relationships/image" Target="../media/image-49-4.svg"/><Relationship Id="rId5" Type="http://schemas.openxmlformats.org/officeDocument/2006/relationships/image" Target="../media/image-49-5.png"/><Relationship Id="rId6" Type="http://schemas.openxmlformats.org/officeDocument/2006/relationships/image" Target="../media/image-49-6.svg"/><Relationship Id="rId7" Type="http://schemas.openxmlformats.org/officeDocument/2006/relationships/image" Target="../media/image-49-7.png"/><Relationship Id="rId8" Type="http://schemas.openxmlformats.org/officeDocument/2006/relationships/image" Target="../media/image-49-8.svg"/><Relationship Id="rId9" Type="http://schemas.openxmlformats.org/officeDocument/2006/relationships/image" Target="../media/image-49-9.png"/><Relationship Id="rId10" Type="http://schemas.openxmlformats.org/officeDocument/2006/relationships/image" Target="../media/image-49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svg"/><Relationship Id="rId3" Type="http://schemas.openxmlformats.org/officeDocument/2006/relationships/image" Target="../media/image-50-3.png"/><Relationship Id="rId4" Type="http://schemas.openxmlformats.org/officeDocument/2006/relationships/image" Target="../media/image-50-4.svg"/><Relationship Id="rId5" Type="http://schemas.openxmlformats.org/officeDocument/2006/relationships/image" Target="../media/image-50-5.png"/><Relationship Id="rId6" Type="http://schemas.openxmlformats.org/officeDocument/2006/relationships/image" Target="../media/image-50-6.svg"/><Relationship Id="rId7" Type="http://schemas.openxmlformats.org/officeDocument/2006/relationships/image" Target="../media/image-50-7.png"/><Relationship Id="rId8" Type="http://schemas.openxmlformats.org/officeDocument/2006/relationships/image" Target="../media/image-50-8.svg"/><Relationship Id="rId9" Type="http://schemas.openxmlformats.org/officeDocument/2006/relationships/image" Target="../media/image-50-9.png"/><Relationship Id="rId10" Type="http://schemas.openxmlformats.org/officeDocument/2006/relationships/image" Target="../media/image-50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svg"/><Relationship Id="rId3" Type="http://schemas.openxmlformats.org/officeDocument/2006/relationships/image" Target="../media/image-51-3.png"/><Relationship Id="rId4" Type="http://schemas.openxmlformats.org/officeDocument/2006/relationships/image" Target="../media/image-51-4.svg"/><Relationship Id="rId5" Type="http://schemas.openxmlformats.org/officeDocument/2006/relationships/image" Target="../media/image-51-5.png"/><Relationship Id="rId6" Type="http://schemas.openxmlformats.org/officeDocument/2006/relationships/image" Target="../media/image-51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svg"/><Relationship Id="rId3" Type="http://schemas.openxmlformats.org/officeDocument/2006/relationships/image" Target="../media/image-52-3.png"/><Relationship Id="rId4" Type="http://schemas.openxmlformats.org/officeDocument/2006/relationships/image" Target="../media/image-52-4.svg"/><Relationship Id="rId5" Type="http://schemas.openxmlformats.org/officeDocument/2006/relationships/image" Target="../media/image-52-5.png"/><Relationship Id="rId6" Type="http://schemas.openxmlformats.org/officeDocument/2006/relationships/image" Target="../media/image-52-6.svg"/><Relationship Id="rId7" Type="http://schemas.openxmlformats.org/officeDocument/2006/relationships/image" Target="../media/image-52-7.png"/><Relationship Id="rId8" Type="http://schemas.openxmlformats.org/officeDocument/2006/relationships/image" Target="../media/image-52-8.svg"/><Relationship Id="rId9" Type="http://schemas.openxmlformats.org/officeDocument/2006/relationships/image" Target="../media/image-52-9.png"/><Relationship Id="rId10" Type="http://schemas.openxmlformats.org/officeDocument/2006/relationships/image" Target="../media/image-52-10.svg"/><Relationship Id="rId11" Type="http://schemas.openxmlformats.org/officeDocument/2006/relationships/image" Target="../media/image-52-11.png"/><Relationship Id="rId12" Type="http://schemas.openxmlformats.org/officeDocument/2006/relationships/image" Target="../media/image-52-12.svg"/><Relationship Id="rId13" Type="http://schemas.openxmlformats.org/officeDocument/2006/relationships/image" Target="../media/image-52-13.png"/><Relationship Id="rId14" Type="http://schemas.openxmlformats.org/officeDocument/2006/relationships/image" Target="../media/image-52-14.svg"/><Relationship Id="rId15" Type="http://schemas.openxmlformats.org/officeDocument/2006/relationships/image" Target="../media/image-52-15.png"/><Relationship Id="rId16" Type="http://schemas.openxmlformats.org/officeDocument/2006/relationships/image" Target="../media/image-52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svg"/><Relationship Id="rId3" Type="http://schemas.openxmlformats.org/officeDocument/2006/relationships/image" Target="../media/image-54-3.png"/><Relationship Id="rId4" Type="http://schemas.openxmlformats.org/officeDocument/2006/relationships/image" Target="../media/image-54-4.svg"/><Relationship Id="rId5" Type="http://schemas.openxmlformats.org/officeDocument/2006/relationships/image" Target="../media/image-54-5.png"/><Relationship Id="rId6" Type="http://schemas.openxmlformats.org/officeDocument/2006/relationships/image" Target="../media/image-54-6.svg"/><Relationship Id="rId7" Type="http://schemas.openxmlformats.org/officeDocument/2006/relationships/image" Target="../media/image-54-7.png"/><Relationship Id="rId8" Type="http://schemas.openxmlformats.org/officeDocument/2006/relationships/image" Target="../media/image-54-8.svg"/><Relationship Id="rId9" Type="http://schemas.openxmlformats.org/officeDocument/2006/relationships/image" Target="../media/image-54-9.png"/><Relationship Id="rId10" Type="http://schemas.openxmlformats.org/officeDocument/2006/relationships/image" Target="../media/image-54-10.svg"/><Relationship Id="rId11" Type="http://schemas.openxmlformats.org/officeDocument/2006/relationships/image" Target="../media/image-54-11.png"/><Relationship Id="rId12" Type="http://schemas.openxmlformats.org/officeDocument/2006/relationships/image" Target="../media/image-54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svg"/><Relationship Id="rId3" Type="http://schemas.openxmlformats.org/officeDocument/2006/relationships/image" Target="../media/image-55-3.png"/><Relationship Id="rId4" Type="http://schemas.openxmlformats.org/officeDocument/2006/relationships/image" Target="../media/image-55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svg"/><Relationship Id="rId3" Type="http://schemas.openxmlformats.org/officeDocument/2006/relationships/image" Target="../media/image-56-3.png"/><Relationship Id="rId4" Type="http://schemas.openxmlformats.org/officeDocument/2006/relationships/image" Target="../media/image-56-4.svg"/><Relationship Id="rId5" Type="http://schemas.openxmlformats.org/officeDocument/2006/relationships/image" Target="../media/image-56-5.png"/><Relationship Id="rId6" Type="http://schemas.openxmlformats.org/officeDocument/2006/relationships/image" Target="../media/image-56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svg"/><Relationship Id="rId3" Type="http://schemas.openxmlformats.org/officeDocument/2006/relationships/image" Target="../media/image-57-3.png"/><Relationship Id="rId4" Type="http://schemas.openxmlformats.org/officeDocument/2006/relationships/image" Target="../media/image-57-4.svg"/><Relationship Id="rId5" Type="http://schemas.openxmlformats.org/officeDocument/2006/relationships/image" Target="../media/image-57-5.png"/><Relationship Id="rId6" Type="http://schemas.openxmlformats.org/officeDocument/2006/relationships/image" Target="../media/image-57-6.svg"/><Relationship Id="rId7" Type="http://schemas.openxmlformats.org/officeDocument/2006/relationships/image" Target="../media/image-57-7.png"/><Relationship Id="rId8" Type="http://schemas.openxmlformats.org/officeDocument/2006/relationships/image" Target="../media/image-57-8.svg"/><Relationship Id="rId9" Type="http://schemas.openxmlformats.org/officeDocument/2006/relationships/image" Target="../media/image-57-9.png"/><Relationship Id="rId10" Type="http://schemas.openxmlformats.org/officeDocument/2006/relationships/image" Target="../media/image-57-10.svg"/><Relationship Id="rId11" Type="http://schemas.openxmlformats.org/officeDocument/2006/relationships/image" Target="../media/image-57-11.png"/><Relationship Id="rId12" Type="http://schemas.openxmlformats.org/officeDocument/2006/relationships/image" Target="../media/image-57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svg"/><Relationship Id="rId3" Type="http://schemas.openxmlformats.org/officeDocument/2006/relationships/image" Target="../media/image-58-3.png"/><Relationship Id="rId4" Type="http://schemas.openxmlformats.org/officeDocument/2006/relationships/image" Target="../media/image-58-4.svg"/><Relationship Id="rId5" Type="http://schemas.openxmlformats.org/officeDocument/2006/relationships/image" Target="../media/image-58-5.png"/><Relationship Id="rId6" Type="http://schemas.openxmlformats.org/officeDocument/2006/relationships/image" Target="../media/image-58-6.svg"/><Relationship Id="rId7" Type="http://schemas.openxmlformats.org/officeDocument/2006/relationships/image" Target="../media/image-58-7.png"/><Relationship Id="rId8" Type="http://schemas.openxmlformats.org/officeDocument/2006/relationships/image" Target="../media/image-58-8.svg"/><Relationship Id="rId9" Type="http://schemas.openxmlformats.org/officeDocument/2006/relationships/image" Target="../media/image-58-9.png"/><Relationship Id="rId10" Type="http://schemas.openxmlformats.org/officeDocument/2006/relationships/image" Target="../media/image-58-10.svg"/><Relationship Id="rId11" Type="http://schemas.openxmlformats.org/officeDocument/2006/relationships/image" Target="../media/image-58-11.png"/><Relationship Id="rId12" Type="http://schemas.openxmlformats.org/officeDocument/2006/relationships/image" Target="../media/image-58-12.svg"/><Relationship Id="rId13" Type="http://schemas.openxmlformats.org/officeDocument/2006/relationships/image" Target="../media/image-58-13.png"/><Relationship Id="rId14" Type="http://schemas.openxmlformats.org/officeDocument/2006/relationships/image" Target="../media/image-58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svg"/><Relationship Id="rId3" Type="http://schemas.openxmlformats.org/officeDocument/2006/relationships/image" Target="../media/image-59-3.png"/><Relationship Id="rId4" Type="http://schemas.openxmlformats.org/officeDocument/2006/relationships/image" Target="../media/image-59-4.svg"/><Relationship Id="rId5" Type="http://schemas.openxmlformats.org/officeDocument/2006/relationships/image" Target="../media/image-59-5.png"/><Relationship Id="rId6" Type="http://schemas.openxmlformats.org/officeDocument/2006/relationships/image" Target="../media/image-59-6.svg"/><Relationship Id="rId7" Type="http://schemas.openxmlformats.org/officeDocument/2006/relationships/image" Target="../media/image-59-7.png"/><Relationship Id="rId8" Type="http://schemas.openxmlformats.org/officeDocument/2006/relationships/image" Target="../media/image-59-8.svg"/><Relationship Id="rId9" Type="http://schemas.openxmlformats.org/officeDocument/2006/relationships/image" Target="../media/image-59-9.png"/><Relationship Id="rId10" Type="http://schemas.openxmlformats.org/officeDocument/2006/relationships/image" Target="../media/image-59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svg"/><Relationship Id="rId3" Type="http://schemas.openxmlformats.org/officeDocument/2006/relationships/image" Target="../media/image-60-3.png"/><Relationship Id="rId4" Type="http://schemas.openxmlformats.org/officeDocument/2006/relationships/image" Target="../media/image-60-4.svg"/><Relationship Id="rId5" Type="http://schemas.openxmlformats.org/officeDocument/2006/relationships/image" Target="../media/image-60-5.png"/><Relationship Id="rId6" Type="http://schemas.openxmlformats.org/officeDocument/2006/relationships/image" Target="../media/image-60-6.svg"/><Relationship Id="rId7" Type="http://schemas.openxmlformats.org/officeDocument/2006/relationships/image" Target="../media/image-60-7.png"/><Relationship Id="rId8" Type="http://schemas.openxmlformats.org/officeDocument/2006/relationships/image" Target="../media/image-60-8.svg"/><Relationship Id="rId9" Type="http://schemas.openxmlformats.org/officeDocument/2006/relationships/image" Target="../media/image-60-9.png"/><Relationship Id="rId10" Type="http://schemas.openxmlformats.org/officeDocument/2006/relationships/image" Target="../media/image-60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svg"/><Relationship Id="rId3" Type="http://schemas.openxmlformats.org/officeDocument/2006/relationships/image" Target="../media/image-61-3.png"/><Relationship Id="rId4" Type="http://schemas.openxmlformats.org/officeDocument/2006/relationships/image" Target="../media/image-61-4.svg"/><Relationship Id="rId5" Type="http://schemas.openxmlformats.org/officeDocument/2006/relationships/image" Target="../media/image-61-5.png"/><Relationship Id="rId6" Type="http://schemas.openxmlformats.org/officeDocument/2006/relationships/image" Target="../media/image-61-6.svg"/><Relationship Id="rId7" Type="http://schemas.openxmlformats.org/officeDocument/2006/relationships/image" Target="../media/image-61-7.png"/><Relationship Id="rId8" Type="http://schemas.openxmlformats.org/officeDocument/2006/relationships/image" Target="../media/image-61-8.svg"/><Relationship Id="rId9" Type="http://schemas.openxmlformats.org/officeDocument/2006/relationships/image" Target="../media/image-61-9.png"/><Relationship Id="rId10" Type="http://schemas.openxmlformats.org/officeDocument/2006/relationships/image" Target="../media/image-61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svg"/><Relationship Id="rId3" Type="http://schemas.openxmlformats.org/officeDocument/2006/relationships/image" Target="../media/image-62-3.png"/><Relationship Id="rId4" Type="http://schemas.openxmlformats.org/officeDocument/2006/relationships/image" Target="../media/image-62-4.svg"/><Relationship Id="rId5" Type="http://schemas.openxmlformats.org/officeDocument/2006/relationships/image" Target="../media/image-62-5.png"/><Relationship Id="rId6" Type="http://schemas.openxmlformats.org/officeDocument/2006/relationships/image" Target="../media/image-62-6.svg"/><Relationship Id="rId7" Type="http://schemas.openxmlformats.org/officeDocument/2006/relationships/image" Target="../media/image-62-7.png"/><Relationship Id="rId8" Type="http://schemas.openxmlformats.org/officeDocument/2006/relationships/image" Target="../media/image-62-8.svg"/><Relationship Id="rId9" Type="http://schemas.openxmlformats.org/officeDocument/2006/relationships/image" Target="../media/image-62-9.png"/><Relationship Id="rId10" Type="http://schemas.openxmlformats.org/officeDocument/2006/relationships/image" Target="../media/image-62-10.svg"/><Relationship Id="rId11" Type="http://schemas.openxmlformats.org/officeDocument/2006/relationships/image" Target="../media/image-62-11.png"/><Relationship Id="rId12" Type="http://schemas.openxmlformats.org/officeDocument/2006/relationships/image" Target="../media/image-62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svg"/><Relationship Id="rId3" Type="http://schemas.openxmlformats.org/officeDocument/2006/relationships/image" Target="../media/image-63-3.png"/><Relationship Id="rId4" Type="http://schemas.openxmlformats.org/officeDocument/2006/relationships/image" Target="../media/image-63-4.svg"/><Relationship Id="rId5" Type="http://schemas.openxmlformats.org/officeDocument/2006/relationships/image" Target="../media/image-63-5.png"/><Relationship Id="rId6" Type="http://schemas.openxmlformats.org/officeDocument/2006/relationships/image" Target="../media/image-63-6.svg"/><Relationship Id="rId7" Type="http://schemas.openxmlformats.org/officeDocument/2006/relationships/image" Target="../media/image-63-7.png"/><Relationship Id="rId8" Type="http://schemas.openxmlformats.org/officeDocument/2006/relationships/image" Target="../media/image-63-8.svg"/><Relationship Id="rId9" Type="http://schemas.openxmlformats.org/officeDocument/2006/relationships/image" Target="../media/image-63-9.png"/><Relationship Id="rId10" Type="http://schemas.openxmlformats.org/officeDocument/2006/relationships/image" Target="../media/image-63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svg"/><Relationship Id="rId3" Type="http://schemas.openxmlformats.org/officeDocument/2006/relationships/image" Target="../media/image-64-3.png"/><Relationship Id="rId4" Type="http://schemas.openxmlformats.org/officeDocument/2006/relationships/image" Target="../media/image-64-4.svg"/><Relationship Id="rId5" Type="http://schemas.openxmlformats.org/officeDocument/2006/relationships/image" Target="../media/image-64-5.png"/><Relationship Id="rId6" Type="http://schemas.openxmlformats.org/officeDocument/2006/relationships/image" Target="../media/image-64-6.svg"/><Relationship Id="rId7" Type="http://schemas.openxmlformats.org/officeDocument/2006/relationships/image" Target="../media/image-64-7.png"/><Relationship Id="rId8" Type="http://schemas.openxmlformats.org/officeDocument/2006/relationships/image" Target="../media/image-64-8.svg"/><Relationship Id="rId9" Type="http://schemas.openxmlformats.org/officeDocument/2006/relationships/image" Target="../media/image-64-9.png"/><Relationship Id="rId10" Type="http://schemas.openxmlformats.org/officeDocument/2006/relationships/image" Target="../media/image-64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svg"/><Relationship Id="rId3" Type="http://schemas.openxmlformats.org/officeDocument/2006/relationships/image" Target="../media/image-65-3.png"/><Relationship Id="rId4" Type="http://schemas.openxmlformats.org/officeDocument/2006/relationships/image" Target="../media/image-65-4.svg"/><Relationship Id="rId5" Type="http://schemas.openxmlformats.org/officeDocument/2006/relationships/image" Target="../media/image-65-5.png"/><Relationship Id="rId6" Type="http://schemas.openxmlformats.org/officeDocument/2006/relationships/image" Target="../media/image-65-6.svg"/><Relationship Id="rId7" Type="http://schemas.openxmlformats.org/officeDocument/2006/relationships/image" Target="../media/image-65-7.png"/><Relationship Id="rId8" Type="http://schemas.openxmlformats.org/officeDocument/2006/relationships/image" Target="../media/image-65-8.svg"/><Relationship Id="rId9" Type="http://schemas.openxmlformats.org/officeDocument/2006/relationships/image" Target="../media/image-65-9.png"/><Relationship Id="rId10" Type="http://schemas.openxmlformats.org/officeDocument/2006/relationships/image" Target="../media/image-65-10.svg"/><Relationship Id="rId11" Type="http://schemas.openxmlformats.org/officeDocument/2006/relationships/image" Target="../media/image-65-11.png"/><Relationship Id="rId12" Type="http://schemas.openxmlformats.org/officeDocument/2006/relationships/image" Target="../media/image-65-12.svg"/><Relationship Id="rId13" Type="http://schemas.openxmlformats.org/officeDocument/2006/relationships/image" Target="../media/image-65-13.png"/><Relationship Id="rId14" Type="http://schemas.openxmlformats.org/officeDocument/2006/relationships/image" Target="../media/image-65-14.svg"/><Relationship Id="rId15" Type="http://schemas.openxmlformats.org/officeDocument/2006/relationships/image" Target="../media/image-65-15.png"/><Relationship Id="rId16" Type="http://schemas.openxmlformats.org/officeDocument/2006/relationships/image" Target="../media/image-65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svg"/><Relationship Id="rId3" Type="http://schemas.openxmlformats.org/officeDocument/2006/relationships/image" Target="../media/image-66-3.png"/><Relationship Id="rId4" Type="http://schemas.openxmlformats.org/officeDocument/2006/relationships/image" Target="../media/image-66-4.svg"/><Relationship Id="rId5" Type="http://schemas.openxmlformats.org/officeDocument/2006/relationships/image" Target="../media/image-66-5.png"/><Relationship Id="rId6" Type="http://schemas.openxmlformats.org/officeDocument/2006/relationships/image" Target="../media/image-66-6.svg"/><Relationship Id="rId7" Type="http://schemas.openxmlformats.org/officeDocument/2006/relationships/image" Target="../media/image-66-7.png"/><Relationship Id="rId8" Type="http://schemas.openxmlformats.org/officeDocument/2006/relationships/image" Target="../media/image-66-8.svg"/><Relationship Id="rId9" Type="http://schemas.openxmlformats.org/officeDocument/2006/relationships/image" Target="../media/image-66-9.png"/><Relationship Id="rId10" Type="http://schemas.openxmlformats.org/officeDocument/2006/relationships/image" Target="../media/image-66-10.svg"/><Relationship Id="rId11" Type="http://schemas.openxmlformats.org/officeDocument/2006/relationships/image" Target="../media/image-66-11.png"/><Relationship Id="rId12" Type="http://schemas.openxmlformats.org/officeDocument/2006/relationships/image" Target="../media/image-66-12.svg"/><Relationship Id="rId13" Type="http://schemas.openxmlformats.org/officeDocument/2006/relationships/image" Target="../media/image-66-13.png"/><Relationship Id="rId14" Type="http://schemas.openxmlformats.org/officeDocument/2006/relationships/image" Target="../media/image-66-14.svg"/><Relationship Id="rId15" Type="http://schemas.openxmlformats.org/officeDocument/2006/relationships/image" Target="../media/image-66-15.png"/><Relationship Id="rId16" Type="http://schemas.openxmlformats.org/officeDocument/2006/relationships/image" Target="../media/image-66-16.svg"/><Relationship Id="rId17" Type="http://schemas.openxmlformats.org/officeDocument/2006/relationships/image" Target="../media/image-66-17.png"/><Relationship Id="rId18" Type="http://schemas.openxmlformats.org/officeDocument/2006/relationships/image" Target="../media/image-66-18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svg"/><Relationship Id="rId3" Type="http://schemas.openxmlformats.org/officeDocument/2006/relationships/image" Target="../media/image-68-3.png"/><Relationship Id="rId4" Type="http://schemas.openxmlformats.org/officeDocument/2006/relationships/image" Target="../media/image-68-4.svg"/><Relationship Id="rId5" Type="http://schemas.openxmlformats.org/officeDocument/2006/relationships/image" Target="../media/image-68-5.png"/><Relationship Id="rId6" Type="http://schemas.openxmlformats.org/officeDocument/2006/relationships/image" Target="../media/image-68-6.svg"/><Relationship Id="rId7" Type="http://schemas.openxmlformats.org/officeDocument/2006/relationships/image" Target="../media/image-68-7.png"/><Relationship Id="rId8" Type="http://schemas.openxmlformats.org/officeDocument/2006/relationships/image" Target="../media/image-68-8.svg"/><Relationship Id="rId9" Type="http://schemas.openxmlformats.org/officeDocument/2006/relationships/image" Target="../media/image-68-9.png"/><Relationship Id="rId10" Type="http://schemas.openxmlformats.org/officeDocument/2006/relationships/image" Target="../media/image-68-10.svg"/><Relationship Id="rId11" Type="http://schemas.openxmlformats.org/officeDocument/2006/relationships/image" Target="../media/image-68-11.png"/><Relationship Id="rId12" Type="http://schemas.openxmlformats.org/officeDocument/2006/relationships/image" Target="../media/image-68-12.svg"/><Relationship Id="rId13" Type="http://schemas.openxmlformats.org/officeDocument/2006/relationships/image" Target="../media/image-68-13.png"/><Relationship Id="rId14" Type="http://schemas.openxmlformats.org/officeDocument/2006/relationships/image" Target="../media/image-68-14.svg"/><Relationship Id="rId15" Type="http://schemas.openxmlformats.org/officeDocument/2006/relationships/image" Target="../media/image-68-15.png"/><Relationship Id="rId16" Type="http://schemas.openxmlformats.org/officeDocument/2006/relationships/image" Target="../media/image-68-16.svg"/><Relationship Id="rId17" Type="http://schemas.openxmlformats.org/officeDocument/2006/relationships/image" Target="../media/image-68-17.png"/><Relationship Id="rId18" Type="http://schemas.openxmlformats.org/officeDocument/2006/relationships/image" Target="../media/image-68-18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svg"/><Relationship Id="rId3" Type="http://schemas.openxmlformats.org/officeDocument/2006/relationships/image" Target="../media/image-69-3.png"/><Relationship Id="rId4" Type="http://schemas.openxmlformats.org/officeDocument/2006/relationships/image" Target="../media/image-69-4.svg"/><Relationship Id="rId5" Type="http://schemas.openxmlformats.org/officeDocument/2006/relationships/image" Target="../media/image-69-5.png"/><Relationship Id="rId6" Type="http://schemas.openxmlformats.org/officeDocument/2006/relationships/image" Target="../media/image-69-6.svg"/><Relationship Id="rId7" Type="http://schemas.openxmlformats.org/officeDocument/2006/relationships/image" Target="../media/image-69-7.png"/><Relationship Id="rId8" Type="http://schemas.openxmlformats.org/officeDocument/2006/relationships/image" Target="../media/image-69-8.svg"/><Relationship Id="rId9" Type="http://schemas.openxmlformats.org/officeDocument/2006/relationships/image" Target="../media/image-69-9.png"/><Relationship Id="rId10" Type="http://schemas.openxmlformats.org/officeDocument/2006/relationships/image" Target="../media/image-69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svg"/><Relationship Id="rId3" Type="http://schemas.openxmlformats.org/officeDocument/2006/relationships/image" Target="../media/image-70-3.png"/><Relationship Id="rId4" Type="http://schemas.openxmlformats.org/officeDocument/2006/relationships/image" Target="../media/image-70-4.svg"/><Relationship Id="rId5" Type="http://schemas.openxmlformats.org/officeDocument/2006/relationships/image" Target="../media/image-70-5.png"/><Relationship Id="rId6" Type="http://schemas.openxmlformats.org/officeDocument/2006/relationships/image" Target="../media/image-70-6.svg"/><Relationship Id="rId7" Type="http://schemas.openxmlformats.org/officeDocument/2006/relationships/image" Target="../media/image-70-7.png"/><Relationship Id="rId8" Type="http://schemas.openxmlformats.org/officeDocument/2006/relationships/image" Target="../media/image-70-8.svg"/><Relationship Id="rId9" Type="http://schemas.openxmlformats.org/officeDocument/2006/relationships/image" Target="../media/image-70-9.png"/><Relationship Id="rId10" Type="http://schemas.openxmlformats.org/officeDocument/2006/relationships/image" Target="../media/image-70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svg"/><Relationship Id="rId3" Type="http://schemas.openxmlformats.org/officeDocument/2006/relationships/image" Target="../media/image-71-3.png"/><Relationship Id="rId4" Type="http://schemas.openxmlformats.org/officeDocument/2006/relationships/image" Target="../media/image-71-4.svg"/><Relationship Id="rId5" Type="http://schemas.openxmlformats.org/officeDocument/2006/relationships/image" Target="../media/image-71-5.png"/><Relationship Id="rId6" Type="http://schemas.openxmlformats.org/officeDocument/2006/relationships/image" Target="../media/image-71-6.svg"/><Relationship Id="rId7" Type="http://schemas.openxmlformats.org/officeDocument/2006/relationships/image" Target="../media/image-71-7.png"/><Relationship Id="rId8" Type="http://schemas.openxmlformats.org/officeDocument/2006/relationships/image" Target="../media/image-71-8.svg"/><Relationship Id="rId9" Type="http://schemas.openxmlformats.org/officeDocument/2006/relationships/image" Target="../media/image-71-9.png"/><Relationship Id="rId10" Type="http://schemas.openxmlformats.org/officeDocument/2006/relationships/image" Target="../media/image-71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svg"/><Relationship Id="rId3" Type="http://schemas.openxmlformats.org/officeDocument/2006/relationships/image" Target="../media/image-72-3.png"/><Relationship Id="rId4" Type="http://schemas.openxmlformats.org/officeDocument/2006/relationships/image" Target="../media/image-72-4.svg"/><Relationship Id="rId5" Type="http://schemas.openxmlformats.org/officeDocument/2006/relationships/image" Target="../media/image-72-5.png"/><Relationship Id="rId6" Type="http://schemas.openxmlformats.org/officeDocument/2006/relationships/image" Target="../media/image-72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svg"/><Relationship Id="rId3" Type="http://schemas.openxmlformats.org/officeDocument/2006/relationships/image" Target="../media/image-74-3.png"/><Relationship Id="rId4" Type="http://schemas.openxmlformats.org/officeDocument/2006/relationships/image" Target="../media/image-74-4.svg"/><Relationship Id="rId5" Type="http://schemas.openxmlformats.org/officeDocument/2006/relationships/image" Target="../media/image-74-5.png"/><Relationship Id="rId6" Type="http://schemas.openxmlformats.org/officeDocument/2006/relationships/image" Target="../media/image-74-6.svg"/><Relationship Id="rId7" Type="http://schemas.openxmlformats.org/officeDocument/2006/relationships/image" Target="../media/image-74-7.png"/><Relationship Id="rId8" Type="http://schemas.openxmlformats.org/officeDocument/2006/relationships/image" Target="../media/image-74-8.svg"/><Relationship Id="rId9" Type="http://schemas.openxmlformats.org/officeDocument/2006/relationships/image" Target="../media/image-74-9.png"/><Relationship Id="rId10" Type="http://schemas.openxmlformats.org/officeDocument/2006/relationships/image" Target="../media/image-74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svg"/><Relationship Id="rId3" Type="http://schemas.openxmlformats.org/officeDocument/2006/relationships/image" Target="../media/image-76-3.png"/><Relationship Id="rId4" Type="http://schemas.openxmlformats.org/officeDocument/2006/relationships/image" Target="../media/image-76-4.svg"/><Relationship Id="rId5" Type="http://schemas.openxmlformats.org/officeDocument/2006/relationships/image" Target="../media/image-76-5.png"/><Relationship Id="rId6" Type="http://schemas.openxmlformats.org/officeDocument/2006/relationships/image" Target="../media/image-76-6.svg"/><Relationship Id="rId7" Type="http://schemas.openxmlformats.org/officeDocument/2006/relationships/image" Target="../media/image-76-7.png"/><Relationship Id="rId8" Type="http://schemas.openxmlformats.org/officeDocument/2006/relationships/image" Target="../media/image-76-8.svg"/><Relationship Id="rId9" Type="http://schemas.openxmlformats.org/officeDocument/2006/relationships/image" Target="../media/image-76-9.png"/><Relationship Id="rId10" Type="http://schemas.openxmlformats.org/officeDocument/2006/relationships/image" Target="../media/image-76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svg"/><Relationship Id="rId3" Type="http://schemas.openxmlformats.org/officeDocument/2006/relationships/image" Target="../media/image-77-3.png"/><Relationship Id="rId4" Type="http://schemas.openxmlformats.org/officeDocument/2006/relationships/image" Target="../media/image-77-4.svg"/><Relationship Id="rId5" Type="http://schemas.openxmlformats.org/officeDocument/2006/relationships/image" Target="../media/image-77-5.png"/><Relationship Id="rId6" Type="http://schemas.openxmlformats.org/officeDocument/2006/relationships/image" Target="../media/image-77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svg"/><Relationship Id="rId3" Type="http://schemas.openxmlformats.org/officeDocument/2006/relationships/image" Target="../media/image-79-3.png"/><Relationship Id="rId4" Type="http://schemas.openxmlformats.org/officeDocument/2006/relationships/image" Target="../media/image-79-4.svg"/><Relationship Id="rId5" Type="http://schemas.openxmlformats.org/officeDocument/2006/relationships/image" Target="../media/image-79-5.png"/><Relationship Id="rId6" Type="http://schemas.openxmlformats.org/officeDocument/2006/relationships/image" Target="../media/image-79-6.svg"/><Relationship Id="rId7" Type="http://schemas.openxmlformats.org/officeDocument/2006/relationships/image" Target="../media/image-79-7.png"/><Relationship Id="rId8" Type="http://schemas.openxmlformats.org/officeDocument/2006/relationships/image" Target="../media/image-79-8.svg"/><Relationship Id="rId9" Type="http://schemas.openxmlformats.org/officeDocument/2006/relationships/image" Target="../media/image-79-9.png"/><Relationship Id="rId10" Type="http://schemas.openxmlformats.org/officeDocument/2006/relationships/image" Target="../media/image-79-10.svg"/><Relationship Id="rId11" Type="http://schemas.openxmlformats.org/officeDocument/2006/relationships/image" Target="../media/image-79-11.png"/><Relationship Id="rId12" Type="http://schemas.openxmlformats.org/officeDocument/2006/relationships/image" Target="../media/image-79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80-2.svg"/><Relationship Id="rId3" Type="http://schemas.openxmlformats.org/officeDocument/2006/relationships/image" Target="../media/image-80-3.png"/><Relationship Id="rId4" Type="http://schemas.openxmlformats.org/officeDocument/2006/relationships/image" Target="../media/image-80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svg"/><Relationship Id="rId3" Type="http://schemas.openxmlformats.org/officeDocument/2006/relationships/image" Target="../media/image-81-3.png"/><Relationship Id="rId4" Type="http://schemas.openxmlformats.org/officeDocument/2006/relationships/image" Target="../media/image-81-4.svg"/><Relationship Id="rId5" Type="http://schemas.openxmlformats.org/officeDocument/2006/relationships/image" Target="../media/image-81-5.png"/><Relationship Id="rId6" Type="http://schemas.openxmlformats.org/officeDocument/2006/relationships/image" Target="../media/image-81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svg"/><Relationship Id="rId3" Type="http://schemas.openxmlformats.org/officeDocument/2006/relationships/image" Target="../media/image-82-3.png"/><Relationship Id="rId4" Type="http://schemas.openxmlformats.org/officeDocument/2006/relationships/image" Target="../media/image-82-4.svg"/><Relationship Id="rId5" Type="http://schemas.openxmlformats.org/officeDocument/2006/relationships/image" Target="../media/image-82-5.png"/><Relationship Id="rId6" Type="http://schemas.openxmlformats.org/officeDocument/2006/relationships/image" Target="../media/image-82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image" Target="../media/image-83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image" Target="../media/image-84-2.svg"/><Relationship Id="rId3" Type="http://schemas.openxmlformats.org/officeDocument/2006/relationships/image" Target="../media/image-84-3.png"/><Relationship Id="rId4" Type="http://schemas.openxmlformats.org/officeDocument/2006/relationships/image" Target="../media/image-84-4.svg"/><Relationship Id="rId5" Type="http://schemas.openxmlformats.org/officeDocument/2006/relationships/image" Target="../media/image-84-5.png"/><Relationship Id="rId6" Type="http://schemas.openxmlformats.org/officeDocument/2006/relationships/image" Target="../media/image-84-6.svg"/><Relationship Id="rId7" Type="http://schemas.openxmlformats.org/officeDocument/2006/relationships/image" Target="../media/image-84-7.png"/><Relationship Id="rId8" Type="http://schemas.openxmlformats.org/officeDocument/2006/relationships/image" Target="../media/image-84-8.svg"/><Relationship Id="rId9" Type="http://schemas.openxmlformats.org/officeDocument/2006/relationships/image" Target="../media/image-84-9.png"/><Relationship Id="rId10" Type="http://schemas.openxmlformats.org/officeDocument/2006/relationships/image" Target="../media/image-84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image" Target="../media/image-85-2.svg"/><Relationship Id="rId3" Type="http://schemas.openxmlformats.org/officeDocument/2006/relationships/image" Target="../media/image-85-3.png"/><Relationship Id="rId4" Type="http://schemas.openxmlformats.org/officeDocument/2006/relationships/image" Target="../media/image-85-4.svg"/><Relationship Id="rId5" Type="http://schemas.openxmlformats.org/officeDocument/2006/relationships/image" Target="../media/image-85-5.png"/><Relationship Id="rId6" Type="http://schemas.openxmlformats.org/officeDocument/2006/relationships/image" Target="../media/image-85-6.svg"/><Relationship Id="rId7" Type="http://schemas.openxmlformats.org/officeDocument/2006/relationships/image" Target="../media/image-85-7.png"/><Relationship Id="rId8" Type="http://schemas.openxmlformats.org/officeDocument/2006/relationships/image" Target="../media/image-85-8.svg"/><Relationship Id="rId9" Type="http://schemas.openxmlformats.org/officeDocument/2006/relationships/image" Target="../media/image-85-9.png"/><Relationship Id="rId10" Type="http://schemas.openxmlformats.org/officeDocument/2006/relationships/image" Target="../media/image-85-10.svg"/><Relationship Id="rId11" Type="http://schemas.openxmlformats.org/officeDocument/2006/relationships/image" Target="../media/image-85-11.png"/><Relationship Id="rId12" Type="http://schemas.openxmlformats.org/officeDocument/2006/relationships/image" Target="../media/image-85-12.svg"/><Relationship Id="rId13" Type="http://schemas.openxmlformats.org/officeDocument/2006/relationships/image" Target="../media/image-85-13.png"/><Relationship Id="rId14" Type="http://schemas.openxmlformats.org/officeDocument/2006/relationships/image" Target="../media/image-85-14.svg"/><Relationship Id="rId15" Type="http://schemas.openxmlformats.org/officeDocument/2006/relationships/image" Target="../media/image-85-15.png"/><Relationship Id="rId16" Type="http://schemas.openxmlformats.org/officeDocument/2006/relationships/image" Target="../media/image-85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image" Target="../media/image-86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image" Target="../media/image-87-2.svg"/><Relationship Id="rId3" Type="http://schemas.openxmlformats.org/officeDocument/2006/relationships/image" Target="../media/image-87-3.png"/><Relationship Id="rId4" Type="http://schemas.openxmlformats.org/officeDocument/2006/relationships/image" Target="../media/image-87-4.svg"/><Relationship Id="rId5" Type="http://schemas.openxmlformats.org/officeDocument/2006/relationships/image" Target="../media/image-87-5.png"/><Relationship Id="rId6" Type="http://schemas.openxmlformats.org/officeDocument/2006/relationships/image" Target="../media/image-87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image" Target="../media/image-88-2.svg"/><Relationship Id="rId3" Type="http://schemas.openxmlformats.org/officeDocument/2006/relationships/image" Target="../media/image-88-3.png"/><Relationship Id="rId4" Type="http://schemas.openxmlformats.org/officeDocument/2006/relationships/image" Target="../media/image-88-4.svg"/><Relationship Id="rId5" Type="http://schemas.openxmlformats.org/officeDocument/2006/relationships/image" Target="../media/image-88-5.png"/><Relationship Id="rId6" Type="http://schemas.openxmlformats.org/officeDocument/2006/relationships/image" Target="../media/image-88-6.svg"/><Relationship Id="rId7" Type="http://schemas.openxmlformats.org/officeDocument/2006/relationships/image" Target="../media/image-88-7.png"/><Relationship Id="rId8" Type="http://schemas.openxmlformats.org/officeDocument/2006/relationships/image" Target="../media/image-88-8.svg"/><Relationship Id="rId9" Type="http://schemas.openxmlformats.org/officeDocument/2006/relationships/image" Target="../media/image-88-9.png"/><Relationship Id="rId10" Type="http://schemas.openxmlformats.org/officeDocument/2006/relationships/image" Target="../media/image-88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image" Target="../media/image-89-2.svg"/><Relationship Id="rId3" Type="http://schemas.openxmlformats.org/officeDocument/2006/relationships/image" Target="../media/image-89-3.png"/><Relationship Id="rId4" Type="http://schemas.openxmlformats.org/officeDocument/2006/relationships/image" Target="../media/image-89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image" Target="../media/image-90-2.svg"/><Relationship Id="rId3" Type="http://schemas.openxmlformats.org/officeDocument/2006/relationships/image" Target="../media/image-90-3.png"/><Relationship Id="rId4" Type="http://schemas.openxmlformats.org/officeDocument/2006/relationships/image" Target="../media/image-90-4.svg"/><Relationship Id="rId5" Type="http://schemas.openxmlformats.org/officeDocument/2006/relationships/image" Target="../media/image-90-5.png"/><Relationship Id="rId6" Type="http://schemas.openxmlformats.org/officeDocument/2006/relationships/image" Target="../media/image-90-6.svg"/><Relationship Id="rId7" Type="http://schemas.openxmlformats.org/officeDocument/2006/relationships/image" Target="../media/image-90-7.png"/><Relationship Id="rId8" Type="http://schemas.openxmlformats.org/officeDocument/2006/relationships/image" Target="../media/image-90-8.svg"/><Relationship Id="rId9" Type="http://schemas.openxmlformats.org/officeDocument/2006/relationships/image" Target="../media/image-90-9.png"/><Relationship Id="rId10" Type="http://schemas.openxmlformats.org/officeDocument/2006/relationships/image" Target="../media/image-90-10.svg"/><Relationship Id="rId11" Type="http://schemas.openxmlformats.org/officeDocument/2006/relationships/image" Target="../media/image-90-11.png"/><Relationship Id="rId12" Type="http://schemas.openxmlformats.org/officeDocument/2006/relationships/image" Target="../media/image-90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image" Target="../media/image-91-2.svg"/><Relationship Id="rId3" Type="http://schemas.openxmlformats.org/officeDocument/2006/relationships/image" Target="../media/image-91-3.png"/><Relationship Id="rId4" Type="http://schemas.openxmlformats.org/officeDocument/2006/relationships/image" Target="../media/image-91-4.svg"/><Relationship Id="rId5" Type="http://schemas.openxmlformats.org/officeDocument/2006/relationships/image" Target="../media/image-91-5.png"/><Relationship Id="rId6" Type="http://schemas.openxmlformats.org/officeDocument/2006/relationships/image" Target="../media/image-91-6.svg"/><Relationship Id="rId7" Type="http://schemas.openxmlformats.org/officeDocument/2006/relationships/image" Target="../media/image-91-7.png"/><Relationship Id="rId8" Type="http://schemas.openxmlformats.org/officeDocument/2006/relationships/image" Target="../media/image-91-8.svg"/><Relationship Id="rId9" Type="http://schemas.openxmlformats.org/officeDocument/2006/relationships/image" Target="../media/image-91-9.png"/><Relationship Id="rId10" Type="http://schemas.openxmlformats.org/officeDocument/2006/relationships/image" Target="../media/image-91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image" Target="../media/image-92-2.svg"/><Relationship Id="rId3" Type="http://schemas.openxmlformats.org/officeDocument/2006/relationships/image" Target="../media/image-92-3.png"/><Relationship Id="rId4" Type="http://schemas.openxmlformats.org/officeDocument/2006/relationships/image" Target="../media/image-92-4.svg"/><Relationship Id="rId5" Type="http://schemas.openxmlformats.org/officeDocument/2006/relationships/image" Target="../media/image-92-5.png"/><Relationship Id="rId6" Type="http://schemas.openxmlformats.org/officeDocument/2006/relationships/image" Target="../media/image-92-6.svg"/><Relationship Id="rId7" Type="http://schemas.openxmlformats.org/officeDocument/2006/relationships/image" Target="../media/image-92-7.png"/><Relationship Id="rId8" Type="http://schemas.openxmlformats.org/officeDocument/2006/relationships/image" Target="../media/image-92-8.svg"/><Relationship Id="rId9" Type="http://schemas.openxmlformats.org/officeDocument/2006/relationships/image" Target="../media/image-92-9.png"/><Relationship Id="rId10" Type="http://schemas.openxmlformats.org/officeDocument/2006/relationships/image" Target="../media/image-92-10.svg"/><Relationship Id="rId11" Type="http://schemas.openxmlformats.org/officeDocument/2006/relationships/image" Target="../media/image-92-11.png"/><Relationship Id="rId12" Type="http://schemas.openxmlformats.org/officeDocument/2006/relationships/image" Target="../media/image-92-12.svg"/><Relationship Id="rId13" Type="http://schemas.openxmlformats.org/officeDocument/2006/relationships/image" Target="../media/image-92-13.png"/><Relationship Id="rId14" Type="http://schemas.openxmlformats.org/officeDocument/2006/relationships/image" Target="../media/image-92-14.svg"/><Relationship Id="rId15" Type="http://schemas.openxmlformats.org/officeDocument/2006/relationships/image" Target="../media/image-92-15.png"/><Relationship Id="rId16" Type="http://schemas.openxmlformats.org/officeDocument/2006/relationships/image" Target="../media/image-92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image" Target="../media/image-93-2.svg"/><Relationship Id="rId3" Type="http://schemas.openxmlformats.org/officeDocument/2006/relationships/image" Target="../media/image-93-3.png"/><Relationship Id="rId4" Type="http://schemas.openxmlformats.org/officeDocument/2006/relationships/image" Target="../media/image-93-4.svg"/><Relationship Id="rId5" Type="http://schemas.openxmlformats.org/officeDocument/2006/relationships/image" Target="../media/image-93-5.png"/><Relationship Id="rId6" Type="http://schemas.openxmlformats.org/officeDocument/2006/relationships/image" Target="../media/image-93-6.svg"/><Relationship Id="rId7" Type="http://schemas.openxmlformats.org/officeDocument/2006/relationships/image" Target="../media/image-93-7.png"/><Relationship Id="rId8" Type="http://schemas.openxmlformats.org/officeDocument/2006/relationships/image" Target="../media/image-93-8.svg"/><Relationship Id="rId9" Type="http://schemas.openxmlformats.org/officeDocument/2006/relationships/image" Target="../media/image-93-9.png"/><Relationship Id="rId10" Type="http://schemas.openxmlformats.org/officeDocument/2006/relationships/image" Target="../media/image-93-10.svg"/><Relationship Id="rId11" Type="http://schemas.openxmlformats.org/officeDocument/2006/relationships/image" Target="../media/image-93-11.png"/><Relationship Id="rId12" Type="http://schemas.openxmlformats.org/officeDocument/2006/relationships/image" Target="../media/image-93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image" Target="../media/image-94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image" Target="../media/image-95-2.svg"/><Relationship Id="rId3" Type="http://schemas.openxmlformats.org/officeDocument/2006/relationships/image" Target="../media/image-95-3.png"/><Relationship Id="rId4" Type="http://schemas.openxmlformats.org/officeDocument/2006/relationships/image" Target="../media/image-95-4.svg"/><Relationship Id="rId5" Type="http://schemas.openxmlformats.org/officeDocument/2006/relationships/image" Target="../media/image-95-5.png"/><Relationship Id="rId6" Type="http://schemas.openxmlformats.org/officeDocument/2006/relationships/image" Target="../media/image-95-6.svg"/><Relationship Id="rId7" Type="http://schemas.openxmlformats.org/officeDocument/2006/relationships/image" Target="../media/image-95-7.png"/><Relationship Id="rId8" Type="http://schemas.openxmlformats.org/officeDocument/2006/relationships/image" Target="../media/image-95-8.svg"/><Relationship Id="rId9" Type="http://schemas.openxmlformats.org/officeDocument/2006/relationships/image" Target="../media/image-95-9.png"/><Relationship Id="rId10" Type="http://schemas.openxmlformats.org/officeDocument/2006/relationships/image" Target="../media/image-95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E9BFF">
              <a:alpha val="8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E9BFF">
              <a:alpha val="7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E9BFF">
              <a:alpha val="7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E9BFF">
              <a:alpha val="67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E9BFF">
              <a:alpha val="61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E9BFF">
              <a:alpha val="5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E9BFF">
              <a:alpha val="4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E9BFF">
              <a:alpha val="4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4160520"/>
            <a:ext cx="502920" cy="-105148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4055372"/>
            <a:ext cx="502920" cy="-74134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8720" y="3981238"/>
            <a:ext cx="502920" cy="-21255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91640" y="3959983"/>
            <a:ext cx="502920" cy="37894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4560" y="3997876"/>
            <a:ext cx="502920" cy="85866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97480" y="4083742"/>
            <a:ext cx="502920" cy="108511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4192253"/>
            <a:ext cx="502920" cy="99152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03320" y="4291405"/>
            <a:ext cx="502920" cy="60547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4351952"/>
            <a:ext cx="502920" cy="4084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4356036"/>
            <a:ext cx="502920" cy="-53584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0" y="4302452"/>
            <a:ext cx="502920" cy="-95447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4207005"/>
            <a:ext cx="502920" cy="-109158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4097848"/>
            <a:ext cx="502920" cy="-90672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4007175"/>
            <a:ext cx="502920" cy="-45443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4219964"/>
            <a:ext cx="502920" cy="-74134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145830"/>
            <a:ext cx="502920" cy="-21255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" y="4124575"/>
            <a:ext cx="502920" cy="37894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91640" y="4162468"/>
            <a:ext cx="502920" cy="85866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94560" y="4248334"/>
            <a:ext cx="502920" cy="108511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97480" y="4356845"/>
            <a:ext cx="502920" cy="99152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4455997"/>
            <a:ext cx="502920" cy="60547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03320" y="4516544"/>
            <a:ext cx="502920" cy="4084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06240" y="4520628"/>
            <a:ext cx="502920" cy="-53584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4467044"/>
            <a:ext cx="502920" cy="-95447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12080" y="4371597"/>
            <a:ext cx="502920" cy="-109158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15000" y="4262440"/>
            <a:ext cx="502920" cy="-90672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4171767"/>
            <a:ext cx="502920" cy="-45443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20840" y="4126324"/>
            <a:ext cx="502920" cy="13189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2880" y="4310422"/>
            <a:ext cx="502920" cy="-21255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5800" y="4289167"/>
            <a:ext cx="502920" cy="37894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88720" y="4327060"/>
            <a:ext cx="502920" cy="85866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91640" y="4412926"/>
            <a:ext cx="502920" cy="108511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94560" y="4521437"/>
            <a:ext cx="502920" cy="99152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97480" y="4620589"/>
            <a:ext cx="502920" cy="60547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681136"/>
            <a:ext cx="502920" cy="4084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703320" y="4685220"/>
            <a:ext cx="502920" cy="-53584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06240" y="4631636"/>
            <a:ext cx="502920" cy="-95447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09160" y="4536189"/>
            <a:ext cx="502920" cy="-109158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12080" y="4427032"/>
            <a:ext cx="502920" cy="-90672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15000" y="4336359"/>
            <a:ext cx="502920" cy="-45443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17920" y="4290916"/>
            <a:ext cx="502920" cy="13189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20840" y="4304106"/>
            <a:ext cx="502920" cy="67932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2880" y="4453759"/>
            <a:ext cx="502920" cy="37894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" y="4491652"/>
            <a:ext cx="502920" cy="85866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88720" y="4577518"/>
            <a:ext cx="502920" cy="108511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691640" y="4686029"/>
            <a:ext cx="502920" cy="99152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194560" y="4785181"/>
            <a:ext cx="502920" cy="60547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697480" y="4845728"/>
            <a:ext cx="502920" cy="4084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00400" y="4849812"/>
            <a:ext cx="502920" cy="-53584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03320" y="4796228"/>
            <a:ext cx="502920" cy="-95447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206240" y="4700781"/>
            <a:ext cx="502920" cy="-109158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09160" y="4591624"/>
            <a:ext cx="502920" cy="-90672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12080" y="4500951"/>
            <a:ext cx="502920" cy="-45443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715000" y="4455508"/>
            <a:ext cx="502920" cy="13189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17920" y="4468698"/>
            <a:ext cx="502920" cy="67932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720840" y="4536629"/>
            <a:ext cx="502920" cy="102638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82880" y="4656244"/>
            <a:ext cx="502920" cy="85866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85800" y="4742110"/>
            <a:ext cx="502920" cy="108511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88720" y="4850621"/>
            <a:ext cx="502920" cy="99152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691640" y="4949773"/>
            <a:ext cx="502920" cy="60547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194560" y="5010320"/>
            <a:ext cx="502920" cy="4084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697480" y="5014404"/>
            <a:ext cx="502920" cy="-53584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00400" y="4960820"/>
            <a:ext cx="502920" cy="-95447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703320" y="4865373"/>
            <a:ext cx="502920" cy="-109158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206240" y="4756216"/>
            <a:ext cx="502920" cy="-90672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709160" y="4665543"/>
            <a:ext cx="502920" cy="-45443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212080" y="4620100"/>
            <a:ext cx="502920" cy="13189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715000" y="4633290"/>
            <a:ext cx="502920" cy="67932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217920" y="4701221"/>
            <a:ext cx="502920" cy="102638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720840" y="4803859"/>
            <a:ext cx="502920" cy="107070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82880" y="4906702"/>
            <a:ext cx="502920" cy="108511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85800" y="5015213"/>
            <a:ext cx="502920" cy="99152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88720" y="5114365"/>
            <a:ext cx="502920" cy="60547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691640" y="5174912"/>
            <a:ext cx="502920" cy="4084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194560" y="5178996"/>
            <a:ext cx="502920" cy="-53584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697480" y="5125412"/>
            <a:ext cx="502920" cy="-95447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00400" y="5029965"/>
            <a:ext cx="502920" cy="-109158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703320" y="4920808"/>
            <a:ext cx="502920" cy="-90672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206240" y="4830135"/>
            <a:ext cx="502920" cy="-45443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709160" y="4784692"/>
            <a:ext cx="502920" cy="13189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212080" y="4797882"/>
            <a:ext cx="502920" cy="67932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715000" y="4865813"/>
            <a:ext cx="502920" cy="102638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217920" y="4968451"/>
            <a:ext cx="502920" cy="107070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720840" y="5075522"/>
            <a:ext cx="502920" cy="79923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82880" y="5179805"/>
            <a:ext cx="502920" cy="99152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85800" y="5278957"/>
            <a:ext cx="502920" cy="60547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88720" y="5339504"/>
            <a:ext cx="502920" cy="4084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691640" y="5343588"/>
            <a:ext cx="502920" cy="-53584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194560" y="5290004"/>
            <a:ext cx="502920" cy="-95447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697480" y="5194557"/>
            <a:ext cx="502920" cy="-109158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200400" y="5085400"/>
            <a:ext cx="502920" cy="-90672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703320" y="4994727"/>
            <a:ext cx="502920" cy="-45443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206240" y="4949284"/>
            <a:ext cx="502920" cy="13189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709160" y="4962474"/>
            <a:ext cx="502920" cy="67932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212080" y="5030405"/>
            <a:ext cx="502920" cy="102638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715000" y="5133043"/>
            <a:ext cx="502920" cy="107070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217920" y="5240114"/>
            <a:ext cx="502920" cy="79923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20840" y="5320036"/>
            <a:ext cx="502920" cy="29202"/>
          </a:xfrm>
          <a:prstGeom prst="line">
            <a:avLst/>
          </a:prstGeom>
          <a:noFill/>
          <a:ln w="8255">
            <a:solidFill>
              <a:srgbClr val="2BD7D5">
                <a:alpha val="45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82880" y="5443549"/>
            <a:ext cx="502920" cy="60547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85800" y="5504096"/>
            <a:ext cx="502920" cy="4084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188720" y="5508180"/>
            <a:ext cx="502920" cy="-53584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691640" y="5454596"/>
            <a:ext cx="502920" cy="-95447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194560" y="5359149"/>
            <a:ext cx="502920" cy="-109158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697480" y="5249992"/>
            <a:ext cx="502920" cy="-90672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200400" y="5159319"/>
            <a:ext cx="502920" cy="-45443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703320" y="5113876"/>
            <a:ext cx="502920" cy="13189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06240" y="5127066"/>
            <a:ext cx="502920" cy="67932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709160" y="5194997"/>
            <a:ext cx="502920" cy="102638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212080" y="5297635"/>
            <a:ext cx="502920" cy="107070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715000" y="5404706"/>
            <a:ext cx="502920" cy="79923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217920" y="5484628"/>
            <a:ext cx="502920" cy="29202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720840" y="5513830"/>
            <a:ext cx="502920" cy="-30132"/>
          </a:xfrm>
          <a:prstGeom prst="line">
            <a:avLst/>
          </a:prstGeom>
          <a:noFill/>
          <a:ln w="8255">
            <a:solidFill>
              <a:srgbClr val="2E9BFF">
                <a:alpha val="45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40080" y="576072"/>
            <a:ext cx="2331720" cy="411480"/>
          </a:xfrm>
          <a:prstGeom prst="roundRect">
            <a:avLst>
              <a:gd name="adj" fmla="val 17778"/>
            </a:avLst>
          </a:prstGeom>
          <a:solidFill>
            <a:srgbClr val="081E38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841248" y="6583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企业高管与核心骨干工作坊</a:t>
            </a:r>
            <a:endParaRPr lang="en-US" sz="1050" dirty="0"/>
          </a:p>
        </p:txBody>
      </p:sp>
      <p:sp>
        <p:nvSpPr>
          <p:cNvPr id="124" name="Text 122"/>
          <p:cNvSpPr txBox="1"/>
          <p:nvPr/>
        </p:nvSpPr>
        <p:spPr>
          <a:xfrm>
            <a:off x="658368" y="13258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 AI 转型与应用实践</a:t>
            </a:r>
            <a:endParaRPr lang="en-US" sz="3900" dirty="0"/>
          </a:p>
        </p:txBody>
      </p:sp>
      <p:sp>
        <p:nvSpPr>
          <p:cNvPr id="125" name="Text 123"/>
          <p:cNvSpPr txBox="1"/>
          <p:nvPr/>
        </p:nvSpPr>
        <p:spPr>
          <a:xfrm>
            <a:off x="704088" y="242316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从理解 AI，到发现机会，再到推动企业落地</a:t>
            </a:r>
            <a:endParaRPr lang="en-US" sz="2000" dirty="0"/>
          </a:p>
        </p:txBody>
      </p:sp>
      <p:sp>
        <p:nvSpPr>
          <p:cNvPr id="126" name="Text 124"/>
          <p:cNvSpPr txBox="1"/>
          <p:nvPr/>
        </p:nvSpPr>
        <p:spPr>
          <a:xfrm>
            <a:off x="731520" y="31272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Understand → Apply → Design → Validate → Scale</a:t>
            </a:r>
            <a:endParaRPr lang="en-US" sz="1300" dirty="0"/>
          </a:p>
        </p:txBody>
      </p:sp>
      <p:sp>
        <p:nvSpPr>
          <p:cNvPr id="127" name="Shape 125"/>
          <p:cNvSpPr/>
          <p:nvPr/>
        </p:nvSpPr>
        <p:spPr>
          <a:xfrm>
            <a:off x="9464040" y="1143000"/>
            <a:ext cx="1874520" cy="1874520"/>
          </a:xfrm>
          <a:prstGeom prst="ellipse">
            <a:avLst/>
          </a:prstGeom>
          <a:solidFill>
            <a:srgbClr val="08254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12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8672" y="1627632"/>
            <a:ext cx="914400" cy="914400"/>
          </a:xfrm>
          <a:prstGeom prst="rect">
            <a:avLst/>
          </a:prstGeom>
        </p:spPr>
      </p:pic>
      <p:sp>
        <p:nvSpPr>
          <p:cNvPr id="129" name="Text 126"/>
          <p:cNvSpPr txBox="1"/>
          <p:nvPr/>
        </p:nvSpPr>
        <p:spPr>
          <a:xfrm>
            <a:off x="9162288" y="327355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Enterprise AI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Transformation</a:t>
            </a:r>
            <a:endParaRPr lang="en-US" sz="1500" dirty="0"/>
          </a:p>
        </p:txBody>
      </p:sp>
      <p:sp>
        <p:nvSpPr>
          <p:cNvPr id="130" name="Text 127"/>
          <p:cNvSpPr txBox="1"/>
          <p:nvPr/>
        </p:nvSpPr>
        <p:spPr>
          <a:xfrm>
            <a:off x="731520" y="589788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认知不是终点，行动才是价值的起点。</a:t>
            </a:r>
            <a:endParaRPr lang="en-US" sz="1500" dirty="0"/>
          </a:p>
        </p:txBody>
      </p:sp>
      <p:sp>
        <p:nvSpPr>
          <p:cNvPr id="131" name="Text 128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企业AI转型与应用实践｜完整版 V1.0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BD7D5">
              <a:alpha val="8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BD7D5">
              <a:alpha val="7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BD7D5">
              <a:alpha val="7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BD7D5">
              <a:alpha val="67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BD7D5">
              <a:alpha val="61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BD7D5">
              <a:alpha val="5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BD7D5">
              <a:alpha val="4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BD7D5">
              <a:alpha val="4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AI正在改变工作的基本方式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过去，软件帮助人工作；现在，AI开始参与完成工作。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914400" y="315468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0B1E36"/>
          </a:solidFill>
          <a:ln w="12700">
            <a:solidFill>
              <a:srgbClr val="607A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8992" y="331927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607A9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008" y="343814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691640" y="331927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传统数字化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1115568" y="3840480"/>
            <a:ext cx="389534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 → 操作软件 → 完成任务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3611880"/>
            <a:ext cx="502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6446520" y="3154680"/>
            <a:ext cx="4572000" cy="1417320"/>
          </a:xfrm>
          <a:prstGeom prst="roundRect">
            <a:avLst>
              <a:gd name="adj" fmla="val 5161"/>
            </a:avLst>
          </a:prstGeom>
          <a:solidFill>
            <a:srgbClr val="0D294A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611112" y="331927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9128" y="3438144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223760" y="331927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6647688" y="3840480"/>
            <a:ext cx="416966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→ 人 + AI协作系统 → 业务结果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2BD7D5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企业竞争将从“谁的软件更好”，走向“谁能更快把AI变成组织能力”。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E9BFF">
              <a:alpha val="8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E9BFF">
              <a:alpha val="7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E9BFF">
              <a:alpha val="7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E9BFF">
              <a:alpha val="67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E9BFF">
              <a:alpha val="61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E9BFF">
              <a:alpha val="5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E9BFF">
              <a:alpha val="4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E9BFF">
              <a:alpha val="4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三次生产力跃迁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每一轮技术浪潮，都重新定义了企业如何工作。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2057400"/>
            <a:ext cx="3337560" cy="2423160"/>
          </a:xfrm>
          <a:prstGeom prst="roundRect">
            <a:avLst>
              <a:gd name="adj" fmla="val 3019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22219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408" y="234086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63040" y="22219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互联网时代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86968" y="2743200"/>
            <a:ext cx="2935224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连接信息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搜索、门户、电子商务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4069080" y="3063240"/>
            <a:ext cx="5943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4251960" y="2057400"/>
            <a:ext cx="3337560" cy="2423160"/>
          </a:xfrm>
          <a:prstGeom prst="roundRect">
            <a:avLst>
              <a:gd name="adj" fmla="val 3019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16552" y="22219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4568" y="2340864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029200" y="22219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移动时代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4453128" y="2743200"/>
            <a:ext cx="2935224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连接人与服务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随时、随地、在线协同</a:t>
            </a:r>
            <a:endParaRPr lang="en-US" sz="1150" dirty="0"/>
          </a:p>
        </p:txBody>
      </p:sp>
      <p:sp>
        <p:nvSpPr>
          <p:cNvPr id="26" name="Text 22"/>
          <p:cNvSpPr txBox="1"/>
          <p:nvPr/>
        </p:nvSpPr>
        <p:spPr>
          <a:xfrm>
            <a:off x="7635240" y="3063240"/>
            <a:ext cx="5943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3"/>
          <p:cNvSpPr/>
          <p:nvPr/>
        </p:nvSpPr>
        <p:spPr>
          <a:xfrm>
            <a:off x="7818120" y="2057400"/>
            <a:ext cx="3337560" cy="2423160"/>
          </a:xfrm>
          <a:prstGeom prst="roundRect">
            <a:avLst>
              <a:gd name="adj" fmla="val 3019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982712" y="22219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10728" y="2340864"/>
            <a:ext cx="237744" cy="237744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595360" y="22219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</a:t>
            </a:r>
            <a:endParaRPr lang="en-US" sz="1700" dirty="0"/>
          </a:p>
        </p:txBody>
      </p:sp>
      <p:sp>
        <p:nvSpPr>
          <p:cNvPr id="31" name="Text 26"/>
          <p:cNvSpPr txBox="1"/>
          <p:nvPr/>
        </p:nvSpPr>
        <p:spPr>
          <a:xfrm>
            <a:off x="8019288" y="2743200"/>
            <a:ext cx="2935224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连接人与智能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理解、生成、判断、行动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2E9BFF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AI不是另一个工具类别，而是新的知识工作基础设施。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BD7D5">
              <a:alpha val="8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BD7D5">
              <a:alpha val="7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BD7D5">
              <a:alpha val="7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BD7D5">
              <a:alpha val="67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BD7D5">
              <a:alpha val="61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BD7D5">
              <a:alpha val="5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BD7D5">
              <a:alpha val="4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BD7D5">
              <a:alpha val="4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为什么今天的AI和过去不同？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从规则自动化，到生成式与Agentic智能。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1783080"/>
            <a:ext cx="49377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1783080"/>
            <a:ext cx="49377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AI重新设计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2148840"/>
            <a:ext cx="5074920" cy="2926080"/>
          </a:xfrm>
          <a:prstGeom prst="roundRect">
            <a:avLst>
              <a:gd name="adj" fmla="val 2500"/>
            </a:avLst>
          </a:prstGeom>
          <a:solidFill>
            <a:srgbClr val="0A1D35"/>
          </a:solidFill>
          <a:ln w="12700">
            <a:solidFill>
              <a:srgbClr val="607A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832" y="23134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607A9A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9848" y="2432304"/>
            <a:ext cx="237744" cy="23774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554480" y="23134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过去：规则驱动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978408" y="2834640"/>
            <a:ext cx="4672584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 A，就执行 B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适合结构化、确定性的重复任务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897880" y="3364992"/>
            <a:ext cx="502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6400800" y="2148840"/>
            <a:ext cx="4983480" cy="2926080"/>
          </a:xfrm>
          <a:prstGeom prst="roundRect">
            <a:avLst>
              <a:gd name="adj" fmla="val 2500"/>
            </a:avLst>
          </a:prstGeom>
          <a:solidFill>
            <a:srgbClr val="0D294A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65392" y="23134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3408" y="2432304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178040" y="23134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现在：目标驱动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6601968" y="2834640"/>
            <a:ext cx="4581144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理解意图 → 生成内容 → 调用工具 → 观察结果 → 持续调整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2BD7D5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模型能力只是起点；真正的跃迁来自模型、知识、工具、状态和控制共同组成的工作系统。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E9BFF">
              <a:alpha val="8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E9BFF">
              <a:alpha val="7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E9BFF">
              <a:alpha val="7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E9BFF">
              <a:alpha val="67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E9BFF">
              <a:alpha val="61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E9BFF">
              <a:alpha val="5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E9BFF">
              <a:alpha val="4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E9BFF">
              <a:alpha val="4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今天，我们要回答三个问题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从认知对齐，到企业行动。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2057400"/>
            <a:ext cx="3337560" cy="2423160"/>
          </a:xfrm>
          <a:prstGeom prst="roundRect">
            <a:avLst>
              <a:gd name="adj" fmla="val 3019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22219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408" y="234086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63040" y="22219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理解 AI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86968" y="2743200"/>
            <a:ext cx="2935224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AI究竟发生了什么变化？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4069080" y="3063240"/>
            <a:ext cx="5943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4251960" y="2057400"/>
            <a:ext cx="3337560" cy="2423160"/>
          </a:xfrm>
          <a:prstGeom prst="roundRect">
            <a:avLst>
              <a:gd name="adj" fmla="val 3019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16552" y="22219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4568" y="2340864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029200" y="22219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应用 AI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4453128" y="2743200"/>
            <a:ext cx="2935224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哪些工作值得重新设计？</a:t>
            </a:r>
            <a:endParaRPr lang="en-US" sz="1150" dirty="0"/>
          </a:p>
        </p:txBody>
      </p:sp>
      <p:sp>
        <p:nvSpPr>
          <p:cNvPr id="26" name="Text 22"/>
          <p:cNvSpPr txBox="1"/>
          <p:nvPr/>
        </p:nvSpPr>
        <p:spPr>
          <a:xfrm>
            <a:off x="7635240" y="3063240"/>
            <a:ext cx="5943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3"/>
          <p:cNvSpPr/>
          <p:nvPr/>
        </p:nvSpPr>
        <p:spPr>
          <a:xfrm>
            <a:off x="7818120" y="2057400"/>
            <a:ext cx="3337560" cy="2423160"/>
          </a:xfrm>
          <a:prstGeom prst="roundRect">
            <a:avLst>
              <a:gd name="adj" fmla="val 3019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982712" y="22219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10728" y="2340864"/>
            <a:ext cx="237744" cy="237744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595360" y="22219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落地 AI</a:t>
            </a:r>
            <a:endParaRPr lang="en-US" sz="1700" dirty="0"/>
          </a:p>
        </p:txBody>
      </p:sp>
      <p:sp>
        <p:nvSpPr>
          <p:cNvPr id="31" name="Text 26"/>
          <p:cNvSpPr txBox="1"/>
          <p:nvPr/>
        </p:nvSpPr>
        <p:spPr>
          <a:xfrm>
            <a:off x="8019288" y="2743200"/>
            <a:ext cx="2935224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如何把机会变成业务成果？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2E9BFF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这不是一场“工具教学”，而是一场企业工作方式重新设计的起点。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E9BFF">
              <a:alpha val="8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E9BFF">
              <a:alpha val="7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E9BFF">
              <a:alpha val="7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E9BFF">
              <a:alpha val="67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E9BFF">
              <a:alpha val="61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E9BFF">
              <a:alpha val="5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E9BFF">
              <a:alpha val="4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E9BFF">
              <a:alpha val="4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整门课程的主线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从个人效率，逐步走向企业能力与业务创新。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446227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482803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个人助手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5376672"/>
            <a:ext cx="1627632" cy="-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更快完成工作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71800" y="3721608"/>
            <a:ext cx="1965960" cy="1353312"/>
          </a:xfrm>
          <a:prstGeom prst="roundRect">
            <a:avLst>
              <a:gd name="adj" fmla="val 5405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36392" y="38862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136392" y="425196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团队工作流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136392" y="4800600"/>
            <a:ext cx="16276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复制优秀经验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12080" y="3145536"/>
            <a:ext cx="1965960" cy="1929384"/>
          </a:xfrm>
          <a:prstGeom prst="roundRect">
            <a:avLst>
              <a:gd name="adj" fmla="val 3791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76672" y="33101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376672" y="367588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376672" y="422452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持续完成任务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52360" y="2569464"/>
            <a:ext cx="1965960" cy="2505456"/>
          </a:xfrm>
          <a:prstGeom prst="roundRect">
            <a:avLst>
              <a:gd name="adj" fmla="val 372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16952" y="273405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616952" y="3099816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Native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616952" y="3648456"/>
            <a:ext cx="162763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重构产品、流程与组织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2E9BFF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企业AI成熟度，不取决于用了多少工具，而取决于重新设计了多少工作。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E9BFF">
              <a:alpha val="8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E9BFF">
              <a:alpha val="7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E9BFF">
              <a:alpha val="7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E9BFF">
              <a:alpha val="67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E9BFF">
              <a:alpha val="61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E9BFF">
              <a:alpha val="5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E9BFF">
              <a:alpha val="4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E9BFF">
              <a:alpha val="4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6583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234440"/>
            <a:ext cx="7955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 AI</a:t>
            </a:r>
            <a:endParaRPr lang="en-US" sz="35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" y="25420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从聊天机器人到数字员工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58368" y="3703320"/>
            <a:ext cx="8046720" cy="1234440"/>
          </a:xfrm>
          <a:prstGeom prst="roundRect">
            <a:avLst>
              <a:gd name="adj" fmla="val 5926"/>
            </a:avLst>
          </a:prstGeom>
          <a:solidFill>
            <a:srgbClr val="11233F">
              <a:alpha val="97000"/>
            </a:srgbClr>
          </a:solidFill>
          <a:ln w="12700">
            <a:solidFill>
              <a:srgbClr val="2E9BFF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688" y="4005072"/>
            <a:ext cx="502920" cy="5029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691640" y="3877056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理解AI的能力进化，才能正确设计企业AI。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9464040" y="1325880"/>
            <a:ext cx="1920240" cy="1920240"/>
          </a:xfrm>
          <a:prstGeom prst="ellipse">
            <a:avLst/>
          </a:prstGeom>
          <a:solidFill>
            <a:srgbClr val="091D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48672" y="1810512"/>
            <a:ext cx="960120" cy="9601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619488" y="3840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4000" dirty="0"/>
          </a:p>
        </p:txBody>
      </p:sp>
      <p:sp>
        <p:nvSpPr>
          <p:cNvPr id="19" name="Text 15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企业AI转型与应用实践｜模块导航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E9BFF">
              <a:alpha val="8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E9BFF">
              <a:alpha val="7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E9BFF">
              <a:alpha val="7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E9BFF">
              <a:alpha val="67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E9BFF">
              <a:alpha val="61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E9BFF">
              <a:alpha val="5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E9BFF">
              <a:alpha val="4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E9BFF">
              <a:alpha val="4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1｜能力进化 01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AI最初只有一个“大脑”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它会生成，但看不到你的文件、系统和业务现场。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" y="2057400"/>
            <a:ext cx="2057400" cy="1965960"/>
          </a:xfrm>
          <a:prstGeom prst="roundRect">
            <a:avLst>
              <a:gd name="adj" fmla="val 3721"/>
            </a:avLst>
          </a:prstGeom>
          <a:solidFill>
            <a:srgbClr val="0B203B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" y="22219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" y="234086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508760" y="22219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用户输入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932688" y="2743200"/>
            <a:ext cx="1655064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/ 指令 / 需求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2971800" y="2788920"/>
            <a:ext cx="502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3703320" y="1874520"/>
            <a:ext cx="3703320" cy="2331720"/>
          </a:xfrm>
          <a:prstGeom prst="roundRect">
            <a:avLst>
              <a:gd name="adj" fmla="val 3137"/>
            </a:avLst>
          </a:prstGeom>
          <a:solidFill>
            <a:srgbClr val="0D2C50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86791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95928" y="2157984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4480560" y="20391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大模型｜LLM</a:t>
            </a:r>
            <a:endParaRPr lang="en-US" sz="2200" dirty="0"/>
          </a:p>
        </p:txBody>
      </p:sp>
      <p:sp>
        <p:nvSpPr>
          <p:cNvPr id="25" name="Text 21"/>
          <p:cNvSpPr txBox="1"/>
          <p:nvPr/>
        </p:nvSpPr>
        <p:spPr>
          <a:xfrm>
            <a:off x="3904488" y="2560320"/>
            <a:ext cx="3300984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基于训练中学到的知识与模式生成结果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7616952" y="2788920"/>
            <a:ext cx="502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3"/>
          <p:cNvSpPr/>
          <p:nvPr/>
        </p:nvSpPr>
        <p:spPr>
          <a:xfrm>
            <a:off x="8275320" y="2057400"/>
            <a:ext cx="3063240" cy="1965960"/>
          </a:xfrm>
          <a:prstGeom prst="roundRect">
            <a:avLst>
              <a:gd name="adj" fmla="val 3721"/>
            </a:avLst>
          </a:prstGeom>
          <a:solidFill>
            <a:srgbClr val="0B203B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439912" y="22219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67928" y="2340864"/>
            <a:ext cx="237744" cy="237744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9052560" y="22219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内容输出</a:t>
            </a:r>
            <a:endParaRPr lang="en-US" sz="1700" dirty="0"/>
          </a:p>
        </p:txBody>
      </p:sp>
      <p:sp>
        <p:nvSpPr>
          <p:cNvPr id="31" name="Text 26"/>
          <p:cNvSpPr txBox="1"/>
          <p:nvPr/>
        </p:nvSpPr>
        <p:spPr>
          <a:xfrm>
            <a:off x="8476488" y="2743200"/>
            <a:ext cx="2660904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 / 文案 / 总结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FFAA42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会生成 ≠ 已验证；看起来合理 ≠ 一定正确。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E9BFF">
              <a:alpha val="8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E9BFF">
              <a:alpha val="7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E9BFF">
              <a:alpha val="7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E9BFF">
              <a:alpha val="67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E9BFF">
              <a:alpha val="61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E9BFF">
              <a:alpha val="5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E9BFF">
              <a:alpha val="4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E9BFF">
              <a:alpha val="4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1｜能力进化 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AI获得上下文：开始理解当前任务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对话历史、任务目标和业务背景，构成AI的临时工作台。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1874520"/>
            <a:ext cx="3200400" cy="3246120"/>
          </a:xfrm>
          <a:prstGeom prst="roundRect">
            <a:avLst>
              <a:gd name="adj" fmla="val 2286"/>
            </a:avLst>
          </a:prstGeom>
          <a:solidFill>
            <a:srgbClr val="0B203B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408" y="215798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63040" y="203911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上下文｜Context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86968" y="2560320"/>
            <a:ext cx="2798064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对话历史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当前任务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业务背景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用户偏好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已确认决定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096512" y="3063240"/>
            <a:ext cx="502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4617720" y="2148840"/>
            <a:ext cx="2834640" cy="2514600"/>
          </a:xfrm>
          <a:prstGeom prst="roundRect">
            <a:avLst>
              <a:gd name="adj" fmla="val 2909"/>
            </a:avLst>
          </a:prstGeom>
          <a:solidFill>
            <a:srgbClr val="0D2C50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82312" y="23134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10328" y="2432304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394960" y="231343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</a:t>
            </a:r>
            <a:endParaRPr lang="en-US" sz="2200" dirty="0"/>
          </a:p>
        </p:txBody>
      </p:sp>
      <p:sp>
        <p:nvSpPr>
          <p:cNvPr id="25" name="Text 21"/>
          <p:cNvSpPr txBox="1"/>
          <p:nvPr/>
        </p:nvSpPr>
        <p:spPr>
          <a:xfrm>
            <a:off x="4818888" y="2834640"/>
            <a:ext cx="2432304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结合当前上下文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重新理解与生成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7653528" y="3063240"/>
            <a:ext cx="502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3"/>
          <p:cNvSpPr/>
          <p:nvPr/>
        </p:nvSpPr>
        <p:spPr>
          <a:xfrm>
            <a:off x="8183880" y="2148840"/>
            <a:ext cx="3246120" cy="2514600"/>
          </a:xfrm>
          <a:prstGeom prst="roundRect">
            <a:avLst>
              <a:gd name="adj" fmla="val 2909"/>
            </a:avLst>
          </a:prstGeom>
          <a:solidFill>
            <a:srgbClr val="0B203B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348472" y="23134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76488" y="2432304"/>
            <a:ext cx="237744" cy="237744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961120" y="2313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多轮协作</a:t>
            </a:r>
            <a:endParaRPr lang="en-US" sz="1700" dirty="0"/>
          </a:p>
        </p:txBody>
      </p:sp>
      <p:sp>
        <p:nvSpPr>
          <p:cNvPr id="31" name="Text 26"/>
          <p:cNvSpPr txBox="1"/>
          <p:nvPr/>
        </p:nvSpPr>
        <p:spPr>
          <a:xfrm>
            <a:off x="8385048" y="2834640"/>
            <a:ext cx="2843784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 → 澄清 → 补充 → 修正 → 确认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2BD7D5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多轮对话的循环由人推动；每一轮新输入都会触发AI重新生成。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E9BFF">
              <a:alpha val="8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E9BFF">
              <a:alpha val="7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E9BFF">
              <a:alpha val="7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E9BFF">
              <a:alpha val="67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E9BFF">
              <a:alpha val="61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E9BFF">
              <a:alpha val="5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E9BFF">
              <a:alpha val="4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E9BFF">
              <a:alpha val="4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1｜能力进化 03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AI获得“眼睛”：开始看见真实世界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输入不再只有文字，而是企业日常工作的各种材料。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58368" y="1965960"/>
            <a:ext cx="1234440" cy="1078992"/>
          </a:xfrm>
          <a:prstGeom prst="roundRect">
            <a:avLst>
              <a:gd name="adj" fmla="val 6780"/>
            </a:avLst>
          </a:prstGeom>
          <a:solidFill>
            <a:srgbClr val="0B203B"/>
          </a:solidFill>
          <a:ln w="12700">
            <a:solidFill>
              <a:srgbClr val="FF6D6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213055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6D6D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0976" y="224942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35608" y="213055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075688" y="1965960"/>
            <a:ext cx="1234440" cy="1078992"/>
          </a:xfrm>
          <a:prstGeom prst="roundRect">
            <a:avLst>
              <a:gd name="adj" fmla="val 6780"/>
            </a:avLst>
          </a:prstGeom>
          <a:solidFill>
            <a:srgbClr val="0B203B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240280" y="213055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8296" y="2249424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2852928" y="213055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3493008" y="1965960"/>
            <a:ext cx="1234440" cy="1078992"/>
          </a:xfrm>
          <a:prstGeom prst="roundRect">
            <a:avLst>
              <a:gd name="adj" fmla="val 6780"/>
            </a:avLst>
          </a:prstGeom>
          <a:solidFill>
            <a:srgbClr val="0B203B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657600" y="213055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85616" y="2249424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270248" y="213055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658368" y="3264408"/>
            <a:ext cx="1234440" cy="1078992"/>
          </a:xfrm>
          <a:prstGeom prst="roundRect">
            <a:avLst>
              <a:gd name="adj" fmla="val 6780"/>
            </a:avLst>
          </a:prstGeom>
          <a:solidFill>
            <a:srgbClr val="0B203B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22960" y="3429000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0976" y="3547872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435608" y="34290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2075688" y="3264408"/>
            <a:ext cx="1234440" cy="1078992"/>
          </a:xfrm>
          <a:prstGeom prst="roundRect">
            <a:avLst>
              <a:gd name="adj" fmla="val 6780"/>
            </a:avLst>
          </a:prstGeom>
          <a:solidFill>
            <a:srgbClr val="0B203B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2240280" y="3429000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68296" y="3547872"/>
            <a:ext cx="237744" cy="23774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2852928" y="34290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3493008" y="3264408"/>
            <a:ext cx="1234440" cy="1078992"/>
          </a:xfrm>
          <a:prstGeom prst="roundRect">
            <a:avLst>
              <a:gd name="adj" fmla="val 6780"/>
            </a:avLst>
          </a:prstGeom>
          <a:solidFill>
            <a:srgbClr val="0B203B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3657600" y="3429000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85616" y="3547872"/>
            <a:ext cx="237744" cy="237744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4270248" y="34290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4983480" y="2788920"/>
            <a:ext cx="502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40" name="Shape 32"/>
          <p:cNvSpPr/>
          <p:nvPr/>
        </p:nvSpPr>
        <p:spPr>
          <a:xfrm>
            <a:off x="5577840" y="214884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0D2C50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5742432" y="23134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70448" y="2432304"/>
            <a:ext cx="237744" cy="237744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6355080" y="231343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多模态大模型</a:t>
            </a:r>
            <a:endParaRPr lang="en-US" sz="2000" dirty="0"/>
          </a:p>
        </p:txBody>
      </p:sp>
      <p:sp>
        <p:nvSpPr>
          <p:cNvPr id="44" name="Text 35"/>
          <p:cNvSpPr txBox="1"/>
          <p:nvPr/>
        </p:nvSpPr>
        <p:spPr>
          <a:xfrm>
            <a:off x="5779008" y="2834640"/>
            <a:ext cx="2157984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阅读、提取、比较、理解</a:t>
            </a:r>
            <a:endParaRPr lang="en-US" sz="1250" dirty="0"/>
          </a:p>
        </p:txBody>
      </p:sp>
      <p:sp>
        <p:nvSpPr>
          <p:cNvPr id="45" name="Text 36"/>
          <p:cNvSpPr txBox="1"/>
          <p:nvPr/>
        </p:nvSpPr>
        <p:spPr>
          <a:xfrm>
            <a:off x="8339328" y="2788920"/>
            <a:ext cx="502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46" name="Shape 37"/>
          <p:cNvSpPr/>
          <p:nvPr/>
        </p:nvSpPr>
        <p:spPr>
          <a:xfrm>
            <a:off x="8915400" y="214884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0B2C35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9079992" y="23134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08008" y="2432304"/>
            <a:ext cx="237744" cy="237744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9692640" y="23134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工作材料理解</a:t>
            </a:r>
            <a:endParaRPr lang="en-US" sz="1700" dirty="0"/>
          </a:p>
        </p:txBody>
      </p:sp>
      <p:sp>
        <p:nvSpPr>
          <p:cNvPr id="50" name="Text 40"/>
          <p:cNvSpPr txBox="1"/>
          <p:nvPr/>
        </p:nvSpPr>
        <p:spPr>
          <a:xfrm>
            <a:off x="9116568" y="2834640"/>
            <a:ext cx="2112264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更完整的信息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更贴近真实任务</a:t>
            </a:r>
            <a:endParaRPr lang="en-US" sz="1200" dirty="0"/>
          </a:p>
        </p:txBody>
      </p:sp>
      <p:sp>
        <p:nvSpPr>
          <p:cNvPr id="51" name="Shape 41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FFAA42"/>
            </a:solidFill>
            <a:prstDash val="solid"/>
          </a:ln>
        </p:spPr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能看见，不代表一定看得准确；复杂表格、模糊图片和超长材料仍需要验证。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E9BFF">
              <a:alpha val="8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E9BFF">
              <a:alpha val="7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E9BFF">
              <a:alpha val="7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E9BFF">
              <a:alpha val="67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E9BFF">
              <a:alpha val="61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E9BFF">
              <a:alpha val="5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E9BFF">
              <a:alpha val="4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E9BFF">
              <a:alpha val="4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1｜能力进化 04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AI获得知识来源：从猜测到基于事实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企业知识库解决“内部事实”，联网搜索解决“外部最新信息”。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1874520"/>
            <a:ext cx="3017520" cy="1417320"/>
          </a:xfrm>
          <a:prstGeom prst="roundRect">
            <a:avLst>
              <a:gd name="adj" fmla="val 5161"/>
            </a:avLst>
          </a:prstGeom>
          <a:solidFill>
            <a:srgbClr val="0B203B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408" y="215798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63040" y="203911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企业知识库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86968" y="2560320"/>
            <a:ext cx="261518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 / SOP / 产品资料 / 历史案例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85800" y="3584448"/>
            <a:ext cx="3017520" cy="1417320"/>
          </a:xfrm>
          <a:prstGeom prst="roundRect">
            <a:avLst>
              <a:gd name="adj" fmla="val 5161"/>
            </a:avLst>
          </a:prstGeom>
          <a:solidFill>
            <a:srgbClr val="0B203B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50392" y="3749040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408" y="3867912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463040" y="37490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联网与外部数据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886968" y="4270248"/>
            <a:ext cx="261518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 / 新闻 / 市场 / 行业信息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3950208" y="2999232"/>
            <a:ext cx="502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Shape 22"/>
          <p:cNvSpPr/>
          <p:nvPr/>
        </p:nvSpPr>
        <p:spPr>
          <a:xfrm>
            <a:off x="4572000" y="2057400"/>
            <a:ext cx="2834640" cy="2743200"/>
          </a:xfrm>
          <a:prstGeom prst="roundRect">
            <a:avLst>
              <a:gd name="adj" fmla="val 2667"/>
            </a:avLst>
          </a:prstGeom>
          <a:solidFill>
            <a:srgbClr val="0D2C50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736592" y="22219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64608" y="2340864"/>
            <a:ext cx="237744" cy="237744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5349240" y="222199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先检索，再回答</a:t>
            </a:r>
            <a:endParaRPr lang="en-US" sz="1900" dirty="0"/>
          </a:p>
        </p:txBody>
      </p:sp>
      <p:sp>
        <p:nvSpPr>
          <p:cNvPr id="30" name="Text 25"/>
          <p:cNvSpPr txBox="1"/>
          <p:nvPr/>
        </p:nvSpPr>
        <p:spPr>
          <a:xfrm>
            <a:off x="4773168" y="2743200"/>
            <a:ext cx="2432304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检索相关资料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放到当前工作台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基于资料生成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7635240" y="2999232"/>
            <a:ext cx="502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32" name="Shape 27"/>
          <p:cNvSpPr/>
          <p:nvPr/>
        </p:nvSpPr>
        <p:spPr>
          <a:xfrm>
            <a:off x="8229600" y="2057400"/>
            <a:ext cx="3154680" cy="2743200"/>
          </a:xfrm>
          <a:prstGeom prst="roundRect">
            <a:avLst>
              <a:gd name="adj" fmla="val 2667"/>
            </a:avLst>
          </a:prstGeom>
          <a:solidFill>
            <a:srgbClr val="0B2C35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8394192" y="22219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22208" y="2340864"/>
            <a:ext cx="237744" cy="237744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9006840" y="22219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有依据的结论</a:t>
            </a:r>
            <a:endParaRPr lang="en-US" sz="1800" dirty="0"/>
          </a:p>
        </p:txBody>
      </p:sp>
      <p:sp>
        <p:nvSpPr>
          <p:cNvPr id="36" name="Text 30"/>
          <p:cNvSpPr txBox="1"/>
          <p:nvPr/>
        </p:nvSpPr>
        <p:spPr>
          <a:xfrm>
            <a:off x="8430768" y="2743200"/>
            <a:ext cx="2752344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 + 证据 + 来源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降低“凭记忆猜测”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2BD7D5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RAG不是让模型永久“学会”企业知识，而是把相关资料临时拿到工作台上。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E9BFF">
              <a:alpha val="8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E9BFF">
              <a:alpha val="7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E9BFF">
              <a:alpha val="7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E9BFF">
              <a:alpha val="67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E9BFF">
              <a:alpha val="61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E9BFF">
              <a:alpha val="5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E9BFF">
              <a:alpha val="4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E9BFF">
              <a:alpha val="4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1｜能力进化 05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AI获得“手脚”：开始执行动作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从“告诉你怎么做”，升级为“在授权范围内真正去做”。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187452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0B203B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688" y="215798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17320" y="203911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CRM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2057400" y="187452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0B203B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22199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50008" y="2157984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2834640" y="203911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3474720" y="187452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0B203B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63931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67328" y="2157984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251960" y="203911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640080" y="3136392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0B203B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04672" y="3300984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2688" y="3419856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417320" y="3300984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日历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2057400" y="3136392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0B203B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2221992" y="3300984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50008" y="3419856"/>
            <a:ext cx="237744" cy="23774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2834640" y="3300984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3474720" y="3136392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0B203B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3639312" y="3300984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67328" y="3419856"/>
            <a:ext cx="237744" cy="237744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4251960" y="3300984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</a:t>
            </a:r>
            <a:endParaRPr lang="en-US" sz="1250" dirty="0"/>
          </a:p>
        </p:txBody>
      </p:sp>
      <p:sp>
        <p:nvSpPr>
          <p:cNvPr id="39" name="Text 31"/>
          <p:cNvSpPr txBox="1"/>
          <p:nvPr/>
        </p:nvSpPr>
        <p:spPr>
          <a:xfrm>
            <a:off x="4892040" y="2788920"/>
            <a:ext cx="502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40" name="Shape 32"/>
          <p:cNvSpPr/>
          <p:nvPr/>
        </p:nvSpPr>
        <p:spPr>
          <a:xfrm>
            <a:off x="5468112" y="205740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0D2C50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5632704" y="22219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60720" y="2340864"/>
            <a:ext cx="237744" cy="237744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6245352" y="22219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 + 工具</a:t>
            </a:r>
            <a:endParaRPr lang="en-US" sz="1900" dirty="0"/>
          </a:p>
        </p:txBody>
      </p:sp>
      <p:sp>
        <p:nvSpPr>
          <p:cNvPr id="44" name="Text 35"/>
          <p:cNvSpPr txBox="1"/>
          <p:nvPr/>
        </p:nvSpPr>
        <p:spPr>
          <a:xfrm>
            <a:off x="5669280" y="2743200"/>
            <a:ext cx="2203704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选择工具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传入参数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读取结果</a:t>
            </a:r>
            <a:endParaRPr lang="en-US" sz="1300" dirty="0"/>
          </a:p>
        </p:txBody>
      </p:sp>
      <p:sp>
        <p:nvSpPr>
          <p:cNvPr id="45" name="Text 36"/>
          <p:cNvSpPr txBox="1"/>
          <p:nvPr/>
        </p:nvSpPr>
        <p:spPr>
          <a:xfrm>
            <a:off x="8247888" y="2788920"/>
            <a:ext cx="502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46" name="Shape 37"/>
          <p:cNvSpPr/>
          <p:nvPr/>
        </p:nvSpPr>
        <p:spPr>
          <a:xfrm>
            <a:off x="8823960" y="2057400"/>
            <a:ext cx="2487168" cy="2514600"/>
          </a:xfrm>
          <a:prstGeom prst="roundRect">
            <a:avLst>
              <a:gd name="adj" fmla="val 2941"/>
            </a:avLst>
          </a:prstGeom>
          <a:solidFill>
            <a:srgbClr val="0B2C35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8988552" y="22219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16568" y="2340864"/>
            <a:ext cx="237744" cy="237744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9601200" y="222199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业务动作</a:t>
            </a:r>
            <a:endParaRPr lang="en-US" sz="1800" dirty="0"/>
          </a:p>
        </p:txBody>
      </p:sp>
      <p:sp>
        <p:nvSpPr>
          <p:cNvPr id="50" name="Text 40"/>
          <p:cNvSpPr txBox="1"/>
          <p:nvPr/>
        </p:nvSpPr>
        <p:spPr>
          <a:xfrm>
            <a:off x="9025128" y="2743200"/>
            <a:ext cx="2084832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生成文件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更新记录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创建会议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发起流程</a:t>
            </a:r>
            <a:endParaRPr lang="en-US" sz="1250" dirty="0"/>
          </a:p>
        </p:txBody>
      </p:sp>
      <p:sp>
        <p:nvSpPr>
          <p:cNvPr id="51" name="Shape 41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FFAA42"/>
            </a:solidFill>
            <a:prstDash val="solid"/>
          </a:ln>
        </p:spPr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AI一旦拥有行动能力，错误成本会显著上升：权限、确认、日志和回滚必须同步设计。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8C6CFF">
              <a:alpha val="8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8C6CFF">
              <a:alpha val="7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8C6CFF">
              <a:alpha val="7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8C6CFF">
              <a:alpha val="67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8C6CFF">
              <a:alpha val="61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8C6CFF">
              <a:alpha val="5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8C6CFF">
              <a:alpha val="4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8C6CFF">
              <a:alpha val="4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1｜能力进化 06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AI获得记忆：从一次合作到长期伙伴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需要同时区分当前上下文、长期记忆和正式业务数据。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1792" y="1901952"/>
            <a:ext cx="2788920" cy="3154680"/>
          </a:xfrm>
          <a:prstGeom prst="roundRect">
            <a:avLst>
              <a:gd name="adj" fmla="val 2623"/>
            </a:avLst>
          </a:prstGeom>
          <a:solidFill>
            <a:srgbClr val="0B203B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2066544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185416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399032" y="20665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当前对话上下文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2587752"/>
            <a:ext cx="2386584" cy="2313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当前桌面上摊开的材料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仅服务本次任务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随上下文窗口变化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611880" y="1901952"/>
            <a:ext cx="2788920" cy="3154680"/>
          </a:xfrm>
          <a:prstGeom prst="roundRect">
            <a:avLst>
              <a:gd name="adj" fmla="val 2623"/>
            </a:avLst>
          </a:prstGeom>
          <a:solidFill>
            <a:srgbClr val="171E42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776472" y="2066544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04488" y="2185416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389120" y="20665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长期记忆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3813048" y="2587752"/>
            <a:ext cx="2386584" cy="2313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跨任务保存的笔记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偏好 / 决策 / 经验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需要可查看、可纠正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601968" y="1901952"/>
            <a:ext cx="2788920" cy="3154680"/>
          </a:xfrm>
          <a:prstGeom prst="roundRect">
            <a:avLst>
              <a:gd name="adj" fmla="val 2623"/>
            </a:avLst>
          </a:prstGeom>
          <a:solidFill>
            <a:srgbClr val="0B2C35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766560" y="2066544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94576" y="2185416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7379208" y="20665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正式业务数据</a:t>
            </a:r>
            <a:endParaRPr lang="en-US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6803136" y="2587752"/>
            <a:ext cx="2386584" cy="2313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CRM / ERP / 数据库中的事实记录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正式事实不应只存在AI记忆中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9601200" y="1901952"/>
            <a:ext cx="1965960" cy="3154680"/>
          </a:xfrm>
          <a:prstGeom prst="roundRect">
            <a:avLst>
              <a:gd name="adj" fmla="val 3721"/>
            </a:avLst>
          </a:prstGeom>
          <a:solidFill>
            <a:srgbClr val="0D294A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9765792" y="2066544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93808" y="2185416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0378440" y="206654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任务状态</a:t>
            </a:r>
            <a:endParaRPr lang="en-US" sz="1700" dirty="0"/>
          </a:p>
        </p:txBody>
      </p:sp>
      <p:sp>
        <p:nvSpPr>
          <p:cNvPr id="34" name="Text 28"/>
          <p:cNvSpPr txBox="1"/>
          <p:nvPr/>
        </p:nvSpPr>
        <p:spPr>
          <a:xfrm>
            <a:off x="9802368" y="2587752"/>
            <a:ext cx="1563624" cy="2313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8C6CFF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记忆告诉AI“之前发生了什么”；业务系统保存“正式事实是什么”。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1｜能力进化 07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AI获得方法：从聪明到可靠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把优秀经验沉淀成可重复调用的做事方法。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192024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0B203B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0848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688" y="220370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17320" y="20848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2606040"/>
            <a:ext cx="197510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统一输入与输出结构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40080" y="361188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0B203B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4672" y="377647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2688" y="389534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417320" y="37764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检查清单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841248" y="4297680"/>
            <a:ext cx="197510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关键检查点与质量标准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3246120" y="192024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0B2C35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410712" y="20848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38728" y="220370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4023360" y="20848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/ Playbook</a:t>
            </a:r>
            <a:endParaRPr lang="en-US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3447288" y="2606040"/>
            <a:ext cx="197510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标准步骤与异常处理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3246120" y="361188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171E42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3410712" y="377647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38728" y="3895344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4023360" y="37764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</a:t>
            </a:r>
            <a:endParaRPr lang="en-US" sz="1700" dirty="0"/>
          </a:p>
        </p:txBody>
      </p:sp>
      <p:sp>
        <p:nvSpPr>
          <p:cNvPr id="34" name="Text 28"/>
          <p:cNvSpPr txBox="1"/>
          <p:nvPr/>
        </p:nvSpPr>
        <p:spPr>
          <a:xfrm>
            <a:off x="3447288" y="4297680"/>
            <a:ext cx="197510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某类任务的可复用方法</a:t>
            </a:r>
            <a:endParaRPr lang="en-US" sz="1150" dirty="0"/>
          </a:p>
        </p:txBody>
      </p:sp>
      <p:sp>
        <p:nvSpPr>
          <p:cNvPr id="35" name="Text 29"/>
          <p:cNvSpPr txBox="1"/>
          <p:nvPr/>
        </p:nvSpPr>
        <p:spPr>
          <a:xfrm>
            <a:off x="5833872" y="3044952"/>
            <a:ext cx="502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36" name="Shape 30"/>
          <p:cNvSpPr/>
          <p:nvPr/>
        </p:nvSpPr>
        <p:spPr>
          <a:xfrm>
            <a:off x="6446520" y="2240280"/>
            <a:ext cx="2286000" cy="2331720"/>
          </a:xfrm>
          <a:prstGeom prst="roundRect">
            <a:avLst>
              <a:gd name="adj" fmla="val 3200"/>
            </a:avLst>
          </a:prstGeom>
          <a:solidFill>
            <a:srgbClr val="0D2C50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6611112" y="240487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39128" y="2523744"/>
            <a:ext cx="237744" cy="237744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7223760" y="240487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</a:t>
            </a:r>
            <a:endParaRPr lang="en-US" sz="2000" dirty="0"/>
          </a:p>
        </p:txBody>
      </p:sp>
      <p:sp>
        <p:nvSpPr>
          <p:cNvPr id="40" name="Text 33"/>
          <p:cNvSpPr txBox="1"/>
          <p:nvPr/>
        </p:nvSpPr>
        <p:spPr>
          <a:xfrm>
            <a:off x="6647688" y="2926080"/>
            <a:ext cx="1883664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按方法执行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而不是临场发挥</a:t>
            </a:r>
            <a:endParaRPr lang="en-US" sz="1250" dirty="0"/>
          </a:p>
        </p:txBody>
      </p:sp>
      <p:sp>
        <p:nvSpPr>
          <p:cNvPr id="41" name="Text 34"/>
          <p:cNvSpPr txBox="1"/>
          <p:nvPr/>
        </p:nvSpPr>
        <p:spPr>
          <a:xfrm>
            <a:off x="8915400" y="3044952"/>
            <a:ext cx="502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9418320" y="2240280"/>
            <a:ext cx="2057400" cy="2331720"/>
          </a:xfrm>
          <a:prstGeom prst="roundRect">
            <a:avLst>
              <a:gd name="adj" fmla="val 3556"/>
            </a:avLst>
          </a:prstGeom>
          <a:solidFill>
            <a:srgbClr val="0B2C35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9582912" y="240487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710928" y="2523744"/>
            <a:ext cx="237744" cy="237744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10195560" y="24048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稳定输出</a:t>
            </a:r>
            <a:endParaRPr lang="en-US" sz="1700" dirty="0"/>
          </a:p>
        </p:txBody>
      </p:sp>
      <p:sp>
        <p:nvSpPr>
          <p:cNvPr id="46" name="Text 38"/>
          <p:cNvSpPr txBox="1"/>
          <p:nvPr/>
        </p:nvSpPr>
        <p:spPr>
          <a:xfrm>
            <a:off x="9619488" y="2926080"/>
            <a:ext cx="1655064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可评估</a:t>
            </a:r>
            <a:endParaRPr lang="en-US" sz="1250" dirty="0"/>
          </a:p>
        </p:txBody>
      </p:sp>
      <p:sp>
        <p:nvSpPr>
          <p:cNvPr id="47" name="Shape 3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记忆回答“之前发生了什么”；方法回答“这类事情应该怎么做”。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8C6CFF">
              <a:alpha val="8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8C6CFF">
              <a:alpha val="7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8C6CFF">
              <a:alpha val="7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8C6CFF">
              <a:alpha val="67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8C6CFF">
              <a:alpha val="61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8C6CFF">
              <a:alpha val="5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8C6CFF">
              <a:alpha val="4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8C6CFF">
              <a:alpha val="4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1｜能力进化 08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AI形成执行循环：成为 Agent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围绕目标自主规划、执行、观察和优化。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330952" y="2523744"/>
            <a:ext cx="1499616" cy="1499616"/>
          </a:xfrm>
          <a:prstGeom prst="ellipse">
            <a:avLst/>
          </a:prstGeom>
          <a:solidFill>
            <a:srgbClr val="0D2C50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9864" y="2953512"/>
            <a:ext cx="621792" cy="621792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394960" y="3730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Loop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285232" y="178308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0B203B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49824" y="194767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77840" y="2066544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062472" y="19476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理解目标</a:t>
            </a:r>
            <a:endParaRPr lang="en-US" sz="1120" dirty="0"/>
          </a:p>
        </p:txBody>
      </p:sp>
      <p:sp>
        <p:nvSpPr>
          <p:cNvPr id="22" name="Shape 18"/>
          <p:cNvSpPr/>
          <p:nvPr/>
        </p:nvSpPr>
        <p:spPr>
          <a:xfrm>
            <a:off x="7543800" y="2212848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0B203B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708392" y="2377440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36408" y="2496312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321040" y="23774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规划下一步</a:t>
            </a:r>
            <a:endParaRPr lang="en-US" sz="1120" dirty="0"/>
          </a:p>
        </p:txBody>
      </p:sp>
      <p:sp>
        <p:nvSpPr>
          <p:cNvPr id="26" name="Shape 21"/>
          <p:cNvSpPr/>
          <p:nvPr/>
        </p:nvSpPr>
        <p:spPr>
          <a:xfrm>
            <a:off x="7543800" y="3913632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0B203B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708392" y="4078224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36408" y="4197096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321040" y="407822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调用工具</a:t>
            </a:r>
            <a:endParaRPr lang="en-US" sz="1120" dirty="0"/>
          </a:p>
        </p:txBody>
      </p:sp>
      <p:sp>
        <p:nvSpPr>
          <p:cNvPr id="30" name="Shape 24"/>
          <p:cNvSpPr/>
          <p:nvPr/>
        </p:nvSpPr>
        <p:spPr>
          <a:xfrm>
            <a:off x="5285232" y="457200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0B203B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449824" y="47365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77840" y="4855464"/>
            <a:ext cx="237744" cy="23774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6062472" y="473659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观察结果</a:t>
            </a:r>
            <a:endParaRPr lang="en-US" sz="1120" dirty="0"/>
          </a:p>
        </p:txBody>
      </p:sp>
      <p:sp>
        <p:nvSpPr>
          <p:cNvPr id="34" name="Shape 27"/>
          <p:cNvSpPr/>
          <p:nvPr/>
        </p:nvSpPr>
        <p:spPr>
          <a:xfrm>
            <a:off x="3035808" y="3913632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0B203B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3200400" y="4078224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28416" y="4197096"/>
            <a:ext cx="237744" cy="237744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3813048" y="407822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检查达标</a:t>
            </a:r>
            <a:endParaRPr lang="en-US" sz="1120" dirty="0"/>
          </a:p>
        </p:txBody>
      </p:sp>
      <p:sp>
        <p:nvSpPr>
          <p:cNvPr id="38" name="Shape 30"/>
          <p:cNvSpPr/>
          <p:nvPr/>
        </p:nvSpPr>
        <p:spPr>
          <a:xfrm>
            <a:off x="3035808" y="2212848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0B203B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3200400" y="2377440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328416" y="2496312"/>
            <a:ext cx="237744" cy="237744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3813048" y="23774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 / 求助 / 结束</a:t>
            </a:r>
            <a:endParaRPr lang="en-US" sz="1120" dirty="0"/>
          </a:p>
        </p:txBody>
      </p:sp>
      <p:sp>
        <p:nvSpPr>
          <p:cNvPr id="42" name="Shape 33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8C6CFF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Chatbot的循环由人推动；Agent的循环在系统内部持续推进。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BD7D5">
              <a:alpha val="8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BD7D5">
              <a:alpha val="7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BD7D5">
              <a:alpha val="7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BD7D5">
              <a:alpha val="67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BD7D5">
              <a:alpha val="61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BD7D5">
              <a:alpha val="5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BD7D5">
              <a:alpha val="4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BD7D5">
              <a:alpha val="4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1｜能力进化 09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AI 一个“工作环境”：成为数字员工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这不是让AI更聪明，而是让AI拥有完成工作的基础设施。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58368" y="1993392"/>
            <a:ext cx="3383280" cy="3063240"/>
          </a:xfrm>
          <a:prstGeom prst="roundRect">
            <a:avLst>
              <a:gd name="adj" fmla="val 2388"/>
            </a:avLst>
          </a:prstGeom>
          <a:solidFill>
            <a:srgbClr val="0B203B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2157984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0976" y="2276856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35608" y="215798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一台电脑｜云端工作空间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59536" y="2679192"/>
            <a:ext cx="2980944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持续运行的计算环境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保存文件和任务状态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 24×7 工作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407408" y="1993392"/>
            <a:ext cx="3383280" cy="3063240"/>
          </a:xfrm>
          <a:prstGeom prst="roundRect">
            <a:avLst>
              <a:gd name="adj" fmla="val 2388"/>
            </a:avLst>
          </a:prstGeom>
          <a:solidFill>
            <a:srgbClr val="171E42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0" y="2157984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0016" y="2276856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184648" y="215798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一个试验场地｜Sandbox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4608576" y="2679192"/>
            <a:ext cx="2980944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隔离环境中执行与验证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允许失败、重试和回滚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降低误操作风险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8156448" y="1993392"/>
            <a:ext cx="3383280" cy="3063240"/>
          </a:xfrm>
          <a:prstGeom prst="roundRect">
            <a:avLst>
              <a:gd name="adj" fmla="val 2388"/>
            </a:avLst>
          </a:prstGeom>
          <a:solidFill>
            <a:srgbClr val="0D294A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321040" y="2157984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49056" y="2276856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933688" y="215798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远程控制入口｜IM / 手机端</a:t>
            </a:r>
            <a:endParaRPr lang="en-US" sz="1650" dirty="0"/>
          </a:p>
        </p:txBody>
      </p:sp>
      <p:sp>
        <p:nvSpPr>
          <p:cNvPr id="29" name="Text 24"/>
          <p:cNvSpPr txBox="1"/>
          <p:nvPr/>
        </p:nvSpPr>
        <p:spPr>
          <a:xfrm>
            <a:off x="8357616" y="2679192"/>
            <a:ext cx="2980944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随时发起任务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查看进度和异常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关键节点人工确认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2BD7D5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数字员工 = 智能能力 + 工作环境 + 权限边界 + 持续运行。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E9BFF">
              <a:alpha val="8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E9BFF">
              <a:alpha val="7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E9BFF">
              <a:alpha val="7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E9BFF">
              <a:alpha val="67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E9BFF">
              <a:alpha val="61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E9BFF">
              <a:alpha val="5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E9BFF">
              <a:alpha val="4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E9BFF">
              <a:alpha val="4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1｜能力总览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从“会回答”到“能工作”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大模型保持在核心，外部工作系统不断丰富。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446227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482803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5376672"/>
            <a:ext cx="1627632" cy="-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理解与生成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71800" y="3721608"/>
            <a:ext cx="1965960" cy="1353312"/>
          </a:xfrm>
          <a:prstGeom prst="roundRect">
            <a:avLst>
              <a:gd name="adj" fmla="val 5405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36392" y="38862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136392" y="425196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136392" y="4800600"/>
            <a:ext cx="16276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当前工作台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12080" y="3145536"/>
            <a:ext cx="1965960" cy="1929384"/>
          </a:xfrm>
          <a:prstGeom prst="roundRect">
            <a:avLst>
              <a:gd name="adj" fmla="val 3791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76672" y="33101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376672" y="367588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知识与文件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376672" y="422452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看到真实信息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52360" y="2569464"/>
            <a:ext cx="1965960" cy="2505456"/>
          </a:xfrm>
          <a:prstGeom prst="roundRect">
            <a:avLst>
              <a:gd name="adj" fmla="val 372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16952" y="273405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616952" y="3099816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工具与系统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616952" y="3648456"/>
            <a:ext cx="162763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执行真实动作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692640" y="1993392"/>
            <a:ext cx="1965960" cy="3081528"/>
          </a:xfrm>
          <a:prstGeom prst="roundRect">
            <a:avLst>
              <a:gd name="adj" fmla="val 3721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857232" y="21579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857232" y="252374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记忆与方法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9857232" y="3072384"/>
            <a:ext cx="1627632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持续、稳定复用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2E9BFF"/>
            </a:solidFill>
            <a:prstDash val="solid"/>
          </a:ln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Agentic助手不是一种更大的模型，而是以大模型为核心的完整AI工作系统。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FFAA42">
              <a:alpha val="85000"/>
            </a:srgbClr>
          </a:solidFill>
          <a:ln w="12700">
            <a:solidFill>
              <a:srgbClr val="FFAA4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FFAA42">
              <a:alpha val="79000"/>
            </a:srgbClr>
          </a:solidFill>
          <a:ln w="12700">
            <a:solidFill>
              <a:srgbClr val="FFAA4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FFAA42">
              <a:alpha val="73000"/>
            </a:srgbClr>
          </a:solidFill>
          <a:ln w="12700">
            <a:solidFill>
              <a:srgbClr val="FFAA4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FFAA42">
              <a:alpha val="67000"/>
            </a:srgbClr>
          </a:solidFill>
          <a:ln w="12700">
            <a:solidFill>
              <a:srgbClr val="FFAA4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FFAA42">
              <a:alpha val="61000"/>
            </a:srgbClr>
          </a:solidFill>
          <a:ln w="12700">
            <a:solidFill>
              <a:srgbClr val="FFAA4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FFAA42">
              <a:alpha val="55000"/>
            </a:srgbClr>
          </a:solidFill>
          <a:ln w="12700">
            <a:solidFill>
              <a:srgbClr val="FFAA42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FFAA42">
              <a:alpha val="49000"/>
            </a:srgbClr>
          </a:solidFill>
          <a:ln w="12700">
            <a:solidFill>
              <a:srgbClr val="FFAA4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FFAA42">
              <a:alpha val="43000"/>
            </a:srgbClr>
          </a:solidFill>
          <a:ln w="12700">
            <a:solidFill>
              <a:srgbClr val="FFAA42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A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1｜能力边界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 AI 仍然不是万能员工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能力越强，越需要明确边界、控制和责任。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187452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408" y="215798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63040" y="203911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知识边界</a:t>
            </a:r>
            <a:endParaRPr lang="en-US" sz="1620" dirty="0"/>
          </a:p>
        </p:txBody>
      </p:sp>
      <p:sp>
        <p:nvSpPr>
          <p:cNvPr id="19" name="Text 16"/>
          <p:cNvSpPr txBox="1"/>
          <p:nvPr/>
        </p:nvSpPr>
        <p:spPr>
          <a:xfrm>
            <a:off x="886968" y="256032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依赖输入和资料；可能过时、缺失或错误。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217920" y="187452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8251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0528" y="215798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995160" y="203911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理解边界</a:t>
            </a:r>
            <a:endParaRPr lang="en-US" sz="1620" dirty="0"/>
          </a:p>
        </p:txBody>
      </p:sp>
      <p:sp>
        <p:nvSpPr>
          <p:cNvPr id="24" name="Text 20"/>
          <p:cNvSpPr txBox="1"/>
          <p:nvPr/>
        </p:nvSpPr>
        <p:spPr>
          <a:xfrm>
            <a:off x="6419088" y="256032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只理解被提供的上下文；容易误解隐含意图。</a:t>
            </a:r>
            <a:endParaRPr lang="en-US" sz="1080" dirty="0"/>
          </a:p>
        </p:txBody>
      </p:sp>
      <p:sp>
        <p:nvSpPr>
          <p:cNvPr id="25" name="Shape 21"/>
          <p:cNvSpPr/>
          <p:nvPr/>
        </p:nvSpPr>
        <p:spPr>
          <a:xfrm>
            <a:off x="685800" y="374904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50392" y="39136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8408" y="403250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463040" y="39136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判断边界</a:t>
            </a:r>
            <a:endParaRPr lang="en-US" sz="1620" dirty="0"/>
          </a:p>
        </p:txBody>
      </p:sp>
      <p:sp>
        <p:nvSpPr>
          <p:cNvPr id="29" name="Text 24"/>
          <p:cNvSpPr txBox="1"/>
          <p:nvPr/>
        </p:nvSpPr>
        <p:spPr>
          <a:xfrm>
            <a:off x="886968" y="443484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善于发现模式，但价值选择仍需要人。</a:t>
            </a:r>
            <a:endParaRPr lang="en-US" sz="1080" dirty="0"/>
          </a:p>
        </p:txBody>
      </p:sp>
      <p:sp>
        <p:nvSpPr>
          <p:cNvPr id="30" name="Shape 25"/>
          <p:cNvSpPr/>
          <p:nvPr/>
        </p:nvSpPr>
        <p:spPr>
          <a:xfrm>
            <a:off x="6217920" y="374904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382512" y="39136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0528" y="4032504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995160" y="39136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责任边界</a:t>
            </a:r>
            <a:endParaRPr lang="en-US" sz="1620" dirty="0"/>
          </a:p>
        </p:txBody>
      </p:sp>
      <p:sp>
        <p:nvSpPr>
          <p:cNvPr id="34" name="Text 28"/>
          <p:cNvSpPr txBox="1"/>
          <p:nvPr/>
        </p:nvSpPr>
        <p:spPr>
          <a:xfrm>
            <a:off x="6419088" y="443484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AI不能独立承担业务、法律和伦理责任。</a:t>
            </a:r>
            <a:endParaRPr lang="en-US" sz="1080" dirty="0"/>
          </a:p>
        </p:txBody>
      </p:sp>
      <p:sp>
        <p:nvSpPr>
          <p:cNvPr id="35" name="Shape 2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FFAA42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AI最大的风险，不是它不会做，而是它做得“看起来很像对的”。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FFAA42">
              <a:alpha val="85000"/>
            </a:srgbClr>
          </a:solidFill>
          <a:ln w="12700">
            <a:solidFill>
              <a:srgbClr val="FFAA4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FFAA42">
              <a:alpha val="79000"/>
            </a:srgbClr>
          </a:solidFill>
          <a:ln w="12700">
            <a:solidFill>
              <a:srgbClr val="FFAA4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FFAA42">
              <a:alpha val="73000"/>
            </a:srgbClr>
          </a:solidFill>
          <a:ln w="12700">
            <a:solidFill>
              <a:srgbClr val="FFAA4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FFAA42">
              <a:alpha val="67000"/>
            </a:srgbClr>
          </a:solidFill>
          <a:ln w="12700">
            <a:solidFill>
              <a:srgbClr val="FFAA4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FFAA42">
              <a:alpha val="61000"/>
            </a:srgbClr>
          </a:solidFill>
          <a:ln w="12700">
            <a:solidFill>
              <a:srgbClr val="FFAA4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FFAA42">
              <a:alpha val="55000"/>
            </a:srgbClr>
          </a:solidFill>
          <a:ln w="12700">
            <a:solidFill>
              <a:srgbClr val="FFAA42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FFAA42">
              <a:alpha val="49000"/>
            </a:srgbClr>
          </a:solidFill>
          <a:ln w="12700">
            <a:solidFill>
              <a:srgbClr val="FFAA4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FFAA42">
              <a:alpha val="43000"/>
            </a:srgbClr>
          </a:solidFill>
          <a:ln w="12700">
            <a:solidFill>
              <a:srgbClr val="FFAA42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A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1｜信任与控制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能力越强，人工控制必须越精细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不是“信不信AI”，而是设计不同风险等级的协作方式。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446227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482803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人执行 / AI辅助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5376672"/>
            <a:ext cx="1627632" cy="-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高风险、强责任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71800" y="3721608"/>
            <a:ext cx="1965960" cy="1353312"/>
          </a:xfrm>
          <a:prstGeom prst="roundRect">
            <a:avLst>
              <a:gd name="adj" fmla="val 5405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36392" y="38862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136392" y="425196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人审 / AI执行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136392" y="4800600"/>
            <a:ext cx="16276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关键动作确认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12080" y="3145536"/>
            <a:ext cx="1965960" cy="1929384"/>
          </a:xfrm>
          <a:prstGeom prst="roundRect">
            <a:avLst>
              <a:gd name="adj" fmla="val 3791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76672" y="33101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376672" y="367588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人机协同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376672" y="422452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共同完成判断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52360" y="2569464"/>
            <a:ext cx="1965960" cy="2505456"/>
          </a:xfrm>
          <a:prstGeom prst="roundRect">
            <a:avLst>
              <a:gd name="adj" fmla="val 3721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16952" y="273405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616952" y="3099816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关键点确认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616952" y="3648456"/>
            <a:ext cx="162763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多数步骤自动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692640" y="1993392"/>
            <a:ext cx="1965960" cy="3081528"/>
          </a:xfrm>
          <a:prstGeom prst="roundRect">
            <a:avLst>
              <a:gd name="adj" fmla="val 3721"/>
            </a:avLst>
          </a:prstGeom>
          <a:solidFill>
            <a:srgbClr val="0D2747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857232" y="21579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A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857232" y="252374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结果确认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9857232" y="3072384"/>
            <a:ext cx="1627632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低风险可回滚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FFAA42"/>
            </a:solidFill>
            <a:prstDash val="solid"/>
          </a:ln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Agentic不等于完全自主；企业真正要设计的是“在哪里自主、在哪里确认”。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BD7D5">
              <a:alpha val="8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BD7D5">
              <a:alpha val="7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BD7D5">
              <a:alpha val="7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BD7D5">
              <a:alpha val="67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BD7D5">
              <a:alpha val="61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BD7D5">
              <a:alpha val="5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BD7D5">
              <a:alpha val="4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BD7D5">
              <a:alpha val="4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1｜人机协同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最好的AI，不是替代人，而是放大人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让AI做机器擅长的，让人负责人类不可替代的价值。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05840" y="1965960"/>
            <a:ext cx="3383280" cy="3383280"/>
          </a:xfrm>
          <a:prstGeom prst="ellipse">
            <a:avLst/>
          </a:prstGeom>
          <a:solidFill>
            <a:srgbClr val="0E2C50">
              <a:alpha val="82000"/>
            </a:srgbClr>
          </a:solidFill>
          <a:ln w="15240">
            <a:solidFill>
              <a:srgbClr val="2E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1965960"/>
            <a:ext cx="3383280" cy="3383280"/>
          </a:xfrm>
          <a:prstGeom prst="ellipse">
            <a:avLst/>
          </a:prstGeom>
          <a:solidFill>
            <a:srgbClr val="18224B">
              <a:alpha val="82000"/>
            </a:srgbClr>
          </a:solidFill>
          <a:ln w="15240">
            <a:solidFill>
              <a:srgbClr val="8C6C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965960"/>
            <a:ext cx="3383280" cy="3383280"/>
          </a:xfrm>
          <a:prstGeom prst="ellipse">
            <a:avLst/>
          </a:prstGeom>
          <a:solidFill>
            <a:srgbClr val="0B3A36">
              <a:alpha val="82000"/>
            </a:srgbClr>
          </a:solidFill>
          <a:ln w="15240">
            <a:solidFill>
              <a:srgbClr val="35D49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91640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627632" y="2971800"/>
            <a:ext cx="155448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信息处理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模式发现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持续执行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2971800"/>
            <a:ext cx="164592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目标一致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关键点确认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共同优化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2971800"/>
            <a:ext cx="164592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价值判断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创造突破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关系与责任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2BD7D5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人机协同不是替代，而是把人与AI各自的优势组合成新的工作单元。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E9BFF">
              <a:alpha val="8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E9BFF">
              <a:alpha val="7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E9BFF">
              <a:alpha val="7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E9BFF">
              <a:alpha val="67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E9BFF">
              <a:alpha val="61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E9BFF">
              <a:alpha val="5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E9BFF">
              <a:alpha val="4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E9BFF">
              <a:alpha val="4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1｜模块过渡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从理解 AI，到应用 AI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认知对齐之后，下一步是找到值得重新设计的工作。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13232" y="2423160"/>
            <a:ext cx="2535174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79651" y="2633472"/>
            <a:ext cx="402336" cy="40233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86384" y="3145536"/>
            <a:ext cx="238887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理解AI能力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3220974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3449574" y="2423160"/>
            <a:ext cx="2535174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15993" y="2633472"/>
            <a:ext cx="402336" cy="40233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3522726" y="3145536"/>
            <a:ext cx="238887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发现业务机会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5957316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19"/>
          <p:cNvSpPr/>
          <p:nvPr/>
        </p:nvSpPr>
        <p:spPr>
          <a:xfrm>
            <a:off x="6185916" y="2423160"/>
            <a:ext cx="2535174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52335" y="2633472"/>
            <a:ext cx="402336" cy="40233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259068" y="3145536"/>
            <a:ext cx="238887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设计解决方案</a:t>
            </a:r>
            <a:endParaRPr lang="en-US" sz="1350" dirty="0"/>
          </a:p>
        </p:txBody>
      </p:sp>
      <p:sp>
        <p:nvSpPr>
          <p:cNvPr id="26" name="Text 21"/>
          <p:cNvSpPr txBox="1"/>
          <p:nvPr/>
        </p:nvSpPr>
        <p:spPr>
          <a:xfrm>
            <a:off x="8693658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2"/>
          <p:cNvSpPr/>
          <p:nvPr/>
        </p:nvSpPr>
        <p:spPr>
          <a:xfrm>
            <a:off x="8922258" y="2423160"/>
            <a:ext cx="2535174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FFAA42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88677" y="2633472"/>
            <a:ext cx="402336" cy="40233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995410" y="3145536"/>
            <a:ext cx="238887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落地与迭代</a:t>
            </a:r>
            <a:endParaRPr lang="en-US" sz="1350" dirty="0"/>
          </a:p>
        </p:txBody>
      </p:sp>
      <p:sp>
        <p:nvSpPr>
          <p:cNvPr id="30" name="Shape 24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2E9BFF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AI不是终点，而是企业智能化的起点。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BD7D5">
              <a:alpha val="8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BD7D5">
              <a:alpha val="7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BD7D5">
              <a:alpha val="7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BD7D5">
              <a:alpha val="67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BD7D5">
              <a:alpha val="61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BD7D5">
              <a:alpha val="5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BD7D5">
              <a:alpha val="4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BD7D5">
              <a:alpha val="4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6583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234440"/>
            <a:ext cx="7955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 AI</a:t>
            </a:r>
            <a:endParaRPr lang="en-US" sz="35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" y="25420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从个人提效到企业智能化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58368" y="3703320"/>
            <a:ext cx="8046720" cy="1234440"/>
          </a:xfrm>
          <a:prstGeom prst="roundRect">
            <a:avLst>
              <a:gd name="adj" fmla="val 5926"/>
            </a:avLst>
          </a:prstGeom>
          <a:solidFill>
            <a:srgbClr val="11233F">
              <a:alpha val="97000"/>
            </a:srgbClr>
          </a:solidFill>
          <a:ln w="12700">
            <a:solidFill>
              <a:srgbClr val="2BD7D5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688" y="4005072"/>
            <a:ext cx="502920" cy="5029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691640" y="3877056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从“我会用AI”，逐步走向“组织能持续创造价值”。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9464040" y="1325880"/>
            <a:ext cx="1920240" cy="1920240"/>
          </a:xfrm>
          <a:prstGeom prst="ellipse">
            <a:avLst/>
          </a:prstGeom>
          <a:solidFill>
            <a:srgbClr val="091D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48672" y="1810512"/>
            <a:ext cx="960120" cy="9601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619488" y="3840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000" dirty="0"/>
          </a:p>
        </p:txBody>
      </p:sp>
      <p:sp>
        <p:nvSpPr>
          <p:cNvPr id="19" name="Text 15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企业AI转型与应用实践｜模块导航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BD7D5">
              <a:alpha val="8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BD7D5">
              <a:alpha val="7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BD7D5">
              <a:alpha val="7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BD7D5">
              <a:alpha val="67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BD7D5">
              <a:alpha val="61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BD7D5">
              <a:alpha val="5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BD7D5">
              <a:alpha val="4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BD7D5">
              <a:alpha val="4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2｜总览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企业AI应用的四个层次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任务越来越复杂，价值越来越深入。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446227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482803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个人AI助手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5376672"/>
            <a:ext cx="1627632" cy="-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提高单人产能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71800" y="3721608"/>
            <a:ext cx="1965960" cy="1353312"/>
          </a:xfrm>
          <a:prstGeom prst="roundRect">
            <a:avLst>
              <a:gd name="adj" fmla="val 5405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36392" y="38862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136392" y="425196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团队AI工作流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136392" y="4800600"/>
            <a:ext cx="16276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复制优秀经验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12080" y="3145536"/>
            <a:ext cx="1965960" cy="1929384"/>
          </a:xfrm>
          <a:prstGeom prst="roundRect">
            <a:avLst>
              <a:gd name="adj" fmla="val 3791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76672" y="33101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376672" y="367588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376672" y="422452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承担完整任务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52360" y="2569464"/>
            <a:ext cx="1965960" cy="2505456"/>
          </a:xfrm>
          <a:prstGeom prst="roundRect">
            <a:avLst>
              <a:gd name="adj" fmla="val 372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16952" y="273405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616952" y="3099816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Native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616952" y="3648456"/>
            <a:ext cx="162763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重构业务与组织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2BD7D5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企业AI的价值演进：效率 → 复用 → 执行 → 创新。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BD7D5">
              <a:alpha val="8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BD7D5">
              <a:alpha val="7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BD7D5">
              <a:alpha val="7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BD7D5">
              <a:alpha val="67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BD7D5">
              <a:alpha val="61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BD7D5">
              <a:alpha val="5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BD7D5">
              <a:alpha val="4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BD7D5">
              <a:alpha val="4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2｜机会地图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AI机会存在于四种不同深度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不要只寻找“能不能用AI”，还要判断AI进入工作的深度。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187452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408" y="215798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63040" y="203911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个人效率</a:t>
            </a:r>
            <a:endParaRPr lang="en-US" sz="1620" dirty="0"/>
          </a:p>
        </p:txBody>
      </p:sp>
      <p:sp>
        <p:nvSpPr>
          <p:cNvPr id="19" name="Text 16"/>
          <p:cNvSpPr txBox="1"/>
          <p:nvPr/>
        </p:nvSpPr>
        <p:spPr>
          <a:xfrm>
            <a:off x="886968" y="256032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研究、写作、会议、分析、学习。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217920" y="187452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8251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0528" y="215798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995160" y="203911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</a:t>
            </a:r>
            <a:endParaRPr lang="en-US" sz="1620" dirty="0"/>
          </a:p>
        </p:txBody>
      </p:sp>
      <p:sp>
        <p:nvSpPr>
          <p:cNvPr id="24" name="Text 20"/>
          <p:cNvSpPr txBox="1"/>
          <p:nvPr/>
        </p:nvSpPr>
        <p:spPr>
          <a:xfrm>
            <a:off x="6419088" y="256032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知识共享、模板复用、标准工作流。</a:t>
            </a:r>
            <a:endParaRPr lang="en-US" sz="1080" dirty="0"/>
          </a:p>
        </p:txBody>
      </p:sp>
      <p:sp>
        <p:nvSpPr>
          <p:cNvPr id="25" name="Shape 21"/>
          <p:cNvSpPr/>
          <p:nvPr/>
        </p:nvSpPr>
        <p:spPr>
          <a:xfrm>
            <a:off x="685800" y="374904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50392" y="39136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8408" y="403250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463040" y="39136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业务流程</a:t>
            </a:r>
            <a:endParaRPr lang="en-US" sz="1620" dirty="0"/>
          </a:p>
        </p:txBody>
      </p:sp>
      <p:sp>
        <p:nvSpPr>
          <p:cNvPr id="29" name="Text 24"/>
          <p:cNvSpPr txBox="1"/>
          <p:nvPr/>
        </p:nvSpPr>
        <p:spPr>
          <a:xfrm>
            <a:off x="886968" y="443484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持续监控、判断、执行和跟踪。</a:t>
            </a:r>
            <a:endParaRPr lang="en-US" sz="1080" dirty="0"/>
          </a:p>
        </p:txBody>
      </p:sp>
      <p:sp>
        <p:nvSpPr>
          <p:cNvPr id="30" name="Shape 25"/>
          <p:cNvSpPr/>
          <p:nvPr/>
        </p:nvSpPr>
        <p:spPr>
          <a:xfrm>
            <a:off x="6217920" y="374904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382512" y="39136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0528" y="4032504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995160" y="39136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企业创新</a:t>
            </a:r>
            <a:endParaRPr lang="en-US" sz="1620" dirty="0"/>
          </a:p>
        </p:txBody>
      </p:sp>
      <p:sp>
        <p:nvSpPr>
          <p:cNvPr id="34" name="Text 28"/>
          <p:cNvSpPr txBox="1"/>
          <p:nvPr/>
        </p:nvSpPr>
        <p:spPr>
          <a:xfrm>
            <a:off x="6419088" y="443484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Native产品、服务、流程和组织。</a:t>
            </a:r>
            <a:endParaRPr lang="en-US" sz="1080" dirty="0"/>
          </a:p>
        </p:txBody>
      </p:sp>
      <p:sp>
        <p:nvSpPr>
          <p:cNvPr id="35" name="Shape 2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2BD7D5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从浅到深并不代表必须逐级推进；关键是选择与业务价值和准备度匹配的层次。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E9BFF">
              <a:alpha val="8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E9BFF">
              <a:alpha val="7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E9BFF">
              <a:alpha val="7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E9BFF">
              <a:alpha val="67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E9BFF">
              <a:alpha val="61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E9BFF">
              <a:alpha val="5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E9BFF">
              <a:alpha val="4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E9BFF">
              <a:alpha val="4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2｜个人AI助手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每个人都会拥有一个AI工作伙伴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AI首先改变的是每个人每天重复的信息工作。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914400" y="315468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0B1E36"/>
          </a:solidFill>
          <a:ln w="12700">
            <a:solidFill>
              <a:srgbClr val="607A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8992" y="331927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607A9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008" y="343814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691640" y="331927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过去：自己完成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1115568" y="3840480"/>
            <a:ext cx="389534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搜索、阅读、整理、写作、分析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3611880"/>
            <a:ext cx="502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6446520" y="3154680"/>
            <a:ext cx="4572000" cy="1417320"/>
          </a:xfrm>
          <a:prstGeom prst="roundRect">
            <a:avLst>
              <a:gd name="adj" fmla="val 5161"/>
            </a:avLst>
          </a:prstGeom>
          <a:solidFill>
            <a:srgbClr val="0D294A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611112" y="331927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9128" y="3438144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223760" y="331927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未来：人 + AI协作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6647688" y="3840480"/>
            <a:ext cx="416966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人定义目标与判断，AI处理信息与生成初稿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2E9BFF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不是把任务“交给AI”，而是重新设计人与AI的协作回路。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E9BFF">
              <a:alpha val="8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E9BFF">
              <a:alpha val="7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E9BFF">
              <a:alpha val="7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E9BFF">
              <a:alpha val="67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E9BFF">
              <a:alpha val="61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E9BFF">
              <a:alpha val="5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E9BFF">
              <a:alpha val="4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E9BFF">
              <a:alpha val="4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2｜个人案例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AI研究助手：从搜索信息到生成洞察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市场经理准备竞品与行业分析。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示意案例｜用于培训讨论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1874520"/>
            <a:ext cx="3246120" cy="3337560"/>
          </a:xfrm>
          <a:prstGeom prst="roundRect">
            <a:avLst>
              <a:gd name="adj" fmla="val 2254"/>
            </a:avLst>
          </a:prstGeom>
          <a:solidFill>
            <a:srgbClr val="2B221C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688" y="215798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17320" y="20391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当前业务问题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2560320"/>
            <a:ext cx="2843784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大量搜索、复制、阅读和整理；时间主要消耗在信息搬运。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096512" y="1874520"/>
            <a:ext cx="3886200" cy="3337560"/>
          </a:xfrm>
          <a:prstGeom prst="roundRect">
            <a:avLst>
              <a:gd name="adj" fmla="val 2192"/>
            </a:avLst>
          </a:prstGeom>
          <a:solidFill>
            <a:srgbClr val="0B2A48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61104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9120" y="215798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873752" y="20391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AI重新设计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4297680" y="2560320"/>
            <a:ext cx="3483864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定义研究问题 → 并行收集资料 → 比较观点 → 识别证据缺口 → 生成研究初稿。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183880" y="187452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0B2C35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34847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76488" y="215798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961120" y="20391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</a:t>
            </a:r>
            <a:endParaRPr lang="en-US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8385048" y="2560320"/>
            <a:ext cx="2980944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缩短研究周期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提升资料覆盖度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把时间投入判断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8183880" y="4041648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1A2045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348472" y="4206240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76488" y="4325112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961120" y="42062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人机分工</a:t>
            </a:r>
            <a:endParaRPr lang="en-US" sz="1450" dirty="0"/>
          </a:p>
        </p:txBody>
      </p:sp>
      <p:sp>
        <p:nvSpPr>
          <p:cNvPr id="34" name="Text 28"/>
          <p:cNvSpPr txBox="1"/>
          <p:nvPr/>
        </p:nvSpPr>
        <p:spPr>
          <a:xfrm>
            <a:off x="8385048" y="4727448"/>
            <a:ext cx="298094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AI收集与结构化；人判断证据、机会和结论。</a:t>
            </a:r>
            <a:endParaRPr lang="en-US" sz="980" dirty="0"/>
          </a:p>
        </p:txBody>
      </p:sp>
      <p:sp>
        <p:nvSpPr>
          <p:cNvPr id="35" name="Shape 2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2E9BFF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案例不是复制答案，而是帮助学员看见：同一项工作可以被重新设计。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8C6CFF">
              <a:alpha val="8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8C6CFF">
              <a:alpha val="7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8C6CFF">
              <a:alpha val="7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8C6CFF">
              <a:alpha val="67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8C6CFF">
              <a:alpha val="61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8C6CFF">
              <a:alpha val="5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8C6CFF">
              <a:alpha val="4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8C6CFF">
              <a:alpha val="4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2｜个人案例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AI写作助手：从“写内容”到“共创内容”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销售方案、市场材料和管理汇报。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示意案例｜用于培训讨论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1874520"/>
            <a:ext cx="3246120" cy="3337560"/>
          </a:xfrm>
          <a:prstGeom prst="roundRect">
            <a:avLst>
              <a:gd name="adj" fmla="val 2254"/>
            </a:avLst>
          </a:prstGeom>
          <a:solidFill>
            <a:srgbClr val="2B221C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688" y="215798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17320" y="20391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当前业务问题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2560320"/>
            <a:ext cx="2843784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从空白页开始；资料分散；表达质量依赖个人。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096512" y="1874520"/>
            <a:ext cx="3886200" cy="3337560"/>
          </a:xfrm>
          <a:prstGeom prst="roundRect">
            <a:avLst>
              <a:gd name="adj" fmla="val 2192"/>
            </a:avLst>
          </a:prstGeom>
          <a:solidFill>
            <a:srgbClr val="0B2A48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61104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9120" y="215798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873752" y="20391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AI重新设计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4297680" y="2560320"/>
            <a:ext cx="3483864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输入客户背景、产品资料和案例 → 生成结构 → 起草内容 → 多轮修改 → 形成可交付产物。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183880" y="187452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0B2C35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34847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76488" y="215798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961120" y="20391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</a:t>
            </a:r>
            <a:endParaRPr lang="en-US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8385048" y="2560320"/>
            <a:ext cx="2980944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降低起稿成本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提升结构完整度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加快版本迭代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8183880" y="4041648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1A2045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348472" y="4206240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76488" y="4325112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961120" y="42062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人机分工</a:t>
            </a:r>
            <a:endParaRPr lang="en-US" sz="1450" dirty="0"/>
          </a:p>
        </p:txBody>
      </p:sp>
      <p:sp>
        <p:nvSpPr>
          <p:cNvPr id="34" name="Text 28"/>
          <p:cNvSpPr txBox="1"/>
          <p:nvPr/>
        </p:nvSpPr>
        <p:spPr>
          <a:xfrm>
            <a:off x="8385048" y="4727448"/>
            <a:ext cx="298094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AI负责第一版和多版本；人负责立场、判断和最终表达。</a:t>
            </a:r>
            <a:endParaRPr lang="en-US" sz="980" dirty="0"/>
          </a:p>
        </p:txBody>
      </p:sp>
      <p:sp>
        <p:nvSpPr>
          <p:cNvPr id="35" name="Shape 2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8C6CFF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案例不是复制答案，而是帮助学员看见：同一项工作可以被重新设计。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BD7D5">
              <a:alpha val="8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BD7D5">
              <a:alpha val="7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BD7D5">
              <a:alpha val="7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BD7D5">
              <a:alpha val="67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BD7D5">
              <a:alpha val="61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BD7D5">
              <a:alpha val="5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BD7D5">
              <a:alpha val="4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BD7D5">
              <a:alpha val="4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2｜个人案例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AI会议助手：把会议变成行动闭环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会前准备、会中记录、会后跟进。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示意案例｜用于培训讨论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1874520"/>
            <a:ext cx="3246120" cy="3337560"/>
          </a:xfrm>
          <a:prstGeom prst="roundRect">
            <a:avLst>
              <a:gd name="adj" fmla="val 2254"/>
            </a:avLst>
          </a:prstGeom>
          <a:solidFill>
            <a:srgbClr val="2B221C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688" y="215798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17320" y="20391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当前业务问题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2560320"/>
            <a:ext cx="2843784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信息散落在聊天、笔记和个人记忆中；决策难追踪。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096512" y="1874520"/>
            <a:ext cx="3886200" cy="3337560"/>
          </a:xfrm>
          <a:prstGeom prst="roundRect">
            <a:avLst>
              <a:gd name="adj" fmla="val 2192"/>
            </a:avLst>
          </a:prstGeom>
          <a:solidFill>
            <a:srgbClr val="0B2A48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61104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9120" y="215798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873752" y="20391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AI重新设计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4297680" y="2560320"/>
            <a:ext cx="3483864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会前汇总背景 → 会中记录重点 → 会后提取决策、责任人和期限 → 持续跟踪。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183880" y="187452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0B2C35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34847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76488" y="215798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961120" y="20391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</a:t>
            </a:r>
            <a:endParaRPr lang="en-US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8385048" y="2560320"/>
            <a:ext cx="2980944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减少遗漏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缩短会后整理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提高行动闭环率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8183880" y="4041648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1A2045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348472" y="4206240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76488" y="4325112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961120" y="42062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人机分工</a:t>
            </a:r>
            <a:endParaRPr lang="en-US" sz="1450" dirty="0"/>
          </a:p>
        </p:txBody>
      </p:sp>
      <p:sp>
        <p:nvSpPr>
          <p:cNvPr id="34" name="Text 28"/>
          <p:cNvSpPr txBox="1"/>
          <p:nvPr/>
        </p:nvSpPr>
        <p:spPr>
          <a:xfrm>
            <a:off x="8385048" y="4727448"/>
            <a:ext cx="298094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AI负责记录与跟踪；人负责讨论、决策和承诺。</a:t>
            </a:r>
            <a:endParaRPr lang="en-US" sz="980" dirty="0"/>
          </a:p>
        </p:txBody>
      </p:sp>
      <p:sp>
        <p:nvSpPr>
          <p:cNvPr id="35" name="Shape 2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2BD7D5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案例不是复制答案，而是帮助学员看见：同一项工作可以被重新设计。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2｜个人案例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AI分析助手：从看数据到发现问题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管理者分析经营数据与异常。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示意案例｜用于培训讨论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1874520"/>
            <a:ext cx="3246120" cy="3337560"/>
          </a:xfrm>
          <a:prstGeom prst="roundRect">
            <a:avLst>
              <a:gd name="adj" fmla="val 2254"/>
            </a:avLst>
          </a:prstGeom>
          <a:solidFill>
            <a:srgbClr val="2B221C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688" y="215798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17320" y="20391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当前业务问题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2560320"/>
            <a:ext cx="2843784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人工拉表、筛选和解释；结论容易受经验和时间限制。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096512" y="1874520"/>
            <a:ext cx="3886200" cy="3337560"/>
          </a:xfrm>
          <a:prstGeom prst="roundRect">
            <a:avLst>
              <a:gd name="adj" fmla="val 2192"/>
            </a:avLst>
          </a:prstGeom>
          <a:solidFill>
            <a:srgbClr val="0B2A48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61104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9120" y="215798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873752" y="20391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AI重新设计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4297680" y="2560320"/>
            <a:ext cx="3483864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读取报表 → 发现异常与趋势 → 提出原因假设 → 生成验证路径和行动建议。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183880" y="187452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0B2C35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34847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76488" y="215798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961120" y="20391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</a:t>
            </a:r>
            <a:endParaRPr lang="en-US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8385048" y="2560320"/>
            <a:ext cx="2980944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更快发现问题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增加分析维度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提升决策准备质量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8183880" y="4041648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1A2045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348472" y="4206240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76488" y="4325112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961120" y="42062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人机分工</a:t>
            </a:r>
            <a:endParaRPr lang="en-US" sz="1450" dirty="0"/>
          </a:p>
        </p:txBody>
      </p:sp>
      <p:sp>
        <p:nvSpPr>
          <p:cNvPr id="34" name="Text 28"/>
          <p:cNvSpPr txBox="1"/>
          <p:nvPr/>
        </p:nvSpPr>
        <p:spPr>
          <a:xfrm>
            <a:off x="8385048" y="4727448"/>
            <a:ext cx="298094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AI发现模式与假设；人验证原因并做经营决策。</a:t>
            </a:r>
            <a:endParaRPr lang="en-US" sz="980" dirty="0"/>
          </a:p>
        </p:txBody>
      </p:sp>
      <p:sp>
        <p:nvSpPr>
          <p:cNvPr id="35" name="Shape 2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案例不是复制答案，而是帮助学员看见：同一项工作可以被重新设计。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E9BFF">
              <a:alpha val="8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E9BFF">
              <a:alpha val="7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E9BFF">
              <a:alpha val="7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E9BFF">
              <a:alpha val="67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E9BFF">
              <a:alpha val="61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E9BFF">
              <a:alpha val="5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E9BFF">
              <a:alpha val="4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E9BFF">
              <a:alpha val="4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2｜个人成熟度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个人AI能力的四级进化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差异不在“会不会问”，而在是否形成可复用的工作系统。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446227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482803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Consumer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5376672"/>
            <a:ext cx="1627632" cy="-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问AI、获取答案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71800" y="3721608"/>
            <a:ext cx="1965960" cy="1353312"/>
          </a:xfrm>
          <a:prstGeom prst="roundRect">
            <a:avLst>
              <a:gd name="adj" fmla="val 5405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36392" y="38862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136392" y="425196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Tinkerer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136392" y="4800600"/>
            <a:ext cx="16276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反复试验、组合工具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12080" y="3145536"/>
            <a:ext cx="1965960" cy="1929384"/>
          </a:xfrm>
          <a:prstGeom prst="roundRect">
            <a:avLst>
              <a:gd name="adj" fmla="val 3791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76672" y="33101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376672" y="367588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Builder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376672" y="422452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设计可靠工作流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52360" y="2569464"/>
            <a:ext cx="1965960" cy="2505456"/>
          </a:xfrm>
          <a:prstGeom prst="roundRect">
            <a:avLst>
              <a:gd name="adj" fmla="val 372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16952" y="273405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616952" y="3099816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616952" y="3648456"/>
            <a:ext cx="162763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构建个人AI系统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2E9BFF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从“问得好”进化到“把一类工作持续做好”。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E9BFF">
              <a:alpha val="8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E9BFF">
              <a:alpha val="7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E9BFF">
              <a:alpha val="7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E9BFF">
              <a:alpha val="67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E9BFF">
              <a:alpha val="61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E9BFF">
              <a:alpha val="55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E9BFF">
              <a:alpha val="49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E9BFF">
              <a:alpha val="43000"/>
            </a:srgbClr>
          </a:solidFill>
          <a:ln w="12700">
            <a:solidFill>
              <a:srgbClr val="2E9B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2｜个人系统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个人AI高手的秘密：不是Prompt，而是工作系统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Prompt只是入口；稳定能力来自六个要素。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182880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19933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688" y="211226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17320" y="199339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2514600"/>
            <a:ext cx="307238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选择合适的通用智能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343400" y="182880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07992" y="19933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6008" y="211226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120640" y="199339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知识与资料</a:t>
            </a:r>
            <a:endParaRPr lang="en-US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4544568" y="2514600"/>
            <a:ext cx="307238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提供真实上下文与证据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8046720" y="182880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211312" y="19933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39328" y="211226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823960" y="199339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450" dirty="0"/>
          </a:p>
        </p:txBody>
      </p:sp>
      <p:sp>
        <p:nvSpPr>
          <p:cNvPr id="29" name="Text 24"/>
          <p:cNvSpPr txBox="1"/>
          <p:nvPr/>
        </p:nvSpPr>
        <p:spPr>
          <a:xfrm>
            <a:off x="8247888" y="2514600"/>
            <a:ext cx="307238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搜索、文件、代码与系统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640080" y="333756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04672" y="350215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2688" y="3621024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417320" y="35021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450" dirty="0"/>
          </a:p>
        </p:txBody>
      </p:sp>
      <p:sp>
        <p:nvSpPr>
          <p:cNvPr id="34" name="Text 28"/>
          <p:cNvSpPr txBox="1"/>
          <p:nvPr/>
        </p:nvSpPr>
        <p:spPr>
          <a:xfrm>
            <a:off x="841248" y="4023360"/>
            <a:ext cx="307238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模板、Skills与检查清单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4343400" y="333756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0D2747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4507992" y="350215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36008" y="3621024"/>
            <a:ext cx="237744" cy="23774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5120640" y="35021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</a:t>
            </a:r>
            <a:endParaRPr lang="en-US" sz="1450" dirty="0"/>
          </a:p>
        </p:txBody>
      </p:sp>
      <p:sp>
        <p:nvSpPr>
          <p:cNvPr id="39" name="Text 32"/>
          <p:cNvSpPr txBox="1"/>
          <p:nvPr/>
        </p:nvSpPr>
        <p:spPr>
          <a:xfrm>
            <a:off x="4544568" y="4023360"/>
            <a:ext cx="307238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保留偏好、决策与状态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8046720" y="333756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8211312" y="350215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39328" y="3621024"/>
            <a:ext cx="237744" cy="237744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8823960" y="35021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</a:t>
            </a:r>
            <a:endParaRPr lang="en-US" sz="1450" dirty="0"/>
          </a:p>
        </p:txBody>
      </p:sp>
      <p:sp>
        <p:nvSpPr>
          <p:cNvPr id="44" name="Text 36"/>
          <p:cNvSpPr txBox="1"/>
          <p:nvPr/>
        </p:nvSpPr>
        <p:spPr>
          <a:xfrm>
            <a:off x="8247888" y="4023360"/>
            <a:ext cx="307238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评估结果、沉淀改进</a:t>
            </a:r>
            <a:endParaRPr lang="en-US" sz="1050" dirty="0"/>
          </a:p>
        </p:txBody>
      </p:sp>
      <p:sp>
        <p:nvSpPr>
          <p:cNvPr id="45" name="Shape 37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2E9BFF"/>
            </a:solidFill>
            <a:prstDash val="solid"/>
          </a:ln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个人AI系统 = 模型 + 上下文 + 工具 + 方法 + 记忆 + 复盘。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BD7D5">
              <a:alpha val="8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BD7D5">
              <a:alpha val="7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BD7D5">
              <a:alpha val="7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BD7D5">
              <a:alpha val="67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BD7D5">
              <a:alpha val="61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BD7D5">
              <a:alpha val="5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BD7D5">
              <a:alpha val="4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BD7D5">
              <a:alpha val="4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2｜团队AI工作流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企业最大的AI机会：复制优秀员工经验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个人高手的方法，只有变成组织资产，才能产生规模价值。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914400" y="315468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0B1E36"/>
          </a:solidFill>
          <a:ln w="12700">
            <a:solidFill>
              <a:srgbClr val="607A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8992" y="331927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607A9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008" y="343814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691640" y="331927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经验停留在人脑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1115568" y="3840480"/>
            <a:ext cx="389534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依赖个人、难传承、离职即流失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3611880"/>
            <a:ext cx="502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6446520" y="3154680"/>
            <a:ext cx="4572000" cy="1417320"/>
          </a:xfrm>
          <a:prstGeom prst="roundRect">
            <a:avLst>
              <a:gd name="adj" fmla="val 5161"/>
            </a:avLst>
          </a:prstGeom>
          <a:solidFill>
            <a:srgbClr val="0D294A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611112" y="331927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9128" y="3438144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223760" y="331927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经验沉淀为AI能力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6647688" y="3840480"/>
            <a:ext cx="416966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 + 模板 + 流程 + 评估，团队随时复用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2BD7D5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AI让“组织学习”第一次可以直接嵌入日常工作。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BD7D5">
              <a:alpha val="8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BD7D5">
              <a:alpha val="7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BD7D5">
              <a:alpha val="7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BD7D5">
              <a:alpha val="67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BD7D5">
              <a:alpha val="61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BD7D5">
              <a:alpha val="5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BD7D5">
              <a:alpha val="4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BD7D5">
              <a:alpha val="4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2｜团队案例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企业知识助手：让组织拥有共同记忆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员工不必知道答案在哪里，只需知道问题是什么。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13232" y="2423160"/>
            <a:ext cx="1987906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06017" y="2633472"/>
            <a:ext cx="402336" cy="40233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86384" y="3145536"/>
            <a:ext cx="1841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员工提问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2673706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2902306" y="2423160"/>
            <a:ext cx="1987906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5090" y="2633472"/>
            <a:ext cx="402336" cy="40233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2975458" y="3145536"/>
            <a:ext cx="1841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理解意图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4862779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19"/>
          <p:cNvSpPr/>
          <p:nvPr/>
        </p:nvSpPr>
        <p:spPr>
          <a:xfrm>
            <a:off x="5091379" y="2423160"/>
            <a:ext cx="1987906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84164" y="2633472"/>
            <a:ext cx="402336" cy="40233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164531" y="3145536"/>
            <a:ext cx="1841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检索企业知识</a:t>
            </a:r>
            <a:endParaRPr lang="en-US" sz="1350" dirty="0"/>
          </a:p>
        </p:txBody>
      </p:sp>
      <p:sp>
        <p:nvSpPr>
          <p:cNvPr id="26" name="Text 21"/>
          <p:cNvSpPr txBox="1"/>
          <p:nvPr/>
        </p:nvSpPr>
        <p:spPr>
          <a:xfrm>
            <a:off x="7051853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2"/>
          <p:cNvSpPr/>
          <p:nvPr/>
        </p:nvSpPr>
        <p:spPr>
          <a:xfrm>
            <a:off x="7280453" y="2423160"/>
            <a:ext cx="1987906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73238" y="2633472"/>
            <a:ext cx="402336" cy="40233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353605" y="3145536"/>
            <a:ext cx="1841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生成并引用来源</a:t>
            </a:r>
            <a:endParaRPr lang="en-US" sz="1350" dirty="0"/>
          </a:p>
        </p:txBody>
      </p:sp>
      <p:sp>
        <p:nvSpPr>
          <p:cNvPr id="30" name="Text 24"/>
          <p:cNvSpPr txBox="1"/>
          <p:nvPr/>
        </p:nvSpPr>
        <p:spPr>
          <a:xfrm>
            <a:off x="9240926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Shape 25"/>
          <p:cNvSpPr/>
          <p:nvPr/>
        </p:nvSpPr>
        <p:spPr>
          <a:xfrm>
            <a:off x="9469526" y="2423160"/>
            <a:ext cx="1987906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FFAA42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62311" y="2633472"/>
            <a:ext cx="402336" cy="40233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542678" y="3145536"/>
            <a:ext cx="1841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必要时转人工</a:t>
            </a:r>
            <a:endParaRPr lang="en-US" sz="1350" dirty="0"/>
          </a:p>
        </p:txBody>
      </p:sp>
      <p:sp>
        <p:nvSpPr>
          <p:cNvPr id="34" name="Shape 27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2BD7D5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知识助手的关键不是“回答得像”，而是答案可追溯、权限可控制、知识可运营。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BD7D5">
              <a:alpha val="8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BD7D5">
              <a:alpha val="7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BD7D5">
              <a:alpha val="7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BD7D5">
              <a:alpha val="67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BD7D5">
              <a:alpha val="61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BD7D5">
              <a:alpha val="5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BD7D5">
              <a:alpha val="4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BD7D5">
              <a:alpha val="4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2｜团队工作流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Prompt 到 Workflow：让AI稳定工作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一次性生成与可重复业务能力的差异。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1783080"/>
            <a:ext cx="49377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1783080"/>
            <a:ext cx="49377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AI重新设计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2148840"/>
            <a:ext cx="5074920" cy="2926080"/>
          </a:xfrm>
          <a:prstGeom prst="roundRect">
            <a:avLst>
              <a:gd name="adj" fmla="val 2500"/>
            </a:avLst>
          </a:prstGeom>
          <a:solidFill>
            <a:srgbClr val="0A1D35"/>
          </a:solidFill>
          <a:ln w="12700">
            <a:solidFill>
              <a:srgbClr val="607A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832" y="23134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607A9A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9848" y="2432304"/>
            <a:ext cx="237744" cy="23774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554480" y="23134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 Prompt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978408" y="2834640"/>
            <a:ext cx="4672584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“帮我写一封销售邮件”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依赖个人提示技巧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输入和质量不稳定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难以团队复用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897880" y="3364992"/>
            <a:ext cx="502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6400800" y="2148840"/>
            <a:ext cx="4983480" cy="2926080"/>
          </a:xfrm>
          <a:prstGeom prst="roundRect">
            <a:avLst>
              <a:gd name="adj" fmla="val 2500"/>
            </a:avLst>
          </a:prstGeom>
          <a:solidFill>
            <a:srgbClr val="0D294A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65392" y="23134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3408" y="2432304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178040" y="23134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Workflow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6601968" y="2834640"/>
            <a:ext cx="4581144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获取客户信息 → 分析机会 → 选择策略 → 生成邮件 → 人工审核 → 更新CRM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2BD7D5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Prompt是个人技巧；Workflow是可复制、可评估、可治理的组织能力。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BD7D5">
              <a:alpha val="8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BD7D5">
              <a:alpha val="7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BD7D5">
              <a:alpha val="7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BD7D5">
              <a:alpha val="67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BD7D5">
              <a:alpha val="61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BD7D5">
              <a:alpha val="5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BD7D5">
              <a:alpha val="4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BD7D5">
              <a:alpha val="4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2｜团队案例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销售机会管理 AI Workflow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把优秀销售的判断过程，嵌入团队日常工作。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13232" y="2423160"/>
            <a:ext cx="1623060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594" y="2633472"/>
            <a:ext cx="402336" cy="40233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86384" y="3145536"/>
            <a:ext cx="14767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线索进入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2308860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2537460" y="2423160"/>
            <a:ext cx="1623060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47822" y="2633472"/>
            <a:ext cx="402336" cy="40233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2610612" y="3145536"/>
            <a:ext cx="14767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AI分析客户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4133088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19"/>
          <p:cNvSpPr/>
          <p:nvPr/>
        </p:nvSpPr>
        <p:spPr>
          <a:xfrm>
            <a:off x="4361688" y="2423160"/>
            <a:ext cx="1623060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72050" y="2633472"/>
            <a:ext cx="402336" cy="40233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4434840" y="3145536"/>
            <a:ext cx="14767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机会评分</a:t>
            </a:r>
            <a:endParaRPr lang="en-US" sz="1350" dirty="0"/>
          </a:p>
        </p:txBody>
      </p:sp>
      <p:sp>
        <p:nvSpPr>
          <p:cNvPr id="26" name="Text 21"/>
          <p:cNvSpPr txBox="1"/>
          <p:nvPr/>
        </p:nvSpPr>
        <p:spPr>
          <a:xfrm>
            <a:off x="5957316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2"/>
          <p:cNvSpPr/>
          <p:nvPr/>
        </p:nvSpPr>
        <p:spPr>
          <a:xfrm>
            <a:off x="6185916" y="2423160"/>
            <a:ext cx="1623060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6278" y="2633472"/>
            <a:ext cx="402336" cy="40233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259068" y="3145536"/>
            <a:ext cx="14767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推荐策略</a:t>
            </a:r>
            <a:endParaRPr lang="en-US" sz="1350" dirty="0"/>
          </a:p>
        </p:txBody>
      </p:sp>
      <p:sp>
        <p:nvSpPr>
          <p:cNvPr id="30" name="Text 24"/>
          <p:cNvSpPr txBox="1"/>
          <p:nvPr/>
        </p:nvSpPr>
        <p:spPr>
          <a:xfrm>
            <a:off x="7781544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Shape 25"/>
          <p:cNvSpPr/>
          <p:nvPr/>
        </p:nvSpPr>
        <p:spPr>
          <a:xfrm>
            <a:off x="8010144" y="2423160"/>
            <a:ext cx="1623060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FFAA42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20506" y="2633472"/>
            <a:ext cx="402336" cy="40233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083296" y="3145536"/>
            <a:ext cx="14767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销售确认</a:t>
            </a:r>
            <a:endParaRPr lang="en-US" sz="1350" dirty="0"/>
          </a:p>
        </p:txBody>
      </p:sp>
      <p:sp>
        <p:nvSpPr>
          <p:cNvPr id="34" name="Text 27"/>
          <p:cNvSpPr txBox="1"/>
          <p:nvPr/>
        </p:nvSpPr>
        <p:spPr>
          <a:xfrm>
            <a:off x="9605772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35" name="Shape 28"/>
          <p:cNvSpPr/>
          <p:nvPr/>
        </p:nvSpPr>
        <p:spPr>
          <a:xfrm>
            <a:off x="9834372" y="2423160"/>
            <a:ext cx="1623060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444734" y="2633472"/>
            <a:ext cx="402336" cy="402336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907524" y="3145536"/>
            <a:ext cx="14767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 CRM</a:t>
            </a:r>
            <a:endParaRPr lang="en-US" sz="1350" dirty="0"/>
          </a:p>
        </p:txBody>
      </p:sp>
      <p:sp>
        <p:nvSpPr>
          <p:cNvPr id="38" name="Shape 30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2BD7D5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AI统一信息准备与分析，销售把时间投入客户关系和成交判断。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BD7D5">
              <a:alpha val="8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BD7D5">
              <a:alpha val="7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BD7D5">
              <a:alpha val="7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BD7D5">
              <a:alpha val="67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BD7D5">
              <a:alpha val="61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BD7D5">
              <a:alpha val="5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BD7D5">
              <a:alpha val="4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BD7D5">
              <a:alpha val="4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2｜团队案例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 AI 协作流程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AI让新人更快接近高手水平，但复杂关系仍由人处理。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13232" y="2423160"/>
            <a:ext cx="1623060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594" y="2633472"/>
            <a:ext cx="402336" cy="40233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86384" y="3145536"/>
            <a:ext cx="14767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客户问题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2308860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2537460" y="2423160"/>
            <a:ext cx="1623060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47822" y="2633472"/>
            <a:ext cx="402336" cy="40233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2610612" y="3145536"/>
            <a:ext cx="14767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AI理解意图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4133088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19"/>
          <p:cNvSpPr/>
          <p:nvPr/>
        </p:nvSpPr>
        <p:spPr>
          <a:xfrm>
            <a:off x="4361688" y="2423160"/>
            <a:ext cx="1623060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72050" y="2633472"/>
            <a:ext cx="402336" cy="40233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4434840" y="3145536"/>
            <a:ext cx="14767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检索知识</a:t>
            </a:r>
            <a:endParaRPr lang="en-US" sz="1350" dirty="0"/>
          </a:p>
        </p:txBody>
      </p:sp>
      <p:sp>
        <p:nvSpPr>
          <p:cNvPr id="26" name="Text 21"/>
          <p:cNvSpPr txBox="1"/>
          <p:nvPr/>
        </p:nvSpPr>
        <p:spPr>
          <a:xfrm>
            <a:off x="5957316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2"/>
          <p:cNvSpPr/>
          <p:nvPr/>
        </p:nvSpPr>
        <p:spPr>
          <a:xfrm>
            <a:off x="6185916" y="2423160"/>
            <a:ext cx="1623060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6278" y="2633472"/>
            <a:ext cx="402336" cy="40233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259068" y="3145536"/>
            <a:ext cx="14767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推荐回复</a:t>
            </a:r>
            <a:endParaRPr lang="en-US" sz="1350" dirty="0"/>
          </a:p>
        </p:txBody>
      </p:sp>
      <p:sp>
        <p:nvSpPr>
          <p:cNvPr id="30" name="Text 24"/>
          <p:cNvSpPr txBox="1"/>
          <p:nvPr/>
        </p:nvSpPr>
        <p:spPr>
          <a:xfrm>
            <a:off x="7781544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Shape 25"/>
          <p:cNvSpPr/>
          <p:nvPr/>
        </p:nvSpPr>
        <p:spPr>
          <a:xfrm>
            <a:off x="8010144" y="2423160"/>
            <a:ext cx="1623060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FFAA42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20506" y="2633472"/>
            <a:ext cx="402336" cy="40233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083296" y="3145536"/>
            <a:ext cx="14767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客服确认</a:t>
            </a:r>
            <a:endParaRPr lang="en-US" sz="1350" dirty="0"/>
          </a:p>
        </p:txBody>
      </p:sp>
      <p:sp>
        <p:nvSpPr>
          <p:cNvPr id="34" name="Text 27"/>
          <p:cNvSpPr txBox="1"/>
          <p:nvPr/>
        </p:nvSpPr>
        <p:spPr>
          <a:xfrm>
            <a:off x="9605772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35" name="Shape 28"/>
          <p:cNvSpPr/>
          <p:nvPr/>
        </p:nvSpPr>
        <p:spPr>
          <a:xfrm>
            <a:off x="9834372" y="2423160"/>
            <a:ext cx="1623060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444734" y="2633472"/>
            <a:ext cx="402336" cy="402336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907524" y="3145536"/>
            <a:ext cx="14767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知识回流</a:t>
            </a:r>
            <a:endParaRPr lang="en-US" sz="1350" dirty="0"/>
          </a:p>
        </p:txBody>
      </p:sp>
      <p:sp>
        <p:nvSpPr>
          <p:cNvPr id="38" name="Shape 30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2BD7D5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真正的闭环还包括：低质量答案被发现、修正并回流知识库。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BD7D5">
              <a:alpha val="8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BD7D5">
              <a:alpha val="7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BD7D5">
              <a:alpha val="7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BD7D5">
              <a:alpha val="67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BD7D5">
              <a:alpha val="61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BD7D5">
              <a:alpha val="5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BD7D5">
              <a:alpha val="4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BD7D5">
              <a:alpha val="4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2｜团队案例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内容生产流水线：从个体创作到团队运营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适用于市场、品牌、培训和销售赋能。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13232" y="2423160"/>
            <a:ext cx="1623060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594" y="2633472"/>
            <a:ext cx="402336" cy="40233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86384" y="3145536"/>
            <a:ext cx="14767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选题与目标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2308860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2537460" y="2423160"/>
            <a:ext cx="1623060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47822" y="2633472"/>
            <a:ext cx="402336" cy="40233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2610612" y="3145536"/>
            <a:ext cx="14767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研究素材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4133088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19"/>
          <p:cNvSpPr/>
          <p:nvPr/>
        </p:nvSpPr>
        <p:spPr>
          <a:xfrm>
            <a:off x="4361688" y="2423160"/>
            <a:ext cx="1623060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72050" y="2633472"/>
            <a:ext cx="402336" cy="40233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4434840" y="3145536"/>
            <a:ext cx="14767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生成初稿</a:t>
            </a:r>
            <a:endParaRPr lang="en-US" sz="1350" dirty="0"/>
          </a:p>
        </p:txBody>
      </p:sp>
      <p:sp>
        <p:nvSpPr>
          <p:cNvPr id="26" name="Text 21"/>
          <p:cNvSpPr txBox="1"/>
          <p:nvPr/>
        </p:nvSpPr>
        <p:spPr>
          <a:xfrm>
            <a:off x="5957316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2"/>
          <p:cNvSpPr/>
          <p:nvPr/>
        </p:nvSpPr>
        <p:spPr>
          <a:xfrm>
            <a:off x="6185916" y="2423160"/>
            <a:ext cx="1623060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FFAA42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6278" y="2633472"/>
            <a:ext cx="402336" cy="40233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259068" y="3145536"/>
            <a:ext cx="14767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品牌审校</a:t>
            </a:r>
            <a:endParaRPr lang="en-US" sz="1350" dirty="0"/>
          </a:p>
        </p:txBody>
      </p:sp>
      <p:sp>
        <p:nvSpPr>
          <p:cNvPr id="30" name="Text 24"/>
          <p:cNvSpPr txBox="1"/>
          <p:nvPr/>
        </p:nvSpPr>
        <p:spPr>
          <a:xfrm>
            <a:off x="7781544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Shape 25"/>
          <p:cNvSpPr/>
          <p:nvPr/>
        </p:nvSpPr>
        <p:spPr>
          <a:xfrm>
            <a:off x="8010144" y="2423160"/>
            <a:ext cx="1623060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20506" y="2633472"/>
            <a:ext cx="402336" cy="40233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083296" y="3145536"/>
            <a:ext cx="14767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多渠道适配</a:t>
            </a:r>
            <a:endParaRPr lang="en-US" sz="1350" dirty="0"/>
          </a:p>
        </p:txBody>
      </p:sp>
      <p:sp>
        <p:nvSpPr>
          <p:cNvPr id="34" name="Text 27"/>
          <p:cNvSpPr txBox="1"/>
          <p:nvPr/>
        </p:nvSpPr>
        <p:spPr>
          <a:xfrm>
            <a:off x="9605772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35" name="Shape 28"/>
          <p:cNvSpPr/>
          <p:nvPr/>
        </p:nvSpPr>
        <p:spPr>
          <a:xfrm>
            <a:off x="9834372" y="2423160"/>
            <a:ext cx="1623060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444734" y="2633472"/>
            <a:ext cx="402336" cy="402336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907524" y="3145536"/>
            <a:ext cx="14767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效果复盘</a:t>
            </a:r>
            <a:endParaRPr lang="en-US" sz="1350" dirty="0"/>
          </a:p>
        </p:txBody>
      </p:sp>
      <p:sp>
        <p:nvSpPr>
          <p:cNvPr id="38" name="Shape 30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2BD7D5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AI把内容生产从“单点创作”升级为可治理、可复用、可持续优化的供应链。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BD7D5">
              <a:alpha val="8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BD7D5">
              <a:alpha val="7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BD7D5">
              <a:alpha val="7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BD7D5">
              <a:alpha val="67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BD7D5">
              <a:alpha val="61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BD7D5">
              <a:alpha val="5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BD7D5">
              <a:alpha val="4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BD7D5">
              <a:alpha val="4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2｜团队成熟度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从个人使用，到流程嵌入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组织价值来自共享、标准化和持续运营。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446227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482803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个人尝试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5376672"/>
            <a:ext cx="1627632" cy="-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零散使用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71800" y="3721608"/>
            <a:ext cx="1965960" cy="1353312"/>
          </a:xfrm>
          <a:prstGeom prst="roundRect">
            <a:avLst>
              <a:gd name="adj" fmla="val 5405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36392" y="38862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136392" y="425196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团队共享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136392" y="4800600"/>
            <a:ext cx="16276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模板与知识库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12080" y="3145536"/>
            <a:ext cx="1965960" cy="1929384"/>
          </a:xfrm>
          <a:prstGeom prst="roundRect">
            <a:avLst>
              <a:gd name="adj" fmla="val 3791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76672" y="33101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376672" y="367588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流程嵌入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376672" y="422452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Workflow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52360" y="2569464"/>
            <a:ext cx="1965960" cy="2505456"/>
          </a:xfrm>
          <a:prstGeom prst="roundRect">
            <a:avLst>
              <a:gd name="adj" fmla="val 372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16952" y="273405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616952" y="3099816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持续运营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616952" y="3648456"/>
            <a:ext cx="162763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评估、治理、迭代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2BD7D5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团队AI不是“大家都装一个工具”，而是形成共同的做事方法。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8C6CFF">
              <a:alpha val="8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8C6CFF">
              <a:alpha val="7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8C6CFF">
              <a:alpha val="7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8C6CFF">
              <a:alpha val="67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8C6CFF">
              <a:alpha val="61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8C6CFF">
              <a:alpha val="5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8C6CFF">
              <a:alpha val="4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8C6CFF">
              <a:alpha val="4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2｜AI Agent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为什么企业需要 Agent？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很多业务问题不是“不会回答”，而是“需要持续完成”。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914400" y="315468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0B1E36"/>
          </a:solidFill>
          <a:ln w="12700">
            <a:solidFill>
              <a:srgbClr val="607A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8992" y="331927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607A9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008" y="343814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691640" y="331927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Chatbot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1115568" y="3840480"/>
            <a:ext cx="389534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用户提问 → AI回答 → 任务结束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3611880"/>
            <a:ext cx="502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6446520" y="3154680"/>
            <a:ext cx="4572000" cy="1417320"/>
          </a:xfrm>
          <a:prstGeom prst="roundRect">
            <a:avLst>
              <a:gd name="adj" fmla="val 5161"/>
            </a:avLst>
          </a:prstGeom>
          <a:solidFill>
            <a:srgbClr val="0D294A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611112" y="331927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9128" y="3438144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223760" y="331927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6647688" y="3840480"/>
            <a:ext cx="416966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业务目标 → 持续观察 → 主动行动 → 反馈调整 → 完成任务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8C6CFF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Chatbot回答问题，Agent完成任务。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8C6CFF">
              <a:alpha val="8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8C6CFF">
              <a:alpha val="7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8C6CFF">
              <a:alpha val="7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8C6CFF">
              <a:alpha val="67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8C6CFF">
              <a:alpha val="61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8C6CFF">
              <a:alpha val="5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8C6CFF">
              <a:alpha val="4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8C6CFF">
              <a:alpha val="4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2｜AI Agent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Agent 是什么？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围绕业务目标运行的新型工作单元。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192024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20848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408" y="220370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63040" y="208483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886968" y="2606040"/>
            <a:ext cx="170078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清晰任务与成功标准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971800" y="192024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136392" y="20848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4408" y="220370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3749040" y="208483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</a:t>
            </a:r>
            <a:endParaRPr lang="en-US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3172968" y="2606040"/>
            <a:ext cx="170078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事实、制度与上下文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257800" y="192024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422392" y="20848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0408" y="220370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035040" y="208483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450" dirty="0"/>
          </a:p>
        </p:txBody>
      </p:sp>
      <p:sp>
        <p:nvSpPr>
          <p:cNvPr id="29" name="Text 24"/>
          <p:cNvSpPr txBox="1"/>
          <p:nvPr/>
        </p:nvSpPr>
        <p:spPr>
          <a:xfrm>
            <a:off x="5458968" y="2606040"/>
            <a:ext cx="170078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系统连接与执行动作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7543800" y="192024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708392" y="20848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36408" y="2203704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321040" y="208483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</a:t>
            </a:r>
            <a:endParaRPr lang="en-US" sz="1450" dirty="0"/>
          </a:p>
        </p:txBody>
      </p:sp>
      <p:sp>
        <p:nvSpPr>
          <p:cNvPr id="34" name="Text 28"/>
          <p:cNvSpPr txBox="1"/>
          <p:nvPr/>
        </p:nvSpPr>
        <p:spPr>
          <a:xfrm>
            <a:off x="7744968" y="2606040"/>
            <a:ext cx="170078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状态、历史与偏好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9829800" y="192024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9994392" y="20848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22408" y="2203704"/>
            <a:ext cx="237744" cy="23774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0607040" y="20848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</a:t>
            </a:r>
            <a:endParaRPr lang="en-US" sz="1350" dirty="0"/>
          </a:p>
        </p:txBody>
      </p:sp>
      <p:sp>
        <p:nvSpPr>
          <p:cNvPr id="39" name="Text 32"/>
          <p:cNvSpPr txBox="1"/>
          <p:nvPr/>
        </p:nvSpPr>
        <p:spPr>
          <a:xfrm>
            <a:off x="10030968" y="2606040"/>
            <a:ext cx="128930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权限与人工确认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3017520" y="3794760"/>
            <a:ext cx="6172200" cy="1097280"/>
          </a:xfrm>
          <a:prstGeom prst="roundRect">
            <a:avLst>
              <a:gd name="adj" fmla="val 6667"/>
            </a:avLst>
          </a:prstGeom>
          <a:solidFill>
            <a:srgbClr val="171E42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3182112" y="395935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10128" y="4078224"/>
            <a:ext cx="237744" cy="237744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3794760" y="395935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Loop</a:t>
            </a:r>
            <a:endParaRPr lang="en-US" sz="1600" dirty="0"/>
          </a:p>
        </p:txBody>
      </p:sp>
      <p:sp>
        <p:nvSpPr>
          <p:cNvPr id="44" name="Text 36"/>
          <p:cNvSpPr txBox="1"/>
          <p:nvPr/>
        </p:nvSpPr>
        <p:spPr>
          <a:xfrm>
            <a:off x="3218688" y="4480560"/>
            <a:ext cx="57698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理解目标 → 规划 → 调用工具 → 观察 → 检查 → 继续 / 求助 / 结束</a:t>
            </a:r>
            <a:endParaRPr lang="en-US" sz="1200" dirty="0"/>
          </a:p>
        </p:txBody>
      </p:sp>
      <p:sp>
        <p:nvSpPr>
          <p:cNvPr id="45" name="Shape 37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8C6CFF"/>
            </a:solidFill>
            <a:prstDash val="solid"/>
          </a:ln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Agent不是单一模型，而是模型、知识、工具、状态、流程和控制的组合。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8C6CFF">
              <a:alpha val="8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8C6CFF">
              <a:alpha val="7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8C6CFF">
              <a:alpha val="7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8C6CFF">
              <a:alpha val="67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8C6CFF">
              <a:alpha val="61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8C6CFF">
              <a:alpha val="5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8C6CFF">
              <a:alpha val="4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8C6CFF">
              <a:alpha val="4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2｜场景判断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什么任务适合交给 Agent？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Agent不是越多越好，首先要判断任务是否适合。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187452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408" y="215798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63040" y="203911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高频且持续</a:t>
            </a:r>
            <a:endParaRPr lang="en-US" sz="1620" dirty="0"/>
          </a:p>
        </p:txBody>
      </p:sp>
      <p:sp>
        <p:nvSpPr>
          <p:cNvPr id="19" name="Text 16"/>
          <p:cNvSpPr txBox="1"/>
          <p:nvPr/>
        </p:nvSpPr>
        <p:spPr>
          <a:xfrm>
            <a:off x="886968" y="256032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经常发生，需要持续监控和跟进。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217920" y="187452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8251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0528" y="215798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995160" y="203911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信息密集</a:t>
            </a:r>
            <a:endParaRPr lang="en-US" sz="1620" dirty="0"/>
          </a:p>
        </p:txBody>
      </p:sp>
      <p:sp>
        <p:nvSpPr>
          <p:cNvPr id="24" name="Text 20"/>
          <p:cNvSpPr txBox="1"/>
          <p:nvPr/>
        </p:nvSpPr>
        <p:spPr>
          <a:xfrm>
            <a:off x="6419088" y="256032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需要读取多来源资料并综合判断。</a:t>
            </a:r>
            <a:endParaRPr lang="en-US" sz="1080" dirty="0"/>
          </a:p>
        </p:txBody>
      </p:sp>
      <p:sp>
        <p:nvSpPr>
          <p:cNvPr id="25" name="Shape 21"/>
          <p:cNvSpPr/>
          <p:nvPr/>
        </p:nvSpPr>
        <p:spPr>
          <a:xfrm>
            <a:off x="685800" y="374904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50392" y="39136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8408" y="403250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463040" y="39136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规则与经验存在</a:t>
            </a:r>
            <a:endParaRPr lang="en-US" sz="1620" dirty="0"/>
          </a:p>
        </p:txBody>
      </p:sp>
      <p:sp>
        <p:nvSpPr>
          <p:cNvPr id="29" name="Text 24"/>
          <p:cNvSpPr txBox="1"/>
          <p:nvPr/>
        </p:nvSpPr>
        <p:spPr>
          <a:xfrm>
            <a:off x="886968" y="443484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有SOP、惯例或可学习的判断模式。</a:t>
            </a:r>
            <a:endParaRPr lang="en-US" sz="1080" dirty="0"/>
          </a:p>
        </p:txBody>
      </p:sp>
      <p:sp>
        <p:nvSpPr>
          <p:cNvPr id="30" name="Shape 25"/>
          <p:cNvSpPr/>
          <p:nvPr/>
        </p:nvSpPr>
        <p:spPr>
          <a:xfrm>
            <a:off x="6217920" y="374904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382512" y="39136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0528" y="4032504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995160" y="39136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结果可验证</a:t>
            </a:r>
            <a:endParaRPr lang="en-US" sz="1620" dirty="0"/>
          </a:p>
        </p:txBody>
      </p:sp>
      <p:sp>
        <p:nvSpPr>
          <p:cNvPr id="34" name="Text 28"/>
          <p:cNvSpPr txBox="1"/>
          <p:nvPr/>
        </p:nvSpPr>
        <p:spPr>
          <a:xfrm>
            <a:off x="6419088" y="443484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有明确成功标准，可检查、可纠偏。</a:t>
            </a:r>
            <a:endParaRPr lang="en-US" sz="1080" dirty="0"/>
          </a:p>
        </p:txBody>
      </p:sp>
      <p:sp>
        <p:nvSpPr>
          <p:cNvPr id="35" name="Shape 2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8C6CFF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战略价值判断、高风险最终审批和复杂关系处理，不应直接交给Agent独立完成。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8C6CFF">
              <a:alpha val="8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8C6CFF">
              <a:alpha val="7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8C6CFF">
              <a:alpha val="7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8C6CFF">
              <a:alpha val="67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8C6CFF">
              <a:alpha val="61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8C6CFF">
              <a:alpha val="5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8C6CFF">
              <a:alpha val="4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8C6CFF">
              <a:alpha val="4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2｜主案例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重点客户订单延期风险：传统工作为什么失效？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B2B企业的客户风险管理。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示意案例｜用于培训讨论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1874520"/>
            <a:ext cx="3246120" cy="3337560"/>
          </a:xfrm>
          <a:prstGeom prst="roundRect">
            <a:avLst>
              <a:gd name="adj" fmla="val 2254"/>
            </a:avLst>
          </a:prstGeom>
          <a:solidFill>
            <a:srgbClr val="2B221C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688" y="215798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17320" y="20391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当前业务问题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2560320"/>
            <a:ext cx="2843784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CRM、订单、邮件和服务记录分散；销售每周人工检查；发现延期时往往已经太晚。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096512" y="1874520"/>
            <a:ext cx="3886200" cy="3337560"/>
          </a:xfrm>
          <a:prstGeom prst="roundRect">
            <a:avLst>
              <a:gd name="adj" fmla="val 2192"/>
            </a:avLst>
          </a:prstGeom>
          <a:solidFill>
            <a:srgbClr val="0B2A48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61104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9120" y="215798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873752" y="20391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AI重新设计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4297680" y="2560320"/>
            <a:ext cx="3483864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由Agent每日监控多系统数据，识别风险信号，汇总证据并生成处置建议。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183880" y="187452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0B2C35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34847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76488" y="215798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961120" y="20391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</a:t>
            </a:r>
            <a:endParaRPr lang="en-US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8385048" y="2560320"/>
            <a:ext cx="2980944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风险更早暴露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信息准备更完整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缩短响应时间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8183880" y="4041648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1A2045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348472" y="4206240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76488" y="4325112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961120" y="42062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人机分工</a:t>
            </a:r>
            <a:endParaRPr lang="en-US" sz="1450" dirty="0"/>
          </a:p>
        </p:txBody>
      </p:sp>
      <p:sp>
        <p:nvSpPr>
          <p:cNvPr id="34" name="Text 28"/>
          <p:cNvSpPr txBox="1"/>
          <p:nvPr/>
        </p:nvSpPr>
        <p:spPr>
          <a:xfrm>
            <a:off x="8385048" y="4727448"/>
            <a:ext cx="298094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AI负责发现与准备；销售负责人决定策略并维护客户关系。</a:t>
            </a:r>
            <a:endParaRPr lang="en-US" sz="980" dirty="0"/>
          </a:p>
        </p:txBody>
      </p:sp>
      <p:sp>
        <p:nvSpPr>
          <p:cNvPr id="35" name="Shape 2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8C6CFF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案例不是复制答案，而是帮助学员看见：同一项工作可以被重新设计。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8C6CFF">
              <a:alpha val="8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8C6CFF">
              <a:alpha val="7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8C6CFF">
              <a:alpha val="7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8C6CFF">
              <a:alpha val="67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8C6CFF">
              <a:alpha val="61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8C6CFF">
              <a:alpha val="5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8C6CFF">
              <a:alpha val="4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8C6CFF">
              <a:alpha val="4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2｜主案例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客户风险 Agent：如何持续工作？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同一个业务问题，展示Agent的完整执行循环。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13232" y="2423160"/>
            <a:ext cx="1623060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594" y="2633472"/>
            <a:ext cx="402336" cy="40233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86384" y="3145536"/>
            <a:ext cx="14767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定时启动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2308860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2537460" y="2423160"/>
            <a:ext cx="1623060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47822" y="2633472"/>
            <a:ext cx="402336" cy="40233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2610612" y="3145536"/>
            <a:ext cx="14767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读取多系统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4133088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19"/>
          <p:cNvSpPr/>
          <p:nvPr/>
        </p:nvSpPr>
        <p:spPr>
          <a:xfrm>
            <a:off x="4361688" y="2423160"/>
            <a:ext cx="1623060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FFAA42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72050" y="2633472"/>
            <a:ext cx="402336" cy="40233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4434840" y="3145536"/>
            <a:ext cx="14767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识别风险信号</a:t>
            </a:r>
            <a:endParaRPr lang="en-US" sz="1350" dirty="0"/>
          </a:p>
        </p:txBody>
      </p:sp>
      <p:sp>
        <p:nvSpPr>
          <p:cNvPr id="26" name="Text 21"/>
          <p:cNvSpPr txBox="1"/>
          <p:nvPr/>
        </p:nvSpPr>
        <p:spPr>
          <a:xfrm>
            <a:off x="5957316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2"/>
          <p:cNvSpPr/>
          <p:nvPr/>
        </p:nvSpPr>
        <p:spPr>
          <a:xfrm>
            <a:off x="6185916" y="2423160"/>
            <a:ext cx="1623060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6278" y="2633472"/>
            <a:ext cx="402336" cy="40233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259068" y="3145536"/>
            <a:ext cx="14767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评估影响</a:t>
            </a:r>
            <a:endParaRPr lang="en-US" sz="1350" dirty="0"/>
          </a:p>
        </p:txBody>
      </p:sp>
      <p:sp>
        <p:nvSpPr>
          <p:cNvPr id="30" name="Text 24"/>
          <p:cNvSpPr txBox="1"/>
          <p:nvPr/>
        </p:nvSpPr>
        <p:spPr>
          <a:xfrm>
            <a:off x="7781544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Shape 25"/>
          <p:cNvSpPr/>
          <p:nvPr/>
        </p:nvSpPr>
        <p:spPr>
          <a:xfrm>
            <a:off x="8010144" y="2423160"/>
            <a:ext cx="1623060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20506" y="2633472"/>
            <a:ext cx="402336" cy="40233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083296" y="3145536"/>
            <a:ext cx="14767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请求负责人确认</a:t>
            </a:r>
            <a:endParaRPr lang="en-US" sz="1350" dirty="0"/>
          </a:p>
        </p:txBody>
      </p:sp>
      <p:sp>
        <p:nvSpPr>
          <p:cNvPr id="34" name="Text 27"/>
          <p:cNvSpPr txBox="1"/>
          <p:nvPr/>
        </p:nvSpPr>
        <p:spPr>
          <a:xfrm>
            <a:off x="9605772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35" name="Shape 28"/>
          <p:cNvSpPr/>
          <p:nvPr/>
        </p:nvSpPr>
        <p:spPr>
          <a:xfrm>
            <a:off x="9834372" y="2423160"/>
            <a:ext cx="1623060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444734" y="2633472"/>
            <a:ext cx="402336" cy="402336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907524" y="3145536"/>
            <a:ext cx="14767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更新并持续跟进</a:t>
            </a:r>
            <a:endParaRPr lang="en-US" sz="1350" dirty="0"/>
          </a:p>
        </p:txBody>
      </p:sp>
      <p:sp>
        <p:nvSpPr>
          <p:cNvPr id="38" name="Shape 30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8C6CFF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结果不只是报告，而是状态变化、执行证据和可追踪的后续行动。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8C6CFF">
              <a:alpha val="8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8C6CFF">
              <a:alpha val="7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8C6CFF">
              <a:alpha val="7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8C6CFF">
              <a:alpha val="67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8C6CFF">
              <a:alpha val="61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8C6CFF">
              <a:alpha val="5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8C6CFF">
              <a:alpha val="4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8C6CFF">
              <a:alpha val="4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2｜主案例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客户风险处置中的人机分工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AI负责“感知与准备”，人负责“判断与关系”。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1783080"/>
            <a:ext cx="49377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1783080"/>
            <a:ext cx="49377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AI重新设计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2148840"/>
            <a:ext cx="5074920" cy="2926080"/>
          </a:xfrm>
          <a:prstGeom prst="roundRect">
            <a:avLst>
              <a:gd name="adj" fmla="val 2500"/>
            </a:avLst>
          </a:prstGeom>
          <a:solidFill>
            <a:srgbClr val="0A1D35"/>
          </a:solidFill>
          <a:ln w="12700">
            <a:solidFill>
              <a:srgbClr val="607A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832" y="23134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607A9A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9848" y="2432304"/>
            <a:ext cx="237744" cy="23774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554480" y="23134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AI负责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978408" y="2834640"/>
            <a:ext cx="4672584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扫描数据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发现异常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汇总证据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生成选项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提醒跟踪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897880" y="3364992"/>
            <a:ext cx="502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6400800" y="2148840"/>
            <a:ext cx="4983480" cy="2926080"/>
          </a:xfrm>
          <a:prstGeom prst="roundRect">
            <a:avLst>
              <a:gd name="adj" fmla="val 2500"/>
            </a:avLst>
          </a:prstGeom>
          <a:solidFill>
            <a:srgbClr val="0D294A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65392" y="23134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3408" y="2432304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178040" y="23134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人负责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6601968" y="2834640"/>
            <a:ext cx="4581144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判断真实影响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选择沟通策略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协调资源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处理例外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承担责任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8C6CFF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AI把人从信息搬运中释放出来，但不会替代商业判断和客户关系。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8C6CFF">
              <a:alpha val="8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8C6CFF">
              <a:alpha val="7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8C6CFF">
              <a:alpha val="7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8C6CFF">
              <a:alpha val="67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8C6CFF">
              <a:alpha val="61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8C6CFF">
              <a:alpha val="5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8C6CFF">
              <a:alpha val="4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8C6CFF">
              <a:alpha val="4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2｜Agent案例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 Agent：从被动响应到主动准备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制造或零售企业的补货与采购。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示意案例｜用于培训讨论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1874520"/>
            <a:ext cx="3246120" cy="3337560"/>
          </a:xfrm>
          <a:prstGeom prst="roundRect">
            <a:avLst>
              <a:gd name="adj" fmla="val 2254"/>
            </a:avLst>
          </a:prstGeom>
          <a:solidFill>
            <a:srgbClr val="2B221C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688" y="215798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17320" y="20391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当前业务问题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2560320"/>
            <a:ext cx="2843784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库存变化快、供应商信息分散；采购人员持续拉表、比价和追踪。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096512" y="1874520"/>
            <a:ext cx="3886200" cy="3337560"/>
          </a:xfrm>
          <a:prstGeom prst="roundRect">
            <a:avLst>
              <a:gd name="adj" fmla="val 2192"/>
            </a:avLst>
          </a:prstGeom>
          <a:solidFill>
            <a:srgbClr val="0B2A48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61104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9120" y="215798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873752" y="20391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AI重新设计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4297680" y="2560320"/>
            <a:ext cx="3483864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监测库存与需求 → 分析供应风险 → 比较供应商 → 生成采购建议 → 提交审批。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183880" y="187452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0B2C35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34847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76488" y="215798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961120" y="20391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</a:t>
            </a:r>
            <a:endParaRPr lang="en-US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8385048" y="2560320"/>
            <a:ext cx="2980944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降低缺货与积压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提升采购响应速度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减少重复分析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8183880" y="4041648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1A2045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348472" y="4206240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76488" y="4325112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961120" y="42062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人机分工</a:t>
            </a:r>
            <a:endParaRPr lang="en-US" sz="1450" dirty="0"/>
          </a:p>
        </p:txBody>
      </p:sp>
      <p:sp>
        <p:nvSpPr>
          <p:cNvPr id="34" name="Text 28"/>
          <p:cNvSpPr txBox="1"/>
          <p:nvPr/>
        </p:nvSpPr>
        <p:spPr>
          <a:xfrm>
            <a:off x="8385048" y="4727448"/>
            <a:ext cx="298094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AI生成建议与准备订单；采购负责人审核商业条件并批准。</a:t>
            </a:r>
            <a:endParaRPr lang="en-US" sz="980" dirty="0"/>
          </a:p>
        </p:txBody>
      </p:sp>
      <p:sp>
        <p:nvSpPr>
          <p:cNvPr id="35" name="Shape 2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8C6CFF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案例不是复制答案，而是帮助学员看见：同一项工作可以被重新设计。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8C6CFF">
              <a:alpha val="8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8C6CFF">
              <a:alpha val="7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8C6CFF">
              <a:alpha val="7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8C6CFF">
              <a:alpha val="67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8C6CFF">
              <a:alpha val="61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8C6CFF">
              <a:alpha val="5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8C6CFF">
              <a:alpha val="4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8C6CFF">
              <a:alpha val="4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2｜Agent案例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经营分析 Agent：从月报到持续洞察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财务与经营管理。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示意案例｜用于培训讨论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1874520"/>
            <a:ext cx="3246120" cy="3337560"/>
          </a:xfrm>
          <a:prstGeom prst="roundRect">
            <a:avLst>
              <a:gd name="adj" fmla="val 2254"/>
            </a:avLst>
          </a:prstGeom>
          <a:solidFill>
            <a:srgbClr val="2B221C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688" y="215798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17320" y="20391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当前业务问题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2560320"/>
            <a:ext cx="2843784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月底集中拉数和解释；发现问题晚；分析口径依赖个人。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096512" y="1874520"/>
            <a:ext cx="3886200" cy="3337560"/>
          </a:xfrm>
          <a:prstGeom prst="roundRect">
            <a:avLst>
              <a:gd name="adj" fmla="val 2192"/>
            </a:avLst>
          </a:prstGeom>
          <a:solidFill>
            <a:srgbClr val="0B2A48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61104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9120" y="215798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873752" y="20391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AI重新设计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4297680" y="2560320"/>
            <a:ext cx="3483864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持续读取经营数据 → 识别异常 → 形成原因假设 → 生成验证清单和管理摘要。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183880" y="187452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0B2C35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34847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76488" y="215798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961120" y="20391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</a:t>
            </a:r>
            <a:endParaRPr lang="en-US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8385048" y="2560320"/>
            <a:ext cx="2980944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更早发现异常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缩短报告周期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提高管理响应速度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8183880" y="4041648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1A2045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348472" y="4206240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76488" y="4325112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961120" y="42062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人机分工</a:t>
            </a:r>
            <a:endParaRPr lang="en-US" sz="1450" dirty="0"/>
          </a:p>
        </p:txBody>
      </p:sp>
      <p:sp>
        <p:nvSpPr>
          <p:cNvPr id="34" name="Text 28"/>
          <p:cNvSpPr txBox="1"/>
          <p:nvPr/>
        </p:nvSpPr>
        <p:spPr>
          <a:xfrm>
            <a:off x="8385048" y="4727448"/>
            <a:ext cx="298094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AI发现模式与准备报告；管理层验证原因并做资源决策。</a:t>
            </a:r>
            <a:endParaRPr lang="en-US" sz="980" dirty="0"/>
          </a:p>
        </p:txBody>
      </p:sp>
      <p:sp>
        <p:nvSpPr>
          <p:cNvPr id="35" name="Shape 2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8C6CFF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案例不是复制答案，而是帮助学员看见：同一项工作可以被重新设计。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8C6CFF">
              <a:alpha val="8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8C6CFF">
              <a:alpha val="7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8C6CFF">
              <a:alpha val="7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8C6CFF">
              <a:alpha val="67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8C6CFF">
              <a:alpha val="61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8C6CFF">
              <a:alpha val="5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8C6CFF">
              <a:alpha val="4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8C6CFF">
              <a:alpha val="4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2｜概念辨析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不是 RPA 的简单升级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固定自动化与目标驱动执行的差异。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1783080"/>
            <a:ext cx="49377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1783080"/>
            <a:ext cx="49377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AI重新设计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2148840"/>
            <a:ext cx="5074920" cy="2926080"/>
          </a:xfrm>
          <a:prstGeom prst="roundRect">
            <a:avLst>
              <a:gd name="adj" fmla="val 2500"/>
            </a:avLst>
          </a:prstGeom>
          <a:solidFill>
            <a:srgbClr val="0A1D35"/>
          </a:solidFill>
          <a:ln w="12700">
            <a:solidFill>
              <a:srgbClr val="607A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832" y="23134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607A9A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9848" y="2432304"/>
            <a:ext cx="237744" cy="23774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554480" y="23134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RPA｜固定自动化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978408" y="2834640"/>
            <a:ext cx="4672584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规则明确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流程固定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输入结构化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变化较少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适合重复点击和搬运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897880" y="3364992"/>
            <a:ext cx="502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6400800" y="2148840"/>
            <a:ext cx="4983480" cy="2926080"/>
          </a:xfrm>
          <a:prstGeom prst="roundRect">
            <a:avLst>
              <a:gd name="adj" fmla="val 2500"/>
            </a:avLst>
          </a:prstGeom>
          <a:solidFill>
            <a:srgbClr val="0D294A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65392" y="23134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3408" y="2432304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178040" y="23134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Agent｜目标驱动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6601968" y="2834640"/>
            <a:ext cx="4581144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理解环境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动态规划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处理复杂信息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基于反馈调整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适合不确定知识任务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8C6CFF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最佳实践通常不是二选一，而是Agent负责理解与判断，自动化工具负责确定性执行。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2｜AI Native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Native 企业的四种重构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不是给现有业务“加AI”，而是从设计之初就假设AI参与工作。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187452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408" y="215798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63040" y="203911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Native 产品</a:t>
            </a:r>
            <a:endParaRPr lang="en-US" sz="1620" dirty="0"/>
          </a:p>
        </p:txBody>
      </p:sp>
      <p:sp>
        <p:nvSpPr>
          <p:cNvPr id="19" name="Text 16"/>
          <p:cNvSpPr txBox="1"/>
          <p:nvPr/>
        </p:nvSpPr>
        <p:spPr>
          <a:xfrm>
            <a:off x="886968" y="256032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从提供功能，到帮助用户完成目标。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217920" y="187452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8251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0528" y="215798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995160" y="203911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Native 服务</a:t>
            </a:r>
            <a:endParaRPr lang="en-US" sz="1620" dirty="0"/>
          </a:p>
        </p:txBody>
      </p:sp>
      <p:sp>
        <p:nvSpPr>
          <p:cNvPr id="24" name="Text 20"/>
          <p:cNvSpPr txBox="1"/>
          <p:nvPr/>
        </p:nvSpPr>
        <p:spPr>
          <a:xfrm>
            <a:off x="6419088" y="256032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理解需求、调用系统、解决问题。</a:t>
            </a:r>
            <a:endParaRPr lang="en-US" sz="1080" dirty="0"/>
          </a:p>
        </p:txBody>
      </p:sp>
      <p:sp>
        <p:nvSpPr>
          <p:cNvPr id="25" name="Shape 21"/>
          <p:cNvSpPr/>
          <p:nvPr/>
        </p:nvSpPr>
        <p:spPr>
          <a:xfrm>
            <a:off x="685800" y="374904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50392" y="39136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8408" y="403250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463040" y="39136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Native 流程</a:t>
            </a:r>
            <a:endParaRPr lang="en-US" sz="1620" dirty="0"/>
          </a:p>
        </p:txBody>
      </p:sp>
      <p:sp>
        <p:nvSpPr>
          <p:cNvPr id="29" name="Text 24"/>
          <p:cNvSpPr txBox="1"/>
          <p:nvPr/>
        </p:nvSpPr>
        <p:spPr>
          <a:xfrm>
            <a:off x="886968" y="443484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从固定路径，到目标驱动的人机协同。</a:t>
            </a:r>
            <a:endParaRPr lang="en-US" sz="1080" dirty="0"/>
          </a:p>
        </p:txBody>
      </p:sp>
      <p:sp>
        <p:nvSpPr>
          <p:cNvPr id="30" name="Shape 25"/>
          <p:cNvSpPr/>
          <p:nvPr/>
        </p:nvSpPr>
        <p:spPr>
          <a:xfrm>
            <a:off x="6217920" y="374904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382512" y="39136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0528" y="4032504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995160" y="39136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Native 组织</a:t>
            </a:r>
            <a:endParaRPr lang="en-US" sz="1620" dirty="0"/>
          </a:p>
        </p:txBody>
      </p:sp>
      <p:sp>
        <p:nvSpPr>
          <p:cNvPr id="34" name="Text 28"/>
          <p:cNvSpPr txBox="1"/>
          <p:nvPr/>
        </p:nvSpPr>
        <p:spPr>
          <a:xfrm>
            <a:off x="6419088" y="443484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人类负责人管理人和AI协作者。</a:t>
            </a:r>
            <a:endParaRPr lang="en-US" sz="1080" dirty="0"/>
          </a:p>
        </p:txBody>
      </p:sp>
      <p:sp>
        <p:nvSpPr>
          <p:cNvPr id="35" name="Shape 2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Native不是“AI功能更多”，而是产品、服务、流程和组织的设计起点发生变化。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2｜AI Native案例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CRM：从记录系统到销售决策系统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企业软件产品范式变化。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示意案例｜用于培训讨论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1874520"/>
            <a:ext cx="3246120" cy="3337560"/>
          </a:xfrm>
          <a:prstGeom prst="roundRect">
            <a:avLst>
              <a:gd name="adj" fmla="val 2254"/>
            </a:avLst>
          </a:prstGeom>
          <a:solidFill>
            <a:srgbClr val="2B221C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688" y="215798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17320" y="20391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当前业务问题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2560320"/>
            <a:ext cx="2843784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传统CRM记录客户、联系和阶段；销售仍需自己判断下一步。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096512" y="1874520"/>
            <a:ext cx="3886200" cy="3337560"/>
          </a:xfrm>
          <a:prstGeom prst="roundRect">
            <a:avLst>
              <a:gd name="adj" fmla="val 2192"/>
            </a:avLst>
          </a:prstGeom>
          <a:solidFill>
            <a:srgbClr val="0B2A48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61104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9120" y="215798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873752" y="20391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AI重新设计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4297680" y="2560320"/>
            <a:ext cx="3483864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AI主动识别机会、解释原因、推荐行动，并准备客户画像、沟通策略和邮件草稿。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183880" y="187452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0B2C35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34847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76488" y="215798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961120" y="20391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</a:t>
            </a:r>
            <a:endParaRPr lang="en-US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8385048" y="2560320"/>
            <a:ext cx="2980944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提高销售聚焦度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提升机会响应速度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降低使用门槛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8183880" y="4041648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1A2045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348472" y="4206240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76488" y="4325112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961120" y="42062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人机分工</a:t>
            </a:r>
            <a:endParaRPr lang="en-US" sz="1450" dirty="0"/>
          </a:p>
        </p:txBody>
      </p:sp>
      <p:sp>
        <p:nvSpPr>
          <p:cNvPr id="34" name="Text 28"/>
          <p:cNvSpPr txBox="1"/>
          <p:nvPr/>
        </p:nvSpPr>
        <p:spPr>
          <a:xfrm>
            <a:off x="8385048" y="4727448"/>
            <a:ext cx="298094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AI持续准备决策；销售决定关系策略与最终行动。</a:t>
            </a:r>
            <a:endParaRPr lang="en-US" sz="980" dirty="0"/>
          </a:p>
        </p:txBody>
      </p:sp>
      <p:sp>
        <p:nvSpPr>
          <p:cNvPr id="35" name="Shape 2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案例不是复制答案，而是帮助学员看见：同一项工作可以被重新设计。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2｜AI Native案例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AI客服中心：从回答问题到完成服务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客户服务模式重构。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示意案例｜用于培训讨论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1874520"/>
            <a:ext cx="3246120" cy="3337560"/>
          </a:xfrm>
          <a:prstGeom prst="roundRect">
            <a:avLst>
              <a:gd name="adj" fmla="val 2254"/>
            </a:avLst>
          </a:prstGeom>
          <a:solidFill>
            <a:srgbClr val="2B221C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688" y="215798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17320" y="20391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当前业务问题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2560320"/>
            <a:ext cx="2843784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客户需要等待人工；客服在多个系统中查询并执行操作。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096512" y="1874520"/>
            <a:ext cx="3886200" cy="3337560"/>
          </a:xfrm>
          <a:prstGeom prst="roundRect">
            <a:avLst>
              <a:gd name="adj" fmla="val 2192"/>
            </a:avLst>
          </a:prstGeom>
          <a:solidFill>
            <a:srgbClr val="0B2A48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61104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9120" y="215798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873752" y="20391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AI重新设计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4297680" y="2560320"/>
            <a:ext cx="3483864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AI理解需求 → 检索知识 → 查询账户/订单 → 在授权范围内执行 → 复杂情况升级人工。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183880" y="187452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0B2C35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34847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76488" y="215798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961120" y="20391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</a:t>
            </a:r>
            <a:endParaRPr lang="en-US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8385048" y="2560320"/>
            <a:ext cx="2980944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7×24响应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降低标准问题成本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提高服务一致性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8183880" y="4041648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1A2045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348472" y="4206240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76488" y="4325112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961120" y="42062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人机分工</a:t>
            </a:r>
            <a:endParaRPr lang="en-US" sz="1450" dirty="0"/>
          </a:p>
        </p:txBody>
      </p:sp>
      <p:sp>
        <p:nvSpPr>
          <p:cNvPr id="34" name="Text 28"/>
          <p:cNvSpPr txBox="1"/>
          <p:nvPr/>
        </p:nvSpPr>
        <p:spPr>
          <a:xfrm>
            <a:off x="8385048" y="4727448"/>
            <a:ext cx="298094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AI处理标准请求；人处理情绪、例外和高价值关系。</a:t>
            </a:r>
            <a:endParaRPr lang="en-US" sz="980" dirty="0"/>
          </a:p>
        </p:txBody>
      </p:sp>
      <p:sp>
        <p:nvSpPr>
          <p:cNvPr id="35" name="Shape 2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案例不是复制答案，而是帮助学员看见：同一项工作可以被重新设计。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2｜AI Native流程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从“流程驱动人”到“目标驱动协作”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企业流程的设计中心正在改变。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1783080"/>
            <a:ext cx="49377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1783080"/>
            <a:ext cx="49377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AI重新设计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2148840"/>
            <a:ext cx="5074920" cy="2926080"/>
          </a:xfrm>
          <a:prstGeom prst="roundRect">
            <a:avLst>
              <a:gd name="adj" fmla="val 2500"/>
            </a:avLst>
          </a:prstGeom>
          <a:solidFill>
            <a:srgbClr val="0A1D35"/>
          </a:solidFill>
          <a:ln w="12700">
            <a:solidFill>
              <a:srgbClr val="607A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832" y="23134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607A9A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9848" y="2432304"/>
            <a:ext cx="237744" cy="23774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554480" y="23134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传统流程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978408" y="2834640"/>
            <a:ext cx="4672584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预设固定路径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人执行每一步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系统记录状态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遇到异常依赖人工协调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897880" y="3364992"/>
            <a:ext cx="502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6400800" y="2148840"/>
            <a:ext cx="4983480" cy="2926080"/>
          </a:xfrm>
          <a:prstGeom prst="roundRect">
            <a:avLst>
              <a:gd name="adj" fmla="val 2500"/>
            </a:avLst>
          </a:prstGeom>
          <a:solidFill>
            <a:srgbClr val="0D294A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65392" y="23134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3408" y="2432304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178040" y="23134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Native流程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6601968" y="2834640"/>
            <a:ext cx="4581144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给定目标与边界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AI动态选择路径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工具执行确定性动作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人把关关键节点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过去企业设计每一步；未来企业更需要设计目标、边界、成功标准和升级机制。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2｜AI Native组织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未来管理者：管理人 + AI Agent 团队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组织结构从岗位中心，逐步走向目标与任务中心。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" y="1920240"/>
            <a:ext cx="3017520" cy="3108960"/>
          </a:xfrm>
          <a:prstGeom prst="roundRect">
            <a:avLst>
              <a:gd name="adj" fmla="val 2424"/>
            </a:avLst>
          </a:prstGeom>
          <a:solidFill>
            <a:srgbClr val="0B2C35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" y="20848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" y="220370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508760" y="20848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人类负责人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932688" y="2606040"/>
            <a:ext cx="2615184" cy="2267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定义目标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做价值判断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协调关系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承担结果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160520" y="1920240"/>
            <a:ext cx="2194560" cy="1325880"/>
          </a:xfrm>
          <a:prstGeom prst="roundRect">
            <a:avLst>
              <a:gd name="adj" fmla="val 5517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325112" y="20848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3128" y="220370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937760" y="208483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 Agent</a:t>
            </a:r>
            <a:endParaRPr lang="en-US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4361688" y="2606040"/>
            <a:ext cx="179222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市场与竞品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583680" y="1920240"/>
            <a:ext cx="2194560" cy="1325880"/>
          </a:xfrm>
          <a:prstGeom prst="roundRect">
            <a:avLst>
              <a:gd name="adj" fmla="val 5517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748272" y="20848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76288" y="220370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7360920" y="208483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 Agent</a:t>
            </a:r>
            <a:endParaRPr lang="en-US" sz="1450" dirty="0"/>
          </a:p>
        </p:txBody>
      </p:sp>
      <p:sp>
        <p:nvSpPr>
          <p:cNvPr id="29" name="Text 24"/>
          <p:cNvSpPr txBox="1"/>
          <p:nvPr/>
        </p:nvSpPr>
        <p:spPr>
          <a:xfrm>
            <a:off x="6784848" y="2606040"/>
            <a:ext cx="179222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生成与适配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9006840" y="1920240"/>
            <a:ext cx="2194560" cy="1325880"/>
          </a:xfrm>
          <a:prstGeom prst="roundRect">
            <a:avLst>
              <a:gd name="adj" fmla="val 5517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9171432" y="20848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99448" y="2203704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9784080" y="208483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 Agent</a:t>
            </a:r>
            <a:endParaRPr lang="en-US" sz="1450" dirty="0"/>
          </a:p>
        </p:txBody>
      </p:sp>
      <p:sp>
        <p:nvSpPr>
          <p:cNvPr id="34" name="Text 28"/>
          <p:cNvSpPr txBox="1"/>
          <p:nvPr/>
        </p:nvSpPr>
        <p:spPr>
          <a:xfrm>
            <a:off x="9208008" y="2606040"/>
            <a:ext cx="179222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数据与洞察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4160520" y="3703320"/>
            <a:ext cx="2194560" cy="1325880"/>
          </a:xfrm>
          <a:prstGeom prst="roundRect">
            <a:avLst>
              <a:gd name="adj" fmla="val 5517"/>
            </a:avLst>
          </a:prstGeom>
          <a:solidFill>
            <a:srgbClr val="0D2747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4325112" y="38679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53128" y="3986784"/>
            <a:ext cx="237744" cy="23774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4937760" y="38679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 Agent</a:t>
            </a:r>
            <a:endParaRPr lang="en-US" sz="1450" dirty="0"/>
          </a:p>
        </p:txBody>
      </p:sp>
      <p:sp>
        <p:nvSpPr>
          <p:cNvPr id="39" name="Text 32"/>
          <p:cNvSpPr txBox="1"/>
          <p:nvPr/>
        </p:nvSpPr>
        <p:spPr>
          <a:xfrm>
            <a:off x="4361688" y="4389120"/>
            <a:ext cx="179222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监控与协调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6583680" y="3703320"/>
            <a:ext cx="2194560" cy="1325880"/>
          </a:xfrm>
          <a:prstGeom prst="roundRect">
            <a:avLst>
              <a:gd name="adj" fmla="val 5517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6748272" y="38679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76288" y="3986784"/>
            <a:ext cx="237744" cy="237744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7360920" y="38679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系统与工具</a:t>
            </a:r>
            <a:endParaRPr lang="en-US" sz="1450" dirty="0"/>
          </a:p>
        </p:txBody>
      </p:sp>
      <p:sp>
        <p:nvSpPr>
          <p:cNvPr id="44" name="Text 36"/>
          <p:cNvSpPr txBox="1"/>
          <p:nvPr/>
        </p:nvSpPr>
        <p:spPr>
          <a:xfrm>
            <a:off x="6784848" y="4389120"/>
            <a:ext cx="179222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CRM / ERP / API</a:t>
            </a:r>
            <a:endParaRPr lang="en-US" sz="1050" dirty="0"/>
          </a:p>
        </p:txBody>
      </p:sp>
      <p:sp>
        <p:nvSpPr>
          <p:cNvPr id="45" name="Shape 37"/>
          <p:cNvSpPr/>
          <p:nvPr/>
        </p:nvSpPr>
        <p:spPr>
          <a:xfrm>
            <a:off x="9006840" y="3703320"/>
            <a:ext cx="2194560" cy="1325880"/>
          </a:xfrm>
          <a:prstGeom prst="roundRect">
            <a:avLst>
              <a:gd name="adj" fmla="val 5517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9171432" y="38679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99448" y="3986784"/>
            <a:ext cx="237744" cy="237744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9784080" y="38679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治理与评估</a:t>
            </a:r>
            <a:endParaRPr lang="en-US" sz="1450" dirty="0"/>
          </a:p>
        </p:txBody>
      </p:sp>
      <p:sp>
        <p:nvSpPr>
          <p:cNvPr id="49" name="Text 40"/>
          <p:cNvSpPr txBox="1"/>
          <p:nvPr/>
        </p:nvSpPr>
        <p:spPr>
          <a:xfrm>
            <a:off x="9208008" y="4389120"/>
            <a:ext cx="179222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 / 日志 / Eval</a:t>
            </a:r>
            <a:endParaRPr lang="en-US" sz="1050" dirty="0"/>
          </a:p>
        </p:txBody>
      </p:sp>
      <p:sp>
        <p:nvSpPr>
          <p:cNvPr id="50" name="Shape 41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52" name="Text 42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未来管理者不仅管理人，也要定义、监督和优化AI协作者。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2｜转型路线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从个人提效到企业重构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企业可根据业务价值与准备度，选择合适的切入层次。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446227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482803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个人提效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5376672"/>
            <a:ext cx="1627632" cy="-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提高效率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71800" y="3721608"/>
            <a:ext cx="1965960" cy="1353312"/>
          </a:xfrm>
          <a:prstGeom prst="roundRect">
            <a:avLst>
              <a:gd name="adj" fmla="val 5405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36392" y="38862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136392" y="425196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团队复用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136392" y="4800600"/>
            <a:ext cx="16276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知识与Workflow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12080" y="3145536"/>
            <a:ext cx="1965960" cy="1929384"/>
          </a:xfrm>
          <a:prstGeom prst="roundRect">
            <a:avLst>
              <a:gd name="adj" fmla="val 3791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76672" y="33101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376672" y="367588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业务执行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376672" y="422452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Agent与系统连接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52360" y="2569464"/>
            <a:ext cx="1965960" cy="2505456"/>
          </a:xfrm>
          <a:prstGeom prst="roundRect">
            <a:avLst>
              <a:gd name="adj" fmla="val 372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16952" y="273405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616952" y="3099816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企业创新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616952" y="3648456"/>
            <a:ext cx="162763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Native产品与组织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不必一步到位，但必须从“工具采购”转向“工作重新设计”。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2｜模块过渡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从应用场景，到落地方法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案例带来启发，方法才能帮助企业真正行动。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13232" y="2423160"/>
            <a:ext cx="1987906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06017" y="2633472"/>
            <a:ext cx="402336" cy="40233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86384" y="3145536"/>
            <a:ext cx="1841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发现机会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2673706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2902306" y="2423160"/>
            <a:ext cx="1987906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5090" y="2633472"/>
            <a:ext cx="402336" cy="40233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2975458" y="3145536"/>
            <a:ext cx="1841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选择场景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4862779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19"/>
          <p:cNvSpPr/>
          <p:nvPr/>
        </p:nvSpPr>
        <p:spPr>
          <a:xfrm>
            <a:off x="5091379" y="2423160"/>
            <a:ext cx="1987906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84164" y="2633472"/>
            <a:ext cx="402336" cy="40233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164531" y="3145536"/>
            <a:ext cx="1841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设计方案</a:t>
            </a:r>
            <a:endParaRPr lang="en-US" sz="1350" dirty="0"/>
          </a:p>
        </p:txBody>
      </p:sp>
      <p:sp>
        <p:nvSpPr>
          <p:cNvPr id="26" name="Text 21"/>
          <p:cNvSpPr txBox="1"/>
          <p:nvPr/>
        </p:nvSpPr>
        <p:spPr>
          <a:xfrm>
            <a:off x="7051853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2"/>
          <p:cNvSpPr/>
          <p:nvPr/>
        </p:nvSpPr>
        <p:spPr>
          <a:xfrm>
            <a:off x="7280453" y="2423160"/>
            <a:ext cx="1987906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FFAA42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73238" y="2633472"/>
            <a:ext cx="402336" cy="40233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353605" y="3145536"/>
            <a:ext cx="1841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验证价值</a:t>
            </a:r>
            <a:endParaRPr lang="en-US" sz="1350" dirty="0"/>
          </a:p>
        </p:txBody>
      </p:sp>
      <p:sp>
        <p:nvSpPr>
          <p:cNvPr id="30" name="Text 24"/>
          <p:cNvSpPr txBox="1"/>
          <p:nvPr/>
        </p:nvSpPr>
        <p:spPr>
          <a:xfrm>
            <a:off x="9240926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Shape 25"/>
          <p:cNvSpPr/>
          <p:nvPr/>
        </p:nvSpPr>
        <p:spPr>
          <a:xfrm>
            <a:off x="9469526" y="2423160"/>
            <a:ext cx="1987906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62311" y="2633472"/>
            <a:ext cx="402336" cy="40233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542678" y="3145536"/>
            <a:ext cx="1841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规模推广</a:t>
            </a:r>
            <a:endParaRPr lang="en-US" sz="1350" dirty="0"/>
          </a:p>
        </p:txBody>
      </p:sp>
      <p:sp>
        <p:nvSpPr>
          <p:cNvPr id="34" name="Shape 27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下一模块：如何把AI想法转化为可验证、可治理、可规模化的企业项目。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6583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234440"/>
            <a:ext cx="7955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 AI</a:t>
            </a:r>
            <a:endParaRPr lang="en-US" sz="35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" y="25420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从机会发现到业务成果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58368" y="3703320"/>
            <a:ext cx="8046720" cy="1234440"/>
          </a:xfrm>
          <a:prstGeom prst="roundRect">
            <a:avLst>
              <a:gd name="adj" fmla="val 5926"/>
            </a:avLst>
          </a:prstGeom>
          <a:solidFill>
            <a:srgbClr val="11233F">
              <a:alpha val="97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688" y="4005072"/>
            <a:ext cx="502920" cy="5029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691640" y="3877056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帮助企业找到第一个值得投入的AI机会，并建立持续落地路径。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9464040" y="1325880"/>
            <a:ext cx="1920240" cy="1920240"/>
          </a:xfrm>
          <a:prstGeom prst="ellipse">
            <a:avLst/>
          </a:prstGeom>
          <a:solidFill>
            <a:srgbClr val="091D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48672" y="1810512"/>
            <a:ext cx="960120" cy="9601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619488" y="3840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4000" dirty="0"/>
          </a:p>
        </p:txBody>
      </p:sp>
      <p:sp>
        <p:nvSpPr>
          <p:cNvPr id="19" name="Text 15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企业AI转型与应用实践｜模块导航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FFAA42">
              <a:alpha val="85000"/>
            </a:srgbClr>
          </a:solidFill>
          <a:ln w="12700">
            <a:solidFill>
              <a:srgbClr val="FFAA4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FFAA42">
              <a:alpha val="79000"/>
            </a:srgbClr>
          </a:solidFill>
          <a:ln w="12700">
            <a:solidFill>
              <a:srgbClr val="FFAA4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FFAA42">
              <a:alpha val="73000"/>
            </a:srgbClr>
          </a:solidFill>
          <a:ln w="12700">
            <a:solidFill>
              <a:srgbClr val="FFAA4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FFAA42">
              <a:alpha val="67000"/>
            </a:srgbClr>
          </a:solidFill>
          <a:ln w="12700">
            <a:solidFill>
              <a:srgbClr val="FFAA4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FFAA42">
              <a:alpha val="61000"/>
            </a:srgbClr>
          </a:solidFill>
          <a:ln w="12700">
            <a:solidFill>
              <a:srgbClr val="FFAA4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FFAA42">
              <a:alpha val="55000"/>
            </a:srgbClr>
          </a:solidFill>
          <a:ln w="12700">
            <a:solidFill>
              <a:srgbClr val="FFAA42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FFAA42">
              <a:alpha val="49000"/>
            </a:srgbClr>
          </a:solidFill>
          <a:ln w="12700">
            <a:solidFill>
              <a:srgbClr val="FFAA4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FFAA42">
              <a:alpha val="43000"/>
            </a:srgbClr>
          </a:solidFill>
          <a:ln w="12700">
            <a:solidFill>
              <a:srgbClr val="FFAA42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A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3｜常见失败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为什么很多AI项目没有业务价值？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失败通常不是模型不够强，而是项目起点错误。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1783080"/>
            <a:ext cx="49377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1783080"/>
            <a:ext cx="49377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AI重新设计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2148840"/>
            <a:ext cx="5074920" cy="2926080"/>
          </a:xfrm>
          <a:prstGeom prst="roundRect">
            <a:avLst>
              <a:gd name="adj" fmla="val 2500"/>
            </a:avLst>
          </a:prstGeom>
          <a:solidFill>
            <a:srgbClr val="0A1D35"/>
          </a:solidFill>
          <a:ln w="12700">
            <a:solidFill>
              <a:srgbClr val="607A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832" y="23134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607A9A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9848" y="2432304"/>
            <a:ext cx="237744" cy="23774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554480" y="23134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错误路径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978408" y="2834640"/>
            <a:ext cx="4672584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看到AI很强 → 采购工具 → 找场景 → 做Demo → 效果不明确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897880" y="3364992"/>
            <a:ext cx="502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A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6400800" y="2148840"/>
            <a:ext cx="4983480" cy="2926080"/>
          </a:xfrm>
          <a:prstGeom prst="roundRect">
            <a:avLst>
              <a:gd name="adj" fmla="val 2500"/>
            </a:avLst>
          </a:prstGeom>
          <a:solidFill>
            <a:srgbClr val="0D294A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65392" y="23134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3408" y="2432304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178040" y="23134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正确路径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6601968" y="2834640"/>
            <a:ext cx="4581144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业务目标 → 工作任务 → 痛点 → AI机会 → 方案 → 业务验证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FFAA42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企业不缺AI工具，缺的是值得解决的问题、业务Owner和可衡量的成功标准。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3｜机会发现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从岗位到任务：找到真正可改造的工作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不要笼统问“销售部怎么用AI”，要拆解销售每天完成的具体任务。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13232" y="2423160"/>
            <a:ext cx="1987906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06017" y="2633472"/>
            <a:ext cx="402336" cy="40233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86384" y="3145536"/>
            <a:ext cx="1841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 / 角色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2673706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2902306" y="2423160"/>
            <a:ext cx="1987906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5090" y="2633472"/>
            <a:ext cx="402336" cy="40233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2975458" y="3145536"/>
            <a:ext cx="1841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任务拆解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4862779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19"/>
          <p:cNvSpPr/>
          <p:nvPr/>
        </p:nvSpPr>
        <p:spPr>
          <a:xfrm>
            <a:off x="5091379" y="2423160"/>
            <a:ext cx="1987906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FFAA42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84164" y="2633472"/>
            <a:ext cx="402336" cy="40233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164531" y="3145536"/>
            <a:ext cx="1841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痛点识别</a:t>
            </a:r>
            <a:endParaRPr lang="en-US" sz="1350" dirty="0"/>
          </a:p>
        </p:txBody>
      </p:sp>
      <p:sp>
        <p:nvSpPr>
          <p:cNvPr id="26" name="Text 21"/>
          <p:cNvSpPr txBox="1"/>
          <p:nvPr/>
        </p:nvSpPr>
        <p:spPr>
          <a:xfrm>
            <a:off x="7051853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2"/>
          <p:cNvSpPr/>
          <p:nvPr/>
        </p:nvSpPr>
        <p:spPr>
          <a:xfrm>
            <a:off x="7280453" y="2423160"/>
            <a:ext cx="1987906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73238" y="2633472"/>
            <a:ext cx="402336" cy="40233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353605" y="3145536"/>
            <a:ext cx="1841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AI介入点</a:t>
            </a:r>
            <a:endParaRPr lang="en-US" sz="1350" dirty="0"/>
          </a:p>
        </p:txBody>
      </p:sp>
      <p:sp>
        <p:nvSpPr>
          <p:cNvPr id="30" name="Text 24"/>
          <p:cNvSpPr txBox="1"/>
          <p:nvPr/>
        </p:nvSpPr>
        <p:spPr>
          <a:xfrm>
            <a:off x="9240926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Shape 25"/>
          <p:cNvSpPr/>
          <p:nvPr/>
        </p:nvSpPr>
        <p:spPr>
          <a:xfrm>
            <a:off x="9469526" y="2423160"/>
            <a:ext cx="1987906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62311" y="2633472"/>
            <a:ext cx="402336" cy="40233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542678" y="3145536"/>
            <a:ext cx="1841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</a:t>
            </a:r>
            <a:endParaRPr lang="en-US" sz="1350" dirty="0"/>
          </a:p>
        </p:txBody>
      </p:sp>
      <p:sp>
        <p:nvSpPr>
          <p:cNvPr id="34" name="Shape 27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工作任务是连接业务问题与AI能力的最小分析单元。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3｜核心工具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Opportunity Canvas｜机会卡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用六个问题，把模糊想法转化为可讨论的AI机会。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18288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19933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688" y="211226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17320" y="19933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业务目标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2514600"/>
            <a:ext cx="311810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希望改善什么业务结果？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343400" y="18288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07992" y="19933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6008" y="211226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120640" y="19933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当前流程</a:t>
            </a:r>
            <a:endParaRPr lang="en-US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4544568" y="2514600"/>
            <a:ext cx="311810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现在由谁、如何完成？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8046720" y="18288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0D2747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211312" y="19933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39328" y="211226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823960" y="19933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最大痛点</a:t>
            </a:r>
            <a:endParaRPr lang="en-US" sz="1450" dirty="0"/>
          </a:p>
        </p:txBody>
      </p:sp>
      <p:sp>
        <p:nvSpPr>
          <p:cNvPr id="29" name="Text 24"/>
          <p:cNvSpPr txBox="1"/>
          <p:nvPr/>
        </p:nvSpPr>
        <p:spPr>
          <a:xfrm>
            <a:off x="8247888" y="2514600"/>
            <a:ext cx="311810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哪里最耗时、易错或影响体验？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640080" y="34290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04672" y="35935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2688" y="3712464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417320" y="35935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AI机会</a:t>
            </a:r>
            <a:endParaRPr lang="en-US" sz="1450" dirty="0"/>
          </a:p>
        </p:txBody>
      </p:sp>
      <p:sp>
        <p:nvSpPr>
          <p:cNvPr id="34" name="Text 28"/>
          <p:cNvSpPr txBox="1"/>
          <p:nvPr/>
        </p:nvSpPr>
        <p:spPr>
          <a:xfrm>
            <a:off x="841248" y="4114800"/>
            <a:ext cx="311810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AI可以理解、分析、生成或执行什么？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4343400" y="34290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4507992" y="35935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36008" y="3712464"/>
            <a:ext cx="237744" cy="23774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5120640" y="35935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人机分工</a:t>
            </a:r>
            <a:endParaRPr lang="en-US" sz="1450" dirty="0"/>
          </a:p>
        </p:txBody>
      </p:sp>
      <p:sp>
        <p:nvSpPr>
          <p:cNvPr id="39" name="Text 32"/>
          <p:cNvSpPr txBox="1"/>
          <p:nvPr/>
        </p:nvSpPr>
        <p:spPr>
          <a:xfrm>
            <a:off x="4544568" y="4114800"/>
            <a:ext cx="311810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AI做什么？人保留什么？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8046720" y="34290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8211312" y="35935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39328" y="3712464"/>
            <a:ext cx="237744" cy="237744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8823960" y="35935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成功指标</a:t>
            </a:r>
            <a:endParaRPr lang="en-US" sz="1450" dirty="0"/>
          </a:p>
        </p:txBody>
      </p:sp>
      <p:sp>
        <p:nvSpPr>
          <p:cNvPr id="44" name="Text 36"/>
          <p:cNvSpPr txBox="1"/>
          <p:nvPr/>
        </p:nvSpPr>
        <p:spPr>
          <a:xfrm>
            <a:off x="8247888" y="4114800"/>
            <a:ext cx="311810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如何证明它真的有价值？</a:t>
            </a:r>
            <a:endParaRPr lang="en-US" sz="1050" dirty="0"/>
          </a:p>
        </p:txBody>
      </p:sp>
      <p:sp>
        <p:nvSpPr>
          <p:cNvPr id="45" name="Shape 37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机会卡不是解决方案，而是让企业用统一语言描述“值得探索的问题”。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3｜机会卡示例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客户投诉处理 AI 助手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从业务问题出发，而不是从产品名称出发。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示意案例｜用于培训讨论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1874520"/>
            <a:ext cx="3246120" cy="3337560"/>
          </a:xfrm>
          <a:prstGeom prst="roundRect">
            <a:avLst>
              <a:gd name="adj" fmla="val 2254"/>
            </a:avLst>
          </a:prstGeom>
          <a:solidFill>
            <a:srgbClr val="2B221C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688" y="215798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17320" y="20391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当前业务问题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2560320"/>
            <a:ext cx="2843784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查询历史记录和制度耗时；新人回复质量不一致；复杂问题升级路径不清晰。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096512" y="1874520"/>
            <a:ext cx="3886200" cy="3337560"/>
          </a:xfrm>
          <a:prstGeom prst="roundRect">
            <a:avLst>
              <a:gd name="adj" fmla="val 2192"/>
            </a:avLst>
          </a:prstGeom>
          <a:solidFill>
            <a:srgbClr val="0B2A48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61104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9120" y="215798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873752" y="20391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AI重新设计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4297680" y="2560320"/>
            <a:ext cx="3483864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AI识别投诉类型 → 检索制度与历史案例 → 推荐处理方案与回复草稿 → 高风险情况升级主管。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183880" y="187452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0B2C35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34847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76488" y="215798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961120" y="20391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</a:t>
            </a:r>
            <a:endParaRPr lang="en-US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8385048" y="2560320"/>
            <a:ext cx="2980944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缩短响应时间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提升回复一致性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降低新人培训成本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8183880" y="4041648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1A2045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348472" y="4206240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76488" y="4325112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961120" y="42062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人机分工</a:t>
            </a:r>
            <a:endParaRPr lang="en-US" sz="1450" dirty="0"/>
          </a:p>
        </p:txBody>
      </p:sp>
      <p:sp>
        <p:nvSpPr>
          <p:cNvPr id="34" name="Text 28"/>
          <p:cNvSpPr txBox="1"/>
          <p:nvPr/>
        </p:nvSpPr>
        <p:spPr>
          <a:xfrm>
            <a:off x="8385048" y="4727448"/>
            <a:ext cx="298094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AI负责理解、检索与建议；客服主管负责赔偿、例外和关系判断。</a:t>
            </a:r>
            <a:endParaRPr lang="en-US" sz="980" dirty="0"/>
          </a:p>
        </p:txBody>
      </p:sp>
      <p:sp>
        <p:nvSpPr>
          <p:cNvPr id="35" name="Shape 2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案例不是复制答案，而是帮助学员看见：同一项工作可以被重新设计。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3｜场景评估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什么工作最值得 AI 化？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评估的不是“AI能不能做”，而是“值不值得、能不能可靠落地”。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187452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408" y="215798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63040" y="203911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</a:t>
            </a:r>
            <a:endParaRPr lang="en-US" sz="1620" dirty="0"/>
          </a:p>
        </p:txBody>
      </p:sp>
      <p:sp>
        <p:nvSpPr>
          <p:cNvPr id="19" name="Text 16"/>
          <p:cNvSpPr txBox="1"/>
          <p:nvPr/>
        </p:nvSpPr>
        <p:spPr>
          <a:xfrm>
            <a:off x="886968" y="256032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对收入、成本、体验或风险有多大影响？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217920" y="187452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8251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0528" y="215798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995160" y="203911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任务特征</a:t>
            </a:r>
            <a:endParaRPr lang="en-US" sz="1620" dirty="0"/>
          </a:p>
        </p:txBody>
      </p:sp>
      <p:sp>
        <p:nvSpPr>
          <p:cNvPr id="24" name="Text 20"/>
          <p:cNvSpPr txBox="1"/>
          <p:nvPr/>
        </p:nvSpPr>
        <p:spPr>
          <a:xfrm>
            <a:off x="6419088" y="256032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是否高频、信息密集、规则存在、结果可验证？</a:t>
            </a:r>
            <a:endParaRPr lang="en-US" sz="1080" dirty="0"/>
          </a:p>
        </p:txBody>
      </p:sp>
      <p:sp>
        <p:nvSpPr>
          <p:cNvPr id="25" name="Shape 21"/>
          <p:cNvSpPr/>
          <p:nvPr/>
        </p:nvSpPr>
        <p:spPr>
          <a:xfrm>
            <a:off x="685800" y="374904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50392" y="39136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8408" y="403250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463040" y="39136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数据与系统</a:t>
            </a:r>
            <a:endParaRPr lang="en-US" sz="1620" dirty="0"/>
          </a:p>
        </p:txBody>
      </p:sp>
      <p:sp>
        <p:nvSpPr>
          <p:cNvPr id="29" name="Text 24"/>
          <p:cNvSpPr txBox="1"/>
          <p:nvPr/>
        </p:nvSpPr>
        <p:spPr>
          <a:xfrm>
            <a:off x="886968" y="443484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是否有可用数据、知识和连接能力？</a:t>
            </a:r>
            <a:endParaRPr lang="en-US" sz="1080" dirty="0"/>
          </a:p>
        </p:txBody>
      </p:sp>
      <p:sp>
        <p:nvSpPr>
          <p:cNvPr id="30" name="Shape 25"/>
          <p:cNvSpPr/>
          <p:nvPr/>
        </p:nvSpPr>
        <p:spPr>
          <a:xfrm>
            <a:off x="6217920" y="374904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382512" y="39136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0528" y="4032504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995160" y="39136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组织准备度</a:t>
            </a:r>
            <a:endParaRPr lang="en-US" sz="1620" dirty="0"/>
          </a:p>
        </p:txBody>
      </p:sp>
      <p:sp>
        <p:nvSpPr>
          <p:cNvPr id="34" name="Text 28"/>
          <p:cNvSpPr txBox="1"/>
          <p:nvPr/>
        </p:nvSpPr>
        <p:spPr>
          <a:xfrm>
            <a:off x="6419088" y="443484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是否有业务Owner、用户意愿和治理支持？</a:t>
            </a:r>
            <a:endParaRPr lang="en-US" sz="1080" dirty="0"/>
          </a:p>
        </p:txBody>
      </p:sp>
      <p:sp>
        <p:nvSpPr>
          <p:cNvPr id="35" name="Shape 2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高价值但无数据、无Owner、不可验证的场景，往往不适合作为第一个项目。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3｜机会地图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建立企业 AI 机会全景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把零散想法放入统一的价值层次中。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187452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408" y="215798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63040" y="203911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个人效率</a:t>
            </a:r>
            <a:endParaRPr lang="en-US" sz="1620" dirty="0"/>
          </a:p>
        </p:txBody>
      </p:sp>
      <p:sp>
        <p:nvSpPr>
          <p:cNvPr id="19" name="Text 16"/>
          <p:cNvSpPr txBox="1"/>
          <p:nvPr/>
        </p:nvSpPr>
        <p:spPr>
          <a:xfrm>
            <a:off x="886968" y="256032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研究、写作、会议、分析。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217920" y="187452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8251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0528" y="215798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995160" y="203911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团队能力</a:t>
            </a:r>
            <a:endParaRPr lang="en-US" sz="1620" dirty="0"/>
          </a:p>
        </p:txBody>
      </p:sp>
      <p:sp>
        <p:nvSpPr>
          <p:cNvPr id="24" name="Text 20"/>
          <p:cNvSpPr txBox="1"/>
          <p:nvPr/>
        </p:nvSpPr>
        <p:spPr>
          <a:xfrm>
            <a:off x="6419088" y="256032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知识助手、模板、Workflow。</a:t>
            </a:r>
            <a:endParaRPr lang="en-US" sz="1080" dirty="0"/>
          </a:p>
        </p:txBody>
      </p:sp>
      <p:sp>
        <p:nvSpPr>
          <p:cNvPr id="25" name="Shape 21"/>
          <p:cNvSpPr/>
          <p:nvPr/>
        </p:nvSpPr>
        <p:spPr>
          <a:xfrm>
            <a:off x="685800" y="374904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50392" y="39136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8408" y="403250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463040" y="39136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业务流程</a:t>
            </a:r>
            <a:endParaRPr lang="en-US" sz="1620" dirty="0"/>
          </a:p>
        </p:txBody>
      </p:sp>
      <p:sp>
        <p:nvSpPr>
          <p:cNvPr id="29" name="Text 24"/>
          <p:cNvSpPr txBox="1"/>
          <p:nvPr/>
        </p:nvSpPr>
        <p:spPr>
          <a:xfrm>
            <a:off x="886968" y="443484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销售、客服、采购、运营Agent。</a:t>
            </a:r>
            <a:endParaRPr lang="en-US" sz="1080" dirty="0"/>
          </a:p>
        </p:txBody>
      </p:sp>
      <p:sp>
        <p:nvSpPr>
          <p:cNvPr id="30" name="Shape 25"/>
          <p:cNvSpPr/>
          <p:nvPr/>
        </p:nvSpPr>
        <p:spPr>
          <a:xfrm>
            <a:off x="6217920" y="374904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382512" y="39136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0528" y="4032504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995160" y="39136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产品与模式创新</a:t>
            </a:r>
            <a:endParaRPr lang="en-US" sz="1620" dirty="0"/>
          </a:p>
        </p:txBody>
      </p:sp>
      <p:sp>
        <p:nvSpPr>
          <p:cNvPr id="34" name="Text 28"/>
          <p:cNvSpPr txBox="1"/>
          <p:nvPr/>
        </p:nvSpPr>
        <p:spPr>
          <a:xfrm>
            <a:off x="6419088" y="443484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Native产品、服务与组织。</a:t>
            </a:r>
            <a:endParaRPr lang="en-US" sz="1080" dirty="0"/>
          </a:p>
        </p:txBody>
      </p:sp>
      <p:sp>
        <p:nvSpPr>
          <p:cNvPr id="35" name="Shape 2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机会地图帮助企业同时看见Quick Win与长期战略机会。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3｜机会收敛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100 个想法，到 1–2 个 PoC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企业资源有限，必须经过筛选和收敛。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13232" y="2423160"/>
            <a:ext cx="1987906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06017" y="2633472"/>
            <a:ext cx="402336" cy="40233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86384" y="3145536"/>
            <a:ext cx="1841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广泛收集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2673706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2902306" y="2423160"/>
            <a:ext cx="1987906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5090" y="2633472"/>
            <a:ext cx="402336" cy="40233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2975458" y="3145536"/>
            <a:ext cx="1841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任务拆解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4862779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19"/>
          <p:cNvSpPr/>
          <p:nvPr/>
        </p:nvSpPr>
        <p:spPr>
          <a:xfrm>
            <a:off x="5091379" y="2423160"/>
            <a:ext cx="1987906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84164" y="2633472"/>
            <a:ext cx="402336" cy="40233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164531" y="3145536"/>
            <a:ext cx="1841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机会评分</a:t>
            </a:r>
            <a:endParaRPr lang="en-US" sz="1350" dirty="0"/>
          </a:p>
        </p:txBody>
      </p:sp>
      <p:sp>
        <p:nvSpPr>
          <p:cNvPr id="26" name="Text 21"/>
          <p:cNvSpPr txBox="1"/>
          <p:nvPr/>
        </p:nvSpPr>
        <p:spPr>
          <a:xfrm>
            <a:off x="7051853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2"/>
          <p:cNvSpPr/>
          <p:nvPr/>
        </p:nvSpPr>
        <p:spPr>
          <a:xfrm>
            <a:off x="7280453" y="2423160"/>
            <a:ext cx="1987906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FFAA42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73238" y="2633472"/>
            <a:ext cx="402336" cy="40233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353605" y="3145536"/>
            <a:ext cx="1841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优先级评审</a:t>
            </a:r>
            <a:endParaRPr lang="en-US" sz="1350" dirty="0"/>
          </a:p>
        </p:txBody>
      </p:sp>
      <p:sp>
        <p:nvSpPr>
          <p:cNvPr id="30" name="Text 24"/>
          <p:cNvSpPr txBox="1"/>
          <p:nvPr/>
        </p:nvSpPr>
        <p:spPr>
          <a:xfrm>
            <a:off x="9240926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Shape 25"/>
          <p:cNvSpPr/>
          <p:nvPr/>
        </p:nvSpPr>
        <p:spPr>
          <a:xfrm>
            <a:off x="9469526" y="2423160"/>
            <a:ext cx="1987906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62311" y="2633472"/>
            <a:ext cx="402336" cy="40233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542678" y="3145536"/>
            <a:ext cx="1841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PoC候选</a:t>
            </a:r>
            <a:endParaRPr lang="en-US" sz="1350" dirty="0"/>
          </a:p>
        </p:txBody>
      </p:sp>
      <p:sp>
        <p:nvSpPr>
          <p:cNvPr id="34" name="Shape 27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真正的关键不是产生更多想法，而是把最值得验证的机会挑出来。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3｜场景选择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项目优先级矩阵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综合业务价值与实施复杂度，决定下一步投入。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417320" y="1828800"/>
            <a:ext cx="9006840" cy="3520440"/>
          </a:xfrm>
          <a:prstGeom prst="rect">
            <a:avLst>
              <a:gd name="adj" fmla="val 2078"/>
            </a:avLst>
          </a:prstGeom>
          <a:solidFill>
            <a:srgbClr val="091C34"/>
          </a:solidFill>
          <a:ln w="12700">
            <a:solidFill>
              <a:srgbClr val="183C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20740" y="1828800"/>
            <a:ext cx="0" cy="3520440"/>
          </a:xfrm>
          <a:prstGeom prst="line">
            <a:avLst/>
          </a:prstGeom>
          <a:noFill/>
          <a:ln w="15240">
            <a:solidFill>
              <a:srgbClr val="183C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17320" y="3589020"/>
            <a:ext cx="9006840" cy="0"/>
          </a:xfrm>
          <a:prstGeom prst="line">
            <a:avLst/>
          </a:prstGeom>
          <a:noFill/>
          <a:ln w="15240">
            <a:solidFill>
              <a:srgbClr val="183C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5760" y="3154680"/>
            <a:ext cx="10058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 ↑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5413248"/>
            <a:ext cx="20116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实施复杂度 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673352" y="2084832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0C2B3E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37944" y="2249424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65960" y="2368296"/>
            <a:ext cx="237744" cy="237744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2450592" y="224942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Quick Win｜优先试点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1874520" y="2770632"/>
            <a:ext cx="352958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高价值、低复杂度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快速验证、建立信心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190488" y="2084832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0D294A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355080" y="2249424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3096" y="2368296"/>
            <a:ext cx="237744" cy="237744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6967728" y="224942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Strategic｜战略项目</a:t>
            </a:r>
            <a:endParaRPr lang="en-US" sz="1700" dirty="0"/>
          </a:p>
        </p:txBody>
      </p:sp>
      <p:sp>
        <p:nvSpPr>
          <p:cNvPr id="29" name="Text 25"/>
          <p:cNvSpPr txBox="1"/>
          <p:nvPr/>
        </p:nvSpPr>
        <p:spPr>
          <a:xfrm>
            <a:off x="6391656" y="2770632"/>
            <a:ext cx="352958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高价值、高复杂度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分阶段投入、长期建设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1673352" y="388620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171E42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837944" y="40507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65960" y="4169664"/>
            <a:ext cx="237744" cy="237744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2450592" y="40507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Explore｜低成本探索</a:t>
            </a:r>
            <a:endParaRPr lang="en-US" sz="1700" dirty="0"/>
          </a:p>
        </p:txBody>
      </p:sp>
      <p:sp>
        <p:nvSpPr>
          <p:cNvPr id="34" name="Text 29"/>
          <p:cNvSpPr txBox="1"/>
          <p:nvPr/>
        </p:nvSpPr>
        <p:spPr>
          <a:xfrm>
            <a:off x="1874520" y="4572000"/>
            <a:ext cx="35295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小范围试验，积累认知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6190488" y="388620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351D2A"/>
          </a:solidFill>
          <a:ln w="12700">
            <a:solidFill>
              <a:srgbClr val="FF6D6D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6355080" y="40507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6D6D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83096" y="4169664"/>
            <a:ext cx="237744" cy="237744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6967728" y="40507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Avoid｜暂缓</a:t>
            </a:r>
            <a:endParaRPr lang="en-US" sz="1700" dirty="0"/>
          </a:p>
        </p:txBody>
      </p:sp>
      <p:sp>
        <p:nvSpPr>
          <p:cNvPr id="39" name="Text 33"/>
          <p:cNvSpPr txBox="1"/>
          <p:nvPr/>
        </p:nvSpPr>
        <p:spPr>
          <a:xfrm>
            <a:off x="6391656" y="4572000"/>
            <a:ext cx="35295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低价值、高复杂度</a:t>
            </a:r>
            <a:endParaRPr lang="en-US" sz="1150" dirty="0"/>
          </a:p>
        </p:txBody>
      </p:sp>
      <p:sp>
        <p:nvSpPr>
          <p:cNvPr id="40" name="Shape 34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第一个AI项目不应追求最酷，而应追求最容易证明业务价值。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3｜第一个项目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企业第一个 AI 项目怎么选？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不要选择最酷的，要选择最容易形成业务证据的。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187452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408" y="215798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63040" y="203911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问题真实</a:t>
            </a:r>
            <a:endParaRPr lang="en-US" sz="1620" dirty="0"/>
          </a:p>
        </p:txBody>
      </p:sp>
      <p:sp>
        <p:nvSpPr>
          <p:cNvPr id="19" name="Text 16"/>
          <p:cNvSpPr txBox="1"/>
          <p:nvPr/>
        </p:nvSpPr>
        <p:spPr>
          <a:xfrm>
            <a:off x="886968" y="256032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业务团队长期感受到明确痛点。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217920" y="187452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8251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0528" y="215798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995160" y="203911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用户明确</a:t>
            </a:r>
            <a:endParaRPr lang="en-US" sz="1620" dirty="0"/>
          </a:p>
        </p:txBody>
      </p:sp>
      <p:sp>
        <p:nvSpPr>
          <p:cNvPr id="24" name="Text 20"/>
          <p:cNvSpPr txBox="1"/>
          <p:nvPr/>
        </p:nvSpPr>
        <p:spPr>
          <a:xfrm>
            <a:off x="6419088" y="256032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有真实用户和愿意负责的业务Owner。</a:t>
            </a:r>
            <a:endParaRPr lang="en-US" sz="1080" dirty="0"/>
          </a:p>
        </p:txBody>
      </p:sp>
      <p:sp>
        <p:nvSpPr>
          <p:cNvPr id="25" name="Shape 21"/>
          <p:cNvSpPr/>
          <p:nvPr/>
        </p:nvSpPr>
        <p:spPr>
          <a:xfrm>
            <a:off x="685800" y="374904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50392" y="39136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8408" y="403250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463040" y="39136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数据可得</a:t>
            </a:r>
            <a:endParaRPr lang="en-US" sz="1620" dirty="0"/>
          </a:p>
        </p:txBody>
      </p:sp>
      <p:sp>
        <p:nvSpPr>
          <p:cNvPr id="29" name="Text 24"/>
          <p:cNvSpPr txBox="1"/>
          <p:nvPr/>
        </p:nvSpPr>
        <p:spPr>
          <a:xfrm>
            <a:off x="886968" y="443484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不需要先完成大规模数据工程。</a:t>
            </a:r>
            <a:endParaRPr lang="en-US" sz="1080" dirty="0"/>
          </a:p>
        </p:txBody>
      </p:sp>
      <p:sp>
        <p:nvSpPr>
          <p:cNvPr id="30" name="Shape 25"/>
          <p:cNvSpPr/>
          <p:nvPr/>
        </p:nvSpPr>
        <p:spPr>
          <a:xfrm>
            <a:off x="6217920" y="374904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382512" y="39136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0528" y="4032504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995160" y="39136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价值可衡量</a:t>
            </a:r>
            <a:endParaRPr lang="en-US" sz="1620" dirty="0"/>
          </a:p>
        </p:txBody>
      </p:sp>
      <p:sp>
        <p:nvSpPr>
          <p:cNvPr id="34" name="Text 28"/>
          <p:cNvSpPr txBox="1"/>
          <p:nvPr/>
        </p:nvSpPr>
        <p:spPr>
          <a:xfrm>
            <a:off x="6419088" y="443484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效率、质量、体验或业务指标可比较。</a:t>
            </a:r>
            <a:endParaRPr lang="en-US" sz="1080" dirty="0"/>
          </a:p>
        </p:txBody>
      </p:sp>
      <p:sp>
        <p:nvSpPr>
          <p:cNvPr id="35" name="Shape 2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理想的首个项目：价值可见、边界清晰、风险可控、4–8周可验证。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3｜系统观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AI应用不是模型项目，而是业务系统项目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模型只是其中一层，企业价值来自完整组合。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2103120"/>
            <a:ext cx="1508760" cy="2194560"/>
          </a:xfrm>
          <a:prstGeom prst="roundRect">
            <a:avLst>
              <a:gd name="adj" fmla="val 4848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2677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688" y="238658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17320" y="226771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2788920"/>
            <a:ext cx="1106424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理解与生成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304288" y="2103120"/>
            <a:ext cx="1508760" cy="2194560"/>
          </a:xfrm>
          <a:prstGeom prst="roundRect">
            <a:avLst>
              <a:gd name="adj" fmla="val 4848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468880" y="22677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96896" y="238658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3081528" y="226771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2505456" y="2788920"/>
            <a:ext cx="1106424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业务事实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3968496" y="2103120"/>
            <a:ext cx="1508760" cy="2194560"/>
          </a:xfrm>
          <a:prstGeom prst="roundRect">
            <a:avLst>
              <a:gd name="adj" fmla="val 4848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133088" y="22677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61104" y="238658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4745736" y="226771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4169664" y="2788920"/>
            <a:ext cx="1106424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制度与经验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5632704" y="2103120"/>
            <a:ext cx="1508760" cy="2194560"/>
          </a:xfrm>
          <a:prstGeom prst="roundRect">
            <a:avLst>
              <a:gd name="adj" fmla="val 4848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797296" y="22677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25312" y="2386584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409944" y="226771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5833872" y="2788920"/>
            <a:ext cx="1106424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系统与动作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7296912" y="2103120"/>
            <a:ext cx="1508760" cy="2194560"/>
          </a:xfrm>
          <a:prstGeom prst="roundRect">
            <a:avLst>
              <a:gd name="adj" fmla="val 4848"/>
            </a:avLst>
          </a:prstGeom>
          <a:solidFill>
            <a:srgbClr val="0D2747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7461504" y="22677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89520" y="2386584"/>
            <a:ext cx="237744" cy="23774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8074152" y="226771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</a:t>
            </a:r>
            <a:endParaRPr lang="en-US" sz="1500" dirty="0"/>
          </a:p>
        </p:txBody>
      </p:sp>
      <p:sp>
        <p:nvSpPr>
          <p:cNvPr id="39" name="Text 32"/>
          <p:cNvSpPr txBox="1"/>
          <p:nvPr/>
        </p:nvSpPr>
        <p:spPr>
          <a:xfrm>
            <a:off x="7498080" y="2788920"/>
            <a:ext cx="1106424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步骤与异常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8961120" y="2103120"/>
            <a:ext cx="1508760" cy="2194560"/>
          </a:xfrm>
          <a:prstGeom prst="roundRect">
            <a:avLst>
              <a:gd name="adj" fmla="val 4848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9125712" y="22677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53728" y="2386584"/>
            <a:ext cx="237744" cy="237744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9738360" y="226771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</a:t>
            </a:r>
            <a:endParaRPr lang="en-US" sz="1500" dirty="0"/>
          </a:p>
        </p:txBody>
      </p:sp>
      <p:sp>
        <p:nvSpPr>
          <p:cNvPr id="44" name="Text 36"/>
          <p:cNvSpPr txBox="1"/>
          <p:nvPr/>
        </p:nvSpPr>
        <p:spPr>
          <a:xfrm>
            <a:off x="9162288" y="2788920"/>
            <a:ext cx="1106424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判断与责任</a:t>
            </a:r>
            <a:endParaRPr lang="en-US" sz="1050" dirty="0"/>
          </a:p>
        </p:txBody>
      </p:sp>
      <p:sp>
        <p:nvSpPr>
          <p:cNvPr id="45" name="Shape 37"/>
          <p:cNvSpPr/>
          <p:nvPr/>
        </p:nvSpPr>
        <p:spPr>
          <a:xfrm>
            <a:off x="10625328" y="2103120"/>
            <a:ext cx="960120" cy="2194560"/>
          </a:xfrm>
          <a:prstGeom prst="roundRect">
            <a:avLst>
              <a:gd name="adj" fmla="val 7619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10789920" y="22677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917936" y="2386584"/>
            <a:ext cx="237744" cy="237744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11402568" y="2267712"/>
            <a:ext cx="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</a:t>
            </a:r>
            <a:endParaRPr lang="en-US" sz="1250" dirty="0"/>
          </a:p>
        </p:txBody>
      </p:sp>
      <p:sp>
        <p:nvSpPr>
          <p:cNvPr id="49" name="Text 40"/>
          <p:cNvSpPr txBox="1"/>
          <p:nvPr/>
        </p:nvSpPr>
        <p:spPr>
          <a:xfrm>
            <a:off x="10826496" y="2788920"/>
            <a:ext cx="557784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</a:t>
            </a:r>
            <a:endParaRPr lang="en-US" sz="900" dirty="0"/>
          </a:p>
        </p:txBody>
      </p:sp>
      <p:sp>
        <p:nvSpPr>
          <p:cNvPr id="50" name="Shape 41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52" name="Text 42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 = 模型 + 数据 + 知识 + 工具 + 流程 + 人机协同 + 治理。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3｜核心工具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Solution Canvas｜方案画布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把机会进一步转化为可实施、可评估的解决方案。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18288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19933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688" y="211226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17320" y="19933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用户与场景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2514600"/>
            <a:ext cx="22494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谁在什么情况下使用？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456432" y="18288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21024" y="19933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49040" y="211226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233672" y="19933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目标与结果</a:t>
            </a:r>
            <a:endParaRPr lang="en-US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3657600" y="2514600"/>
            <a:ext cx="22494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AI要帮助完成什么？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272784" y="18288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437376" y="19933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65392" y="211226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7050024" y="19933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输入与上下文</a:t>
            </a:r>
            <a:endParaRPr lang="en-US" sz="1450" dirty="0"/>
          </a:p>
        </p:txBody>
      </p:sp>
      <p:sp>
        <p:nvSpPr>
          <p:cNvPr id="29" name="Text 24"/>
          <p:cNvSpPr txBox="1"/>
          <p:nvPr/>
        </p:nvSpPr>
        <p:spPr>
          <a:xfrm>
            <a:off x="6473952" y="2514600"/>
            <a:ext cx="22494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需要什么数据和知识？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9089136" y="1828800"/>
            <a:ext cx="2450592" cy="1234440"/>
          </a:xfrm>
          <a:prstGeom prst="roundRect">
            <a:avLst>
              <a:gd name="adj" fmla="val 5926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9253728" y="19933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81744" y="2112264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9866376" y="1993392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AI能力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9290304" y="2514600"/>
            <a:ext cx="204825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 / 生成 / 判断 / 执行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640080" y="3456432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804672" y="3621024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2688" y="3739896"/>
            <a:ext cx="237744" cy="23774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417320" y="362102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工具与系统</a:t>
            </a:r>
            <a:endParaRPr lang="en-US" sz="1450" dirty="0"/>
          </a:p>
        </p:txBody>
      </p:sp>
      <p:sp>
        <p:nvSpPr>
          <p:cNvPr id="39" name="Text 32"/>
          <p:cNvSpPr txBox="1"/>
          <p:nvPr/>
        </p:nvSpPr>
        <p:spPr>
          <a:xfrm>
            <a:off x="841248" y="4142232"/>
            <a:ext cx="22494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需要连接哪些业务系统？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3456432" y="3456432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0D2747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3621024" y="3621024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49040" y="3739896"/>
            <a:ext cx="237744" cy="237744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4233672" y="362102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流程与状态</a:t>
            </a:r>
            <a:endParaRPr lang="en-US" sz="1450" dirty="0"/>
          </a:p>
        </p:txBody>
      </p:sp>
      <p:sp>
        <p:nvSpPr>
          <p:cNvPr id="44" name="Text 36"/>
          <p:cNvSpPr txBox="1"/>
          <p:nvPr/>
        </p:nvSpPr>
        <p:spPr>
          <a:xfrm>
            <a:off x="3657600" y="4142232"/>
            <a:ext cx="22494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步骤、异常与任务状态如何管理？</a:t>
            </a:r>
            <a:endParaRPr lang="en-US" sz="1050" dirty="0"/>
          </a:p>
        </p:txBody>
      </p:sp>
      <p:sp>
        <p:nvSpPr>
          <p:cNvPr id="45" name="Shape 37"/>
          <p:cNvSpPr/>
          <p:nvPr/>
        </p:nvSpPr>
        <p:spPr>
          <a:xfrm>
            <a:off x="6272784" y="3456432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6437376" y="3621024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65392" y="3739896"/>
            <a:ext cx="237744" cy="237744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7050024" y="362102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人机控制</a:t>
            </a:r>
            <a:endParaRPr lang="en-US" sz="1450" dirty="0"/>
          </a:p>
        </p:txBody>
      </p:sp>
      <p:sp>
        <p:nvSpPr>
          <p:cNvPr id="49" name="Text 40"/>
          <p:cNvSpPr txBox="1"/>
          <p:nvPr/>
        </p:nvSpPr>
        <p:spPr>
          <a:xfrm>
            <a:off x="6473952" y="4142232"/>
            <a:ext cx="22494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何时确认、升级与停止？</a:t>
            </a:r>
            <a:endParaRPr lang="en-US" sz="1050" dirty="0"/>
          </a:p>
        </p:txBody>
      </p:sp>
      <p:sp>
        <p:nvSpPr>
          <p:cNvPr id="50" name="Shape 41"/>
          <p:cNvSpPr/>
          <p:nvPr/>
        </p:nvSpPr>
        <p:spPr>
          <a:xfrm>
            <a:off x="9089136" y="3456432"/>
            <a:ext cx="2450592" cy="1234440"/>
          </a:xfrm>
          <a:prstGeom prst="roundRect">
            <a:avLst>
              <a:gd name="adj" fmla="val 5926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51" name="Shape 42"/>
          <p:cNvSpPr/>
          <p:nvPr/>
        </p:nvSpPr>
        <p:spPr>
          <a:xfrm>
            <a:off x="9253728" y="3621024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381744" y="3739896"/>
            <a:ext cx="237744" cy="237744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9866376" y="3621024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评估指标</a:t>
            </a:r>
            <a:endParaRPr lang="en-US" sz="1400" dirty="0"/>
          </a:p>
        </p:txBody>
      </p:sp>
      <p:sp>
        <p:nvSpPr>
          <p:cNvPr id="54" name="Text 44"/>
          <p:cNvSpPr txBox="1"/>
          <p:nvPr/>
        </p:nvSpPr>
        <p:spPr>
          <a:xfrm>
            <a:off x="9290304" y="4142232"/>
            <a:ext cx="204825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如何证明成功？</a:t>
            </a:r>
            <a:endParaRPr lang="en-US" sz="1050" dirty="0"/>
          </a:p>
        </p:txBody>
      </p:sp>
      <p:sp>
        <p:nvSpPr>
          <p:cNvPr id="55" name="Shape 45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57" name="Text 46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Solution Canvas的价值是让业务、产品、数据和技术团队使用同一张图协作。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3｜Agent设计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 Agent 的六步法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从业务目标开始，而不是从框架和工具开始。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51560" y="3200400"/>
            <a:ext cx="10058400" cy="0"/>
          </a:xfrm>
          <a:prstGeom prst="line">
            <a:avLst/>
          </a:prstGeom>
          <a:noFill/>
          <a:ln w="25400">
            <a:solidFill>
              <a:srgbClr val="183C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2852928"/>
            <a:ext cx="658368" cy="658368"/>
          </a:xfrm>
          <a:prstGeom prst="ellipse">
            <a:avLst/>
          </a:prstGeom>
          <a:solidFill>
            <a:srgbClr val="0B2039"/>
          </a:solidFill>
          <a:ln w="15240">
            <a:solidFill>
              <a:srgbClr val="35D49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29809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" y="19933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定义目标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46888" y="363931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用户、范围、成功标准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71800" y="2852928"/>
            <a:ext cx="658368" cy="658368"/>
          </a:xfrm>
          <a:prstGeom prst="ellipse">
            <a:avLst/>
          </a:prstGeom>
          <a:solidFill>
            <a:srgbClr val="0B2039"/>
          </a:solidFill>
          <a:ln w="15240">
            <a:solidFill>
              <a:srgbClr val="2E9B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71800" y="29809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331720" y="19933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拆解任务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258568" y="363931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步骤、依赖与异常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83480" y="2852928"/>
            <a:ext cx="658368" cy="658368"/>
          </a:xfrm>
          <a:prstGeom prst="ellipse">
            <a:avLst/>
          </a:prstGeom>
          <a:solidFill>
            <a:srgbClr val="0B2039"/>
          </a:solidFill>
          <a:ln w="15240">
            <a:solidFill>
              <a:srgbClr val="2BD7D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83480" y="29809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343400" y="19933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配置知识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270248" y="363931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数据、资料与规则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95160" y="2852928"/>
            <a:ext cx="658368" cy="658368"/>
          </a:xfrm>
          <a:prstGeom prst="ellipse">
            <a:avLst/>
          </a:prstGeom>
          <a:solidFill>
            <a:srgbClr val="0B2039"/>
          </a:solidFill>
          <a:ln w="15240">
            <a:solidFill>
              <a:srgbClr val="8C6C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95160" y="29809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19933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连接工具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281928" y="363931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系统、API与权限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006840" y="2852928"/>
            <a:ext cx="658368" cy="658368"/>
          </a:xfrm>
          <a:prstGeom prst="ellipse">
            <a:avLst/>
          </a:prstGeom>
          <a:solidFill>
            <a:srgbClr val="0B2039"/>
          </a:solidFill>
          <a:ln w="15240">
            <a:solidFill>
              <a:srgbClr val="FFAA4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006840" y="29809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366760" y="19933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设计控制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293608" y="363931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确认、升级、回滚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1018520" y="2852928"/>
            <a:ext cx="658368" cy="658368"/>
          </a:xfrm>
          <a:prstGeom prst="ellipse">
            <a:avLst/>
          </a:prstGeom>
          <a:solidFill>
            <a:srgbClr val="0B2039"/>
          </a:solidFill>
          <a:ln w="15240">
            <a:solidFill>
              <a:srgbClr val="35D49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1018520" y="29809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378440" y="19933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建立评估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0305288" y="363931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质量、成本与业务结果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42" name="Text 39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先把任务和控制设计清楚，再决定模型、框架和技术实现。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3｜企业架构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 Agent 应用架构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可靠性来自工作系统，而不是单次模型回答。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60520" y="178308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0B2C35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25112" y="194767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53128" y="206654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4937760" y="194767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业务目标与成功标准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5824728" y="2606040"/>
            <a:ext cx="502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3886200" y="2816352"/>
            <a:ext cx="4389120" cy="960120"/>
          </a:xfrm>
          <a:prstGeom prst="roundRect">
            <a:avLst>
              <a:gd name="adj" fmla="val 7619"/>
            </a:avLst>
          </a:prstGeom>
          <a:solidFill>
            <a:srgbClr val="171E42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050792" y="2980944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78808" y="3099816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663440" y="298094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Runtime / Orchestrator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4087368" y="3502152"/>
            <a:ext cx="398678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理解目标 · 管理状态 · 选择下一步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40080" y="40690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B203B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04672" y="423367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2688" y="435254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417320" y="42336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1248" y="4754880"/>
            <a:ext cx="211226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企业资料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3493008" y="40690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B203B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3657600" y="423367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85616" y="4352544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4270248" y="42336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3694176" y="4754880"/>
            <a:ext cx="211226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业务系统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6345936" y="40690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B203B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6510528" y="423367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38544" y="4352544"/>
            <a:ext cx="237744" cy="23774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7123176" y="42336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</a:t>
            </a:r>
            <a:endParaRPr lang="en-US" sz="1400" dirty="0"/>
          </a:p>
        </p:txBody>
      </p:sp>
      <p:sp>
        <p:nvSpPr>
          <p:cNvPr id="39" name="Text 32"/>
          <p:cNvSpPr txBox="1"/>
          <p:nvPr/>
        </p:nvSpPr>
        <p:spPr>
          <a:xfrm>
            <a:off x="6547104" y="4754880"/>
            <a:ext cx="211226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任务状态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9198864" y="40690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B203B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9363456" y="423367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91472" y="4352544"/>
            <a:ext cx="237744" cy="237744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9976104" y="42336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</a:t>
            </a:r>
            <a:endParaRPr lang="en-US" sz="1400" dirty="0"/>
          </a:p>
        </p:txBody>
      </p:sp>
      <p:sp>
        <p:nvSpPr>
          <p:cNvPr id="44" name="Text 36"/>
          <p:cNvSpPr txBox="1"/>
          <p:nvPr/>
        </p:nvSpPr>
        <p:spPr>
          <a:xfrm>
            <a:off x="9400032" y="4754880"/>
            <a:ext cx="211226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SOP与异常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8796528" y="187452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0B2C35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8961120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089136" y="2157984"/>
            <a:ext cx="237744" cy="237744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9573768" y="203911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人工控制与治理</a:t>
            </a:r>
            <a:endParaRPr lang="en-US" sz="1500" dirty="0"/>
          </a:p>
        </p:txBody>
      </p:sp>
      <p:sp>
        <p:nvSpPr>
          <p:cNvPr id="49" name="Text 40"/>
          <p:cNvSpPr txBox="1"/>
          <p:nvPr/>
        </p:nvSpPr>
        <p:spPr>
          <a:xfrm>
            <a:off x="8997696" y="2560320"/>
            <a:ext cx="2249424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 · 确认 · 日志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 · 升级 · 回滚</a:t>
            </a:r>
            <a:endParaRPr lang="en-US" sz="1100" dirty="0"/>
          </a:p>
        </p:txBody>
      </p:sp>
      <p:sp>
        <p:nvSpPr>
          <p:cNvPr id="50" name="Shape 41"/>
          <p:cNvSpPr/>
          <p:nvPr/>
        </p:nvSpPr>
        <p:spPr>
          <a:xfrm>
            <a:off x="685800" y="187452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0B203B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51" name="Shape 42"/>
          <p:cNvSpPr/>
          <p:nvPr/>
        </p:nvSpPr>
        <p:spPr>
          <a:xfrm>
            <a:off x="85039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8408" y="2157984"/>
            <a:ext cx="237744" cy="237744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1463040" y="203911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企业数据与系统</a:t>
            </a:r>
            <a:endParaRPr lang="en-US" sz="1500" dirty="0"/>
          </a:p>
        </p:txBody>
      </p:sp>
      <p:sp>
        <p:nvSpPr>
          <p:cNvPr id="54" name="Text 44"/>
          <p:cNvSpPr txBox="1"/>
          <p:nvPr/>
        </p:nvSpPr>
        <p:spPr>
          <a:xfrm>
            <a:off x="886968" y="2560320"/>
            <a:ext cx="2249424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CRM · ERP · 文档库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 · 数据库 · SaaS</a:t>
            </a:r>
            <a:endParaRPr lang="en-US" sz="1100" dirty="0"/>
          </a:p>
        </p:txBody>
      </p:sp>
      <p:sp>
        <p:nvSpPr>
          <p:cNvPr id="55" name="Shape 45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57" name="Text 46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企业Agent项目，本质是业务流程重新设计项目。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3｜人机协同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Human-in-the-Loop：人工控制放在哪里？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人工控制不是一个按钮，而是一套风险分层设计。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187452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408" y="215798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63040" y="203911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输入控制</a:t>
            </a:r>
            <a:endParaRPr lang="en-US" sz="1620" dirty="0"/>
          </a:p>
        </p:txBody>
      </p:sp>
      <p:sp>
        <p:nvSpPr>
          <p:cNvPr id="19" name="Text 16"/>
          <p:cNvSpPr txBox="1"/>
          <p:nvPr/>
        </p:nvSpPr>
        <p:spPr>
          <a:xfrm>
            <a:off x="886968" y="256032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限制数据、权限和可使用的工具。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217920" y="187452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8251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0528" y="215798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995160" y="203911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过程控制</a:t>
            </a:r>
            <a:endParaRPr lang="en-US" sz="1620" dirty="0"/>
          </a:p>
        </p:txBody>
      </p:sp>
      <p:sp>
        <p:nvSpPr>
          <p:cNvPr id="24" name="Text 20"/>
          <p:cNvSpPr txBox="1"/>
          <p:nvPr/>
        </p:nvSpPr>
        <p:spPr>
          <a:xfrm>
            <a:off x="6419088" y="256032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关键节点确认、异常升级和停止条件。</a:t>
            </a:r>
            <a:endParaRPr lang="en-US" sz="1080" dirty="0"/>
          </a:p>
        </p:txBody>
      </p:sp>
      <p:sp>
        <p:nvSpPr>
          <p:cNvPr id="25" name="Shape 21"/>
          <p:cNvSpPr/>
          <p:nvPr/>
        </p:nvSpPr>
        <p:spPr>
          <a:xfrm>
            <a:off x="685800" y="374904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50392" y="39136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8408" y="403250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463040" y="39136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结果控制</a:t>
            </a:r>
            <a:endParaRPr lang="en-US" sz="1620" dirty="0"/>
          </a:p>
        </p:txBody>
      </p:sp>
      <p:sp>
        <p:nvSpPr>
          <p:cNvPr id="29" name="Text 24"/>
          <p:cNvSpPr txBox="1"/>
          <p:nvPr/>
        </p:nvSpPr>
        <p:spPr>
          <a:xfrm>
            <a:off x="886968" y="443484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质量检查、业务复核和证据留存。</a:t>
            </a:r>
            <a:endParaRPr lang="en-US" sz="1080" dirty="0"/>
          </a:p>
        </p:txBody>
      </p:sp>
      <p:sp>
        <p:nvSpPr>
          <p:cNvPr id="30" name="Shape 25"/>
          <p:cNvSpPr/>
          <p:nvPr/>
        </p:nvSpPr>
        <p:spPr>
          <a:xfrm>
            <a:off x="6217920" y="374904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382512" y="39136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0528" y="4032504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995160" y="39136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责任控制</a:t>
            </a:r>
            <a:endParaRPr lang="en-US" sz="1620" dirty="0"/>
          </a:p>
        </p:txBody>
      </p:sp>
      <p:sp>
        <p:nvSpPr>
          <p:cNvPr id="34" name="Text 28"/>
          <p:cNvSpPr txBox="1"/>
          <p:nvPr/>
        </p:nvSpPr>
        <p:spPr>
          <a:xfrm>
            <a:off x="6419088" y="443484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明确Owner、授权边界和最终责任。</a:t>
            </a:r>
            <a:endParaRPr lang="en-US" sz="1080" dirty="0"/>
          </a:p>
        </p:txBody>
      </p:sp>
      <p:sp>
        <p:nvSpPr>
          <p:cNvPr id="35" name="Shape 2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控制不是为了降低AI能力，而是为了让能力可以安全进入真实业务。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3｜准备度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数据与知识准备：AI能力的上限来自基础质量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不要把所有问题都归因于模型。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187452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408" y="215798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63040" y="203911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可访问</a:t>
            </a:r>
            <a:endParaRPr lang="en-US" sz="1620" dirty="0"/>
          </a:p>
        </p:txBody>
      </p:sp>
      <p:sp>
        <p:nvSpPr>
          <p:cNvPr id="19" name="Text 16"/>
          <p:cNvSpPr txBox="1"/>
          <p:nvPr/>
        </p:nvSpPr>
        <p:spPr>
          <a:xfrm>
            <a:off x="886968" y="256032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数据在哪里？AI是否能够合法、安全地读取？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217920" y="187452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8251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0528" y="215798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995160" y="203911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可理解</a:t>
            </a:r>
            <a:endParaRPr lang="en-US" sz="1620" dirty="0"/>
          </a:p>
        </p:txBody>
      </p:sp>
      <p:sp>
        <p:nvSpPr>
          <p:cNvPr id="24" name="Text 20"/>
          <p:cNvSpPr txBox="1"/>
          <p:nvPr/>
        </p:nvSpPr>
        <p:spPr>
          <a:xfrm>
            <a:off x="6419088" y="256032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字段、口径和文档结构是否清晰？</a:t>
            </a:r>
            <a:endParaRPr lang="en-US" sz="1080" dirty="0"/>
          </a:p>
        </p:txBody>
      </p:sp>
      <p:sp>
        <p:nvSpPr>
          <p:cNvPr id="25" name="Shape 21"/>
          <p:cNvSpPr/>
          <p:nvPr/>
        </p:nvSpPr>
        <p:spPr>
          <a:xfrm>
            <a:off x="685800" y="374904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50392" y="39136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8408" y="403250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463040" y="39136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可信任</a:t>
            </a:r>
            <a:endParaRPr lang="en-US" sz="1620" dirty="0"/>
          </a:p>
        </p:txBody>
      </p:sp>
      <p:sp>
        <p:nvSpPr>
          <p:cNvPr id="29" name="Text 24"/>
          <p:cNvSpPr txBox="1"/>
          <p:nvPr/>
        </p:nvSpPr>
        <p:spPr>
          <a:xfrm>
            <a:off x="886968" y="443484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是否准确、完整、及时、可追溯？</a:t>
            </a:r>
            <a:endParaRPr lang="en-US" sz="1080" dirty="0"/>
          </a:p>
        </p:txBody>
      </p:sp>
      <p:sp>
        <p:nvSpPr>
          <p:cNvPr id="30" name="Shape 25"/>
          <p:cNvSpPr/>
          <p:nvPr/>
        </p:nvSpPr>
        <p:spPr>
          <a:xfrm>
            <a:off x="6217920" y="374904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382512" y="39136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0528" y="4032504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995160" y="39136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可运营</a:t>
            </a:r>
            <a:endParaRPr lang="en-US" sz="1620" dirty="0"/>
          </a:p>
        </p:txBody>
      </p:sp>
      <p:sp>
        <p:nvSpPr>
          <p:cNvPr id="34" name="Text 28"/>
          <p:cNvSpPr txBox="1"/>
          <p:nvPr/>
        </p:nvSpPr>
        <p:spPr>
          <a:xfrm>
            <a:off x="6419088" y="443484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谁负责更新、纠错、下线和权限管理？</a:t>
            </a:r>
            <a:endParaRPr lang="en-US" sz="1080" dirty="0"/>
          </a:p>
        </p:txBody>
      </p:sp>
      <p:sp>
        <p:nvSpPr>
          <p:cNvPr id="35" name="Shape 2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“知识库建完了”不是终点，真正重要的是持续运营和质量治理。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3｜治理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安全与治理必须从第一天设计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能力、权限和责任必须同步增长。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187452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408" y="215798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63040" y="203911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权限最小化</a:t>
            </a:r>
            <a:endParaRPr lang="en-US" sz="1620" dirty="0"/>
          </a:p>
        </p:txBody>
      </p:sp>
      <p:sp>
        <p:nvSpPr>
          <p:cNvPr id="19" name="Text 16"/>
          <p:cNvSpPr txBox="1"/>
          <p:nvPr/>
        </p:nvSpPr>
        <p:spPr>
          <a:xfrm>
            <a:off x="886968" y="256032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只开放完成任务所需的最小数据和工具。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217920" y="187452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8251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0528" y="215798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995160" y="203911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全链路留痕</a:t>
            </a:r>
            <a:endParaRPr lang="en-US" sz="1620" dirty="0"/>
          </a:p>
        </p:txBody>
      </p:sp>
      <p:sp>
        <p:nvSpPr>
          <p:cNvPr id="24" name="Text 20"/>
          <p:cNvSpPr txBox="1"/>
          <p:nvPr/>
        </p:nvSpPr>
        <p:spPr>
          <a:xfrm>
            <a:off x="6419088" y="256032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记录输入、工具调用、决策和结果。</a:t>
            </a:r>
            <a:endParaRPr lang="en-US" sz="1080" dirty="0"/>
          </a:p>
        </p:txBody>
      </p:sp>
      <p:sp>
        <p:nvSpPr>
          <p:cNvPr id="25" name="Shape 21"/>
          <p:cNvSpPr/>
          <p:nvPr/>
        </p:nvSpPr>
        <p:spPr>
          <a:xfrm>
            <a:off x="685800" y="374904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50392" y="39136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8408" y="403250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463040" y="39136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失败可恢复</a:t>
            </a:r>
            <a:endParaRPr lang="en-US" sz="1620" dirty="0"/>
          </a:p>
        </p:txBody>
      </p:sp>
      <p:sp>
        <p:nvSpPr>
          <p:cNvPr id="29" name="Text 24"/>
          <p:cNvSpPr txBox="1"/>
          <p:nvPr/>
        </p:nvSpPr>
        <p:spPr>
          <a:xfrm>
            <a:off x="886968" y="443484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重试、停止、回滚和人工接管。</a:t>
            </a:r>
            <a:endParaRPr lang="en-US" sz="1080" dirty="0"/>
          </a:p>
        </p:txBody>
      </p:sp>
      <p:sp>
        <p:nvSpPr>
          <p:cNvPr id="30" name="Shape 25"/>
          <p:cNvSpPr/>
          <p:nvPr/>
        </p:nvSpPr>
        <p:spPr>
          <a:xfrm>
            <a:off x="6217920" y="374904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382512" y="39136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0528" y="4032504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995160" y="39136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评估与监控</a:t>
            </a:r>
            <a:endParaRPr lang="en-US" sz="1620" dirty="0"/>
          </a:p>
        </p:txBody>
      </p:sp>
      <p:sp>
        <p:nvSpPr>
          <p:cNvPr id="34" name="Text 28"/>
          <p:cNvSpPr txBox="1"/>
          <p:nvPr/>
        </p:nvSpPr>
        <p:spPr>
          <a:xfrm>
            <a:off x="6419088" y="443484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质量、风险、成本和业务指标持续监测。</a:t>
            </a:r>
            <a:endParaRPr lang="en-US" sz="1080" dirty="0"/>
          </a:p>
        </p:txBody>
      </p:sp>
      <p:sp>
        <p:nvSpPr>
          <p:cNvPr id="35" name="Shape 2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治理不是项目上线前的最后检查，而是AI工作系统的一部分。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3｜验证价值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不要做 Demo，要做业务验证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两者验证的是完全不同的问题。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1783080"/>
            <a:ext cx="49377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1783080"/>
            <a:ext cx="49377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AI重新设计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2148840"/>
            <a:ext cx="5074920" cy="2926080"/>
          </a:xfrm>
          <a:prstGeom prst="roundRect">
            <a:avLst>
              <a:gd name="adj" fmla="val 2500"/>
            </a:avLst>
          </a:prstGeom>
          <a:solidFill>
            <a:srgbClr val="0A1D35"/>
          </a:solidFill>
          <a:ln w="12700">
            <a:solidFill>
              <a:srgbClr val="607A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832" y="23134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607A9A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9848" y="2432304"/>
            <a:ext cx="237744" cy="23774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554480" y="23134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978408" y="2834640"/>
            <a:ext cx="4672584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证明AI“能不能做”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效果看起来不错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缺少真实流程与用户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没有稳定指标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897880" y="3364992"/>
            <a:ext cx="502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6400800" y="2148840"/>
            <a:ext cx="4983480" cy="2926080"/>
          </a:xfrm>
          <a:prstGeom prst="roundRect">
            <a:avLst>
              <a:gd name="adj" fmla="val 2500"/>
            </a:avLst>
          </a:prstGeom>
          <a:solidFill>
            <a:srgbClr val="0D294A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65392" y="23134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3408" y="2432304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178040" y="23134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/ Pilot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6601968" y="2834640"/>
            <a:ext cx="4581144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证明业务“值不值得做”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真实用户与数据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嵌入关键流程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有基线和成功标准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Demo制造兴奋；业务验证建立投资决策所需的证据。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3｜价值评估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AI价值的四层证据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从“好不好用”，逐步走向“是否改变业务结果”。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446227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482803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5376672"/>
            <a:ext cx="1627632" cy="-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满意度、采用率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71800" y="3721608"/>
            <a:ext cx="1965960" cy="1353312"/>
          </a:xfrm>
          <a:prstGeom prst="roundRect">
            <a:avLst>
              <a:gd name="adj" fmla="val 5405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36392" y="38862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136392" y="425196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136392" y="4800600"/>
            <a:ext cx="16276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时间与人工成本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12080" y="3145536"/>
            <a:ext cx="1965960" cy="1929384"/>
          </a:xfrm>
          <a:prstGeom prst="roundRect">
            <a:avLst>
              <a:gd name="adj" fmla="val 3791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76672" y="33101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376672" y="367588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376672" y="422452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准确率与一致性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52360" y="2569464"/>
            <a:ext cx="1965960" cy="2505456"/>
          </a:xfrm>
          <a:prstGeom prst="roundRect">
            <a:avLst>
              <a:gd name="adj" fmla="val 372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16952" y="273405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616952" y="3099816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616952" y="3648456"/>
            <a:ext cx="162763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收入、成本、风险、客户价值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只有业务结果发生变化，AI项目才真正从技术试验走向企业投资。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3｜ROI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AI项目价值模型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不能量化的价值，也可以先定义代理指标。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187452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408" y="215798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63040" y="203911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节省成本</a:t>
            </a:r>
            <a:endParaRPr lang="en-US" sz="1620" dirty="0"/>
          </a:p>
        </p:txBody>
      </p:sp>
      <p:sp>
        <p:nvSpPr>
          <p:cNvPr id="19" name="Text 16"/>
          <p:cNvSpPr txBox="1"/>
          <p:nvPr/>
        </p:nvSpPr>
        <p:spPr>
          <a:xfrm>
            <a:off x="886968" y="256032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减少重复劳动、外包、返工和等待。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217920" y="187452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8251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0528" y="215798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995160" y="203911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提升收入</a:t>
            </a:r>
            <a:endParaRPr lang="en-US" sz="1620" dirty="0"/>
          </a:p>
        </p:txBody>
      </p:sp>
      <p:sp>
        <p:nvSpPr>
          <p:cNvPr id="24" name="Text 20"/>
          <p:cNvSpPr txBox="1"/>
          <p:nvPr/>
        </p:nvSpPr>
        <p:spPr>
          <a:xfrm>
            <a:off x="6419088" y="256032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提高转化、客单、留存和服务能力。</a:t>
            </a:r>
            <a:endParaRPr lang="en-US" sz="1080" dirty="0"/>
          </a:p>
        </p:txBody>
      </p:sp>
      <p:sp>
        <p:nvSpPr>
          <p:cNvPr id="25" name="Shape 21"/>
          <p:cNvSpPr/>
          <p:nvPr/>
        </p:nvSpPr>
        <p:spPr>
          <a:xfrm>
            <a:off x="685800" y="374904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50392" y="39136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8408" y="403250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463040" y="39136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降低风险</a:t>
            </a:r>
            <a:endParaRPr lang="en-US" sz="1620" dirty="0"/>
          </a:p>
        </p:txBody>
      </p:sp>
      <p:sp>
        <p:nvSpPr>
          <p:cNvPr id="29" name="Text 24"/>
          <p:cNvSpPr txBox="1"/>
          <p:nvPr/>
        </p:nvSpPr>
        <p:spPr>
          <a:xfrm>
            <a:off x="886968" y="443484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提前发现异常、减少错误和合规暴露。</a:t>
            </a:r>
            <a:endParaRPr lang="en-US" sz="1080" dirty="0"/>
          </a:p>
        </p:txBody>
      </p:sp>
      <p:sp>
        <p:nvSpPr>
          <p:cNvPr id="30" name="Shape 25"/>
          <p:cNvSpPr/>
          <p:nvPr/>
        </p:nvSpPr>
        <p:spPr>
          <a:xfrm>
            <a:off x="6217920" y="374904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382512" y="39136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0528" y="4032504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995160" y="39136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改善体验</a:t>
            </a:r>
            <a:endParaRPr lang="en-US" sz="1620" dirty="0"/>
          </a:p>
        </p:txBody>
      </p:sp>
      <p:sp>
        <p:nvSpPr>
          <p:cNvPr id="34" name="Text 28"/>
          <p:cNvSpPr txBox="1"/>
          <p:nvPr/>
        </p:nvSpPr>
        <p:spPr>
          <a:xfrm>
            <a:off x="6419088" y="443484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更快响应、更个性化、更连续。</a:t>
            </a:r>
            <a:endParaRPr lang="en-US" sz="1080" dirty="0"/>
          </a:p>
        </p:txBody>
      </p:sp>
      <p:sp>
        <p:nvSpPr>
          <p:cNvPr id="35" name="Shape 2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 = 可量化收益 + 风险降低 + 能力建设 − 全生命周期成本。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3｜PoC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4–8周 AI PoC：快速验证，而不是缩水版生产系统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范围小、目标清、指标明、学习快。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51560" y="3200400"/>
            <a:ext cx="10058400" cy="0"/>
          </a:xfrm>
          <a:prstGeom prst="line">
            <a:avLst/>
          </a:prstGeom>
          <a:noFill/>
          <a:ln w="25400">
            <a:solidFill>
              <a:srgbClr val="183C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2852928"/>
            <a:ext cx="658368" cy="658368"/>
          </a:xfrm>
          <a:prstGeom prst="ellipse">
            <a:avLst/>
          </a:prstGeom>
          <a:solidFill>
            <a:srgbClr val="0B2039"/>
          </a:solidFill>
          <a:ln w="15240">
            <a:solidFill>
              <a:srgbClr val="2E9B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29809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" y="19933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第1周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46888" y="363931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目标、用户、基线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71800" y="2852928"/>
            <a:ext cx="658368" cy="658368"/>
          </a:xfrm>
          <a:prstGeom prst="ellipse">
            <a:avLst/>
          </a:prstGeom>
          <a:solidFill>
            <a:srgbClr val="0B2039"/>
          </a:solidFill>
          <a:ln w="15240">
            <a:solidFill>
              <a:srgbClr val="2BD7D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71800" y="29809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331720" y="19933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第2周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258568" y="363931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数据与流程准备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83480" y="2852928"/>
            <a:ext cx="658368" cy="658368"/>
          </a:xfrm>
          <a:prstGeom prst="ellipse">
            <a:avLst/>
          </a:prstGeom>
          <a:solidFill>
            <a:srgbClr val="0B2039"/>
          </a:solidFill>
          <a:ln w="15240">
            <a:solidFill>
              <a:srgbClr val="8C6C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83480" y="29809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343400" y="19933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第3–4周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270248" y="363931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构建与内部测试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95160" y="2852928"/>
            <a:ext cx="658368" cy="658368"/>
          </a:xfrm>
          <a:prstGeom prst="ellipse">
            <a:avLst/>
          </a:prstGeom>
          <a:solidFill>
            <a:srgbClr val="0B2039"/>
          </a:solidFill>
          <a:ln w="15240">
            <a:solidFill>
              <a:srgbClr val="FFAA4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95160" y="29809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19933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第5–6周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281928" y="363931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真实用户试点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006840" y="2852928"/>
            <a:ext cx="658368" cy="658368"/>
          </a:xfrm>
          <a:prstGeom prst="ellipse">
            <a:avLst/>
          </a:prstGeom>
          <a:solidFill>
            <a:srgbClr val="0B2039"/>
          </a:solidFill>
          <a:ln w="15240">
            <a:solidFill>
              <a:srgbClr val="35D49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006840" y="29809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366760" y="19933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第7周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293608" y="363931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评估与问题修正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1018520" y="2852928"/>
            <a:ext cx="658368" cy="658368"/>
          </a:xfrm>
          <a:prstGeom prst="ellipse">
            <a:avLst/>
          </a:prstGeom>
          <a:solidFill>
            <a:srgbClr val="0B2039"/>
          </a:solidFill>
          <a:ln w="15240">
            <a:solidFill>
              <a:srgbClr val="2E9B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1018520" y="29809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378440" y="19933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第8周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0305288" y="363931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投资决策与下一步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42" name="Text 39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PoC的目的不是“交付一个功能”，而是降低下一步投资的不确定性。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3｜验收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AI项目验收清单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成功不是“模型能回答”，而是系统、用户、业务和治理共同通过。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187452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408" y="215798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63040" y="203911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业务有效</a:t>
            </a:r>
            <a:endParaRPr lang="en-US" sz="1620" dirty="0"/>
          </a:p>
        </p:txBody>
      </p:sp>
      <p:sp>
        <p:nvSpPr>
          <p:cNvPr id="19" name="Text 16"/>
          <p:cNvSpPr txBox="1"/>
          <p:nvPr/>
        </p:nvSpPr>
        <p:spPr>
          <a:xfrm>
            <a:off x="886968" y="256032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是否解决真实问题？指标是否改善？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217920" y="187452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8251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0528" y="215798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995160" y="203911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用户接受</a:t>
            </a:r>
            <a:endParaRPr lang="en-US" sz="1620" dirty="0"/>
          </a:p>
        </p:txBody>
      </p:sp>
      <p:sp>
        <p:nvSpPr>
          <p:cNvPr id="24" name="Text 20"/>
          <p:cNvSpPr txBox="1"/>
          <p:nvPr/>
        </p:nvSpPr>
        <p:spPr>
          <a:xfrm>
            <a:off x="6419088" y="256032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是否愿意使用？是否融入工作？</a:t>
            </a:r>
            <a:endParaRPr lang="en-US" sz="1080" dirty="0"/>
          </a:p>
        </p:txBody>
      </p:sp>
      <p:sp>
        <p:nvSpPr>
          <p:cNvPr id="25" name="Shape 21"/>
          <p:cNvSpPr/>
          <p:nvPr/>
        </p:nvSpPr>
        <p:spPr>
          <a:xfrm>
            <a:off x="685800" y="374904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50392" y="39136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8408" y="403250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463040" y="39136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技术稳定</a:t>
            </a:r>
            <a:endParaRPr lang="en-US" sz="1620" dirty="0"/>
          </a:p>
        </p:txBody>
      </p:sp>
      <p:sp>
        <p:nvSpPr>
          <p:cNvPr id="29" name="Text 24"/>
          <p:cNvSpPr txBox="1"/>
          <p:nvPr/>
        </p:nvSpPr>
        <p:spPr>
          <a:xfrm>
            <a:off x="886968" y="443484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质量、延迟、成本和失败率是否可控？</a:t>
            </a:r>
            <a:endParaRPr lang="en-US" sz="1080" dirty="0"/>
          </a:p>
        </p:txBody>
      </p:sp>
      <p:sp>
        <p:nvSpPr>
          <p:cNvPr id="30" name="Shape 25"/>
          <p:cNvSpPr/>
          <p:nvPr/>
        </p:nvSpPr>
        <p:spPr>
          <a:xfrm>
            <a:off x="6217920" y="374904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382512" y="39136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0528" y="4032504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995160" y="39136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治理合格</a:t>
            </a:r>
            <a:endParaRPr lang="en-US" sz="1620" dirty="0"/>
          </a:p>
        </p:txBody>
      </p:sp>
      <p:sp>
        <p:nvSpPr>
          <p:cNvPr id="34" name="Text 28"/>
          <p:cNvSpPr txBox="1"/>
          <p:nvPr/>
        </p:nvSpPr>
        <p:spPr>
          <a:xfrm>
            <a:off x="6419088" y="443484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权限、日志、隐私、回滚是否完善？</a:t>
            </a:r>
            <a:endParaRPr lang="en-US" sz="1080" dirty="0"/>
          </a:p>
        </p:txBody>
      </p:sp>
      <p:sp>
        <p:nvSpPr>
          <p:cNvPr id="35" name="Shape 2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验收后的决策可以是：扩大、修正、转向或停止；停止失败项目也是价值。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3｜规模化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从一个AI案例，到企业AI能力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不要建设100个彼此孤立的AI工具。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914400" y="315468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0B1E36"/>
          </a:solidFill>
          <a:ln w="12700">
            <a:solidFill>
              <a:srgbClr val="607A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8992" y="331927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607A9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008" y="343814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691640" y="331927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孤立项目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1115568" y="3840480"/>
            <a:ext cx="389534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重复建设、数据割裂、缺少治理、维护成本持续上升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3611880"/>
            <a:ext cx="502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6446520" y="3154680"/>
            <a:ext cx="4572000" cy="1417320"/>
          </a:xfrm>
          <a:prstGeom prst="roundRect">
            <a:avLst>
              <a:gd name="adj" fmla="val 5161"/>
            </a:avLst>
          </a:prstGeom>
          <a:solidFill>
            <a:srgbClr val="0D294A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611112" y="331927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9128" y="3438144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223760" y="331927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共享能力体系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6647688" y="3840480"/>
            <a:ext cx="416966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统一知识、连接、评估、权限和可复用组件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规模化的本质，是把项目经验沉淀为平台、方法和组织能力。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3｜路线图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企业AI转型：12个月演进路径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从机会发现到规模化能力建设。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51560" y="3200400"/>
            <a:ext cx="10058400" cy="0"/>
          </a:xfrm>
          <a:prstGeom prst="line">
            <a:avLst/>
          </a:prstGeom>
          <a:noFill/>
          <a:ln w="25400">
            <a:solidFill>
              <a:srgbClr val="183C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2852928"/>
            <a:ext cx="658368" cy="658368"/>
          </a:xfrm>
          <a:prstGeom prst="ellipse">
            <a:avLst/>
          </a:prstGeom>
          <a:solidFill>
            <a:srgbClr val="0B2039"/>
          </a:solidFill>
          <a:ln w="15240">
            <a:solidFill>
              <a:srgbClr val="2E9B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29809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" y="19933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0–3个月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46888" y="363931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认知统一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机会地图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首批PoC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12920" y="2852928"/>
            <a:ext cx="658368" cy="658368"/>
          </a:xfrm>
          <a:prstGeom prst="ellipse">
            <a:avLst/>
          </a:prstGeom>
          <a:solidFill>
            <a:srgbClr val="0B2039"/>
          </a:solidFill>
          <a:ln w="15240">
            <a:solidFill>
              <a:srgbClr val="2BD7D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12920" y="29809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672840" y="19933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3–6个月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599688" y="363931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验证价值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复制Quick Win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建立治理基线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665720" y="2852928"/>
            <a:ext cx="658368" cy="658368"/>
          </a:xfrm>
          <a:prstGeom prst="ellipse">
            <a:avLst/>
          </a:prstGeom>
          <a:solidFill>
            <a:srgbClr val="0B2039"/>
          </a:solidFill>
          <a:ln w="15240">
            <a:solidFill>
              <a:srgbClr val="8C6C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65720" y="29809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025640" y="19933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6–9个月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952488" y="363931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连接核心系统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建设共享能力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扩大场景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1018520" y="2852928"/>
            <a:ext cx="658368" cy="658368"/>
          </a:xfrm>
          <a:prstGeom prst="ellipse">
            <a:avLst/>
          </a:prstGeom>
          <a:solidFill>
            <a:srgbClr val="0B2039"/>
          </a:solidFill>
          <a:ln w="15240">
            <a:solidFill>
              <a:srgbClr val="35D49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018520" y="29809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378440" y="19933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9–12个月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305288" y="363931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形成产品线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组织机制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持续评估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路线图不是时间表承诺，而是根据业务证据不断更新的投资组合。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3｜行动入口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Discovery Workshop：培训之后如何开始？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从认知统一，进入具体业务机会梳理。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13232" y="2423160"/>
            <a:ext cx="1987906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06017" y="2633472"/>
            <a:ext cx="402336" cy="40233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86384" y="3145536"/>
            <a:ext cx="1841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高管与业务访谈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2673706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2902306" y="2423160"/>
            <a:ext cx="1987906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5090" y="2633472"/>
            <a:ext cx="402336" cy="40233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2975458" y="3145536"/>
            <a:ext cx="1841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流程与任务梳理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4862779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19"/>
          <p:cNvSpPr/>
          <p:nvPr/>
        </p:nvSpPr>
        <p:spPr>
          <a:xfrm>
            <a:off x="5091379" y="2423160"/>
            <a:ext cx="1987906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84164" y="2633472"/>
            <a:ext cx="402336" cy="40233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164531" y="3145536"/>
            <a:ext cx="1841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AI机会识别</a:t>
            </a:r>
            <a:endParaRPr lang="en-US" sz="1350" dirty="0"/>
          </a:p>
        </p:txBody>
      </p:sp>
      <p:sp>
        <p:nvSpPr>
          <p:cNvPr id="26" name="Text 21"/>
          <p:cNvSpPr txBox="1"/>
          <p:nvPr/>
        </p:nvSpPr>
        <p:spPr>
          <a:xfrm>
            <a:off x="7051853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2"/>
          <p:cNvSpPr/>
          <p:nvPr/>
        </p:nvSpPr>
        <p:spPr>
          <a:xfrm>
            <a:off x="7280453" y="2423160"/>
            <a:ext cx="1987906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FFAA42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73238" y="2633472"/>
            <a:ext cx="402336" cy="40233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353605" y="3145536"/>
            <a:ext cx="1841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优先级评估</a:t>
            </a:r>
            <a:endParaRPr lang="en-US" sz="1350" dirty="0"/>
          </a:p>
        </p:txBody>
      </p:sp>
      <p:sp>
        <p:nvSpPr>
          <p:cNvPr id="30" name="Text 24"/>
          <p:cNvSpPr txBox="1"/>
          <p:nvPr/>
        </p:nvSpPr>
        <p:spPr>
          <a:xfrm>
            <a:off x="9240926" y="2944368"/>
            <a:ext cx="2560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Shape 25"/>
          <p:cNvSpPr/>
          <p:nvPr/>
        </p:nvSpPr>
        <p:spPr>
          <a:xfrm>
            <a:off x="9469526" y="2423160"/>
            <a:ext cx="1987906" cy="1417320"/>
          </a:xfrm>
          <a:prstGeom prst="roundRect">
            <a:avLst>
              <a:gd name="adj" fmla="val 516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62311" y="2633472"/>
            <a:ext cx="402336" cy="40233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542678" y="3145536"/>
            <a:ext cx="1841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方案与PoC设计</a:t>
            </a:r>
            <a:endParaRPr lang="en-US" sz="1350" dirty="0"/>
          </a:p>
        </p:txBody>
      </p:sp>
      <p:sp>
        <p:nvSpPr>
          <p:cNvPr id="34" name="Shape 27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输出：企业AI机会地图、Top项目候选、方案草案和PoC路线建议。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8C6CFF">
              <a:alpha val="8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8C6CFF">
              <a:alpha val="7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8C6CFF">
              <a:alpha val="7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8C6CFF">
              <a:alpha val="67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8C6CFF">
              <a:alpha val="61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8C6CFF">
              <a:alpha val="5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8C6CFF">
              <a:alpha val="4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8C6CFF">
              <a:alpha val="4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6583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234440"/>
            <a:ext cx="7955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AI时代的人与组织</a:t>
            </a:r>
            <a:endParaRPr lang="en-US" sz="35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" y="25420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从使用AI，到构建AI驱动企业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58368" y="3703320"/>
            <a:ext cx="8046720" cy="1234440"/>
          </a:xfrm>
          <a:prstGeom prst="roundRect">
            <a:avLst>
              <a:gd name="adj" fmla="val 5926"/>
            </a:avLst>
          </a:prstGeom>
          <a:solidFill>
            <a:srgbClr val="11233F">
              <a:alpha val="97000"/>
            </a:srgbClr>
          </a:solidFill>
          <a:ln w="12700">
            <a:solidFill>
              <a:srgbClr val="8C6CFF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688" y="4005072"/>
            <a:ext cx="502920" cy="5029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691640" y="3877056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AI最终改变的不只是工具，而是工作、人才、管理和组织。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9464040" y="1325880"/>
            <a:ext cx="1920240" cy="1920240"/>
          </a:xfrm>
          <a:prstGeom prst="ellipse">
            <a:avLst/>
          </a:prstGeom>
          <a:solidFill>
            <a:srgbClr val="091D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48672" y="1810512"/>
            <a:ext cx="960120" cy="9601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619488" y="3840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4000" dirty="0"/>
          </a:p>
        </p:txBody>
      </p:sp>
      <p:sp>
        <p:nvSpPr>
          <p:cNvPr id="19" name="Text 15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企业AI转型与应用实践｜模块导航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8C6CFF">
              <a:alpha val="8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8C6CFF">
              <a:alpha val="7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8C6CFF">
              <a:alpha val="7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8C6CFF">
              <a:alpha val="67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8C6CFF">
              <a:alpha val="61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8C6CFF">
              <a:alpha val="5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8C6CFF">
              <a:alpha val="4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8C6CFF">
              <a:alpha val="4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4｜工作单元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AI改变工作的基本单元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从“岗位分工”，逐步走向“目标与任务协同”。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1783080"/>
            <a:ext cx="49377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1783080"/>
            <a:ext cx="49377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AI重新设计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2148840"/>
            <a:ext cx="5074920" cy="2926080"/>
          </a:xfrm>
          <a:prstGeom prst="roundRect">
            <a:avLst>
              <a:gd name="adj" fmla="val 2500"/>
            </a:avLst>
          </a:prstGeom>
          <a:solidFill>
            <a:srgbClr val="0A1D35"/>
          </a:solidFill>
          <a:ln w="12700">
            <a:solidFill>
              <a:srgbClr val="607A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832" y="23134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607A9A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9848" y="2432304"/>
            <a:ext cx="237744" cy="23774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554480" y="23134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过去：岗位中心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978408" y="2834640"/>
            <a:ext cx="4672584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 → 人 → 固定职责 → 操作系统 → 完成任务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897880" y="3364992"/>
            <a:ext cx="502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6400800" y="2148840"/>
            <a:ext cx="4983480" cy="2926080"/>
          </a:xfrm>
          <a:prstGeom prst="roundRect">
            <a:avLst>
              <a:gd name="adj" fmla="val 2500"/>
            </a:avLst>
          </a:prstGeom>
          <a:solidFill>
            <a:srgbClr val="0D294A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65392" y="23134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3408" y="2432304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178040" y="23134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未来：任务中心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6601968" y="2834640"/>
            <a:ext cx="4581144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业务目标 → 任务拆解 → 人 + AI分工 → 动态协作 → 业务结果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8C6CFF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岗位不会消失，但岗位内部的任务组合和价值重心会持续变化。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8C6CFF">
              <a:alpha val="8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8C6CFF">
              <a:alpha val="7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8C6CFF">
              <a:alpha val="7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8C6CFF">
              <a:alpha val="67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8C6CFF">
              <a:alpha val="61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8C6CFF">
              <a:alpha val="5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8C6CFF">
              <a:alpha val="4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8C6CFF">
              <a:alpha val="4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4｜员工角色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员工从执行者，转向AI协作者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人的价值从信息处理，转向问题定义、判断、创造与关系。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1783080"/>
            <a:ext cx="49377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1783080"/>
            <a:ext cx="49377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AI重新设计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2148840"/>
            <a:ext cx="5074920" cy="2926080"/>
          </a:xfrm>
          <a:prstGeom prst="roundRect">
            <a:avLst>
              <a:gd name="adj" fmla="val 2500"/>
            </a:avLst>
          </a:prstGeom>
          <a:solidFill>
            <a:srgbClr val="0A1D35"/>
          </a:solidFill>
          <a:ln w="12700">
            <a:solidFill>
              <a:srgbClr val="607A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832" y="23134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607A9A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9848" y="2432304"/>
            <a:ext cx="237744" cy="23774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554480" y="23134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过去的工作重心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978408" y="2834640"/>
            <a:ext cx="4672584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查找信息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整理材料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重复执行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操作流程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生成标准内容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897880" y="3364992"/>
            <a:ext cx="502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6400800" y="2148840"/>
            <a:ext cx="4983480" cy="2926080"/>
          </a:xfrm>
          <a:prstGeom prst="roundRect">
            <a:avLst>
              <a:gd name="adj" fmla="val 2500"/>
            </a:avLst>
          </a:prstGeom>
          <a:solidFill>
            <a:srgbClr val="0D294A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65392" y="23134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3408" y="2432304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178040" y="23134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未来的工作重心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6601968" y="2834640"/>
            <a:ext cx="4581144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定义问题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设定目标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判断结果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创造突破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管理AI协作者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8C6CFF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AI不会平均地替代岗位，而会重新分配岗位内部不同任务的时间和价值。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8C6CFF">
              <a:alpha val="8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8C6CFF">
              <a:alpha val="7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8C6CFF">
              <a:alpha val="7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8C6CFF">
              <a:alpha val="67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8C6CFF">
              <a:alpha val="61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8C6CFF">
              <a:alpha val="5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8C6CFF">
              <a:alpha val="4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8C6CFF">
              <a:alpha val="4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4｜人才模型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AI时代的 π 型人才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既有专业深度，也能设计人机协作与系统。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14400" y="1874520"/>
            <a:ext cx="10332720" cy="777240"/>
          </a:xfrm>
          <a:prstGeom prst="roundRect">
            <a:avLst>
              <a:gd name="adj" fmla="val 9412"/>
            </a:avLst>
          </a:prstGeom>
          <a:solidFill>
            <a:srgbClr val="171E42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43000" y="206654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跨域能力：AI协作 · 沟通 · 系统思维 · 价值判断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011680" y="2651760"/>
            <a:ext cx="2560320" cy="2697480"/>
          </a:xfrm>
          <a:prstGeom prst="roundRect">
            <a:avLst>
              <a:gd name="adj" fmla="val 2857"/>
            </a:avLst>
          </a:prstGeom>
          <a:solidFill>
            <a:srgbClr val="0B203B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31720" y="2971800"/>
            <a:ext cx="1920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 / 专业深度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2377440" y="3703320"/>
            <a:ext cx="18288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理解客户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理解流程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理解价值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形成专业判断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89520" y="2651760"/>
            <a:ext cx="2560320" cy="2697480"/>
          </a:xfrm>
          <a:prstGeom prst="roundRect">
            <a:avLst>
              <a:gd name="adj" fmla="val 2857"/>
            </a:avLst>
          </a:prstGeom>
          <a:solidFill>
            <a:srgbClr val="0B2C35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18120" y="2971800"/>
            <a:ext cx="21031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/ 系统构建深度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3703320"/>
            <a:ext cx="18288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设计工作流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连接工具与知识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评估与治理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持续优化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8C6CFF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未来高价值人才，不只是“会使用AI”，而是能把AI转化为业务系统。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8C6CFF">
              <a:alpha val="8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8C6CFF">
              <a:alpha val="7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8C6CFF">
              <a:alpha val="7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8C6CFF">
              <a:alpha val="67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8C6CFF">
              <a:alpha val="61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8C6CFF">
              <a:alpha val="5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8C6CFF">
              <a:alpha val="4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8C6CFF">
              <a:alpha val="4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4｜管理者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管理者的新角色：管理人 + AI团队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管理对象扩大，管理机制也必须更新。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187452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408" y="215798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63040" y="203911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定义目标</a:t>
            </a:r>
            <a:endParaRPr lang="en-US" sz="1620" dirty="0"/>
          </a:p>
        </p:txBody>
      </p:sp>
      <p:sp>
        <p:nvSpPr>
          <p:cNvPr id="19" name="Text 16"/>
          <p:cNvSpPr txBox="1"/>
          <p:nvPr/>
        </p:nvSpPr>
        <p:spPr>
          <a:xfrm>
            <a:off x="886968" y="256032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让人和AI理解共同的结果与边界。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217920" y="187452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8251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0528" y="215798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995160" y="203911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设计分工</a:t>
            </a:r>
            <a:endParaRPr lang="en-US" sz="1620" dirty="0"/>
          </a:p>
        </p:txBody>
      </p:sp>
      <p:sp>
        <p:nvSpPr>
          <p:cNvPr id="24" name="Text 20"/>
          <p:cNvSpPr txBox="1"/>
          <p:nvPr/>
        </p:nvSpPr>
        <p:spPr>
          <a:xfrm>
            <a:off x="6419088" y="256032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决定哪些任务由人、AI或协同完成。</a:t>
            </a:r>
            <a:endParaRPr lang="en-US" sz="1080" dirty="0"/>
          </a:p>
        </p:txBody>
      </p:sp>
      <p:sp>
        <p:nvSpPr>
          <p:cNvPr id="25" name="Shape 21"/>
          <p:cNvSpPr/>
          <p:nvPr/>
        </p:nvSpPr>
        <p:spPr>
          <a:xfrm>
            <a:off x="685800" y="374904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50392" y="39136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8408" y="403250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463040" y="39136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管理绩效</a:t>
            </a:r>
            <a:endParaRPr lang="en-US" sz="1620" dirty="0"/>
          </a:p>
        </p:txBody>
      </p:sp>
      <p:sp>
        <p:nvSpPr>
          <p:cNvPr id="29" name="Text 24"/>
          <p:cNvSpPr txBox="1"/>
          <p:nvPr/>
        </p:nvSpPr>
        <p:spPr>
          <a:xfrm>
            <a:off x="886968" y="443484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评估质量、成本、速度和业务结果。</a:t>
            </a:r>
            <a:endParaRPr lang="en-US" sz="1080" dirty="0"/>
          </a:p>
        </p:txBody>
      </p:sp>
      <p:sp>
        <p:nvSpPr>
          <p:cNvPr id="30" name="Shape 25"/>
          <p:cNvSpPr/>
          <p:nvPr/>
        </p:nvSpPr>
        <p:spPr>
          <a:xfrm>
            <a:off x="6217920" y="374904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382512" y="39136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0528" y="4032504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995160" y="39136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控制风险</a:t>
            </a:r>
            <a:endParaRPr lang="en-US" sz="1620" dirty="0"/>
          </a:p>
        </p:txBody>
      </p:sp>
      <p:sp>
        <p:nvSpPr>
          <p:cNvPr id="34" name="Text 28"/>
          <p:cNvSpPr txBox="1"/>
          <p:nvPr/>
        </p:nvSpPr>
        <p:spPr>
          <a:xfrm>
            <a:off x="6419088" y="443484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权限、责任、升级和异常处理。</a:t>
            </a:r>
            <a:endParaRPr lang="en-US" sz="1080" dirty="0"/>
          </a:p>
        </p:txBody>
      </p:sp>
      <p:sp>
        <p:nvSpPr>
          <p:cNvPr id="35" name="Shape 2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8C6CFF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未来管理者不仅要会“用AI”，更要会设计和监督AI工作系统。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8C6CFF">
              <a:alpha val="8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8C6CFF">
              <a:alpha val="7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8C6CFF">
              <a:alpha val="7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8C6CFF">
              <a:alpha val="67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8C6CFF">
              <a:alpha val="61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8C6CFF">
              <a:alpha val="5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8C6CFF">
              <a:alpha val="4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8C6CFF">
              <a:alpha val="4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4｜组织机制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Transformation Office｜转型推动机制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AI转型不是IT团队单独完成的项目。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187452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688" y="215798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17320" y="20391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高管 Sponsor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2560320"/>
            <a:ext cx="234086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方向、资源与跨部门决策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584448" y="187452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749040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7056" y="215798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361688" y="20391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 Owner</a:t>
            </a:r>
            <a:endParaRPr lang="en-US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3785616" y="2560320"/>
            <a:ext cx="234086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问题、流程与业务结果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528816" y="1874520"/>
            <a:ext cx="2423160" cy="1280160"/>
          </a:xfrm>
          <a:prstGeom prst="roundRect">
            <a:avLst>
              <a:gd name="adj" fmla="val 5714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693408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21424" y="215798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7306056" y="20391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/ 产品</a:t>
            </a:r>
            <a:endParaRPr lang="en-US" sz="1450" dirty="0"/>
          </a:p>
        </p:txBody>
      </p:sp>
      <p:sp>
        <p:nvSpPr>
          <p:cNvPr id="29" name="Text 24"/>
          <p:cNvSpPr txBox="1"/>
          <p:nvPr/>
        </p:nvSpPr>
        <p:spPr>
          <a:xfrm>
            <a:off x="6729984" y="2560320"/>
            <a:ext cx="202082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方案与体验设计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9162288" y="187452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9326880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54896" y="2157984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9939528" y="20391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/ IT</a:t>
            </a:r>
            <a:endParaRPr lang="en-US" sz="1450" dirty="0"/>
          </a:p>
        </p:txBody>
      </p:sp>
      <p:sp>
        <p:nvSpPr>
          <p:cNvPr id="34" name="Text 28"/>
          <p:cNvSpPr txBox="1"/>
          <p:nvPr/>
        </p:nvSpPr>
        <p:spPr>
          <a:xfrm>
            <a:off x="9363456" y="2560320"/>
            <a:ext cx="197510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数据、系统与安全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1645920" y="370332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D2747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1810512" y="38679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38528" y="3986784"/>
            <a:ext cx="237744" cy="23774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2423160" y="38679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流程专家</a:t>
            </a:r>
            <a:endParaRPr lang="en-US" sz="1450" dirty="0"/>
          </a:p>
        </p:txBody>
      </p:sp>
      <p:sp>
        <p:nvSpPr>
          <p:cNvPr id="39" name="Text 32"/>
          <p:cNvSpPr txBox="1"/>
          <p:nvPr/>
        </p:nvSpPr>
        <p:spPr>
          <a:xfrm>
            <a:off x="1847088" y="4389120"/>
            <a:ext cx="234086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任务拆解与人机分工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4736592" y="370332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4901184" y="38679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29200" y="3986784"/>
            <a:ext cx="237744" cy="237744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5513832" y="38679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评估与治理</a:t>
            </a:r>
            <a:endParaRPr lang="en-US" sz="1450" dirty="0"/>
          </a:p>
        </p:txBody>
      </p:sp>
      <p:sp>
        <p:nvSpPr>
          <p:cNvPr id="44" name="Text 36"/>
          <p:cNvSpPr txBox="1"/>
          <p:nvPr/>
        </p:nvSpPr>
        <p:spPr>
          <a:xfrm>
            <a:off x="4937760" y="4389120"/>
            <a:ext cx="234086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Eval、风险和运营机制</a:t>
            </a:r>
            <a:endParaRPr lang="en-US" sz="1050" dirty="0"/>
          </a:p>
        </p:txBody>
      </p:sp>
      <p:sp>
        <p:nvSpPr>
          <p:cNvPr id="45" name="Shape 37"/>
          <p:cNvSpPr/>
          <p:nvPr/>
        </p:nvSpPr>
        <p:spPr>
          <a:xfrm>
            <a:off x="7827264" y="370332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7991856" y="38679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19872" y="3986784"/>
            <a:ext cx="237744" cy="237744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8604504" y="38679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一线用户</a:t>
            </a:r>
            <a:endParaRPr lang="en-US" sz="1450" dirty="0"/>
          </a:p>
        </p:txBody>
      </p:sp>
      <p:sp>
        <p:nvSpPr>
          <p:cNvPr id="49" name="Text 40"/>
          <p:cNvSpPr txBox="1"/>
          <p:nvPr/>
        </p:nvSpPr>
        <p:spPr>
          <a:xfrm>
            <a:off x="8028432" y="4389120"/>
            <a:ext cx="234086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真实反馈、采用与持续改进</a:t>
            </a:r>
            <a:endParaRPr lang="en-US" sz="1050" dirty="0"/>
          </a:p>
        </p:txBody>
      </p:sp>
      <p:sp>
        <p:nvSpPr>
          <p:cNvPr id="50" name="Shape 41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8C6CFF"/>
            </a:solidFill>
            <a:prstDash val="solid"/>
          </a:ln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52" name="Text 42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AI项目需要业务、流程、产品、数据、技术和治理的跨职能协作。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8C6CFF">
              <a:alpha val="8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8C6CFF">
              <a:alpha val="7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8C6CFF">
              <a:alpha val="7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8C6CFF">
              <a:alpha val="67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8C6CFF">
              <a:alpha val="61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8C6CFF">
              <a:alpha val="55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8C6CFF">
              <a:alpha val="49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8C6CFF">
              <a:alpha val="43000"/>
            </a:srgbClr>
          </a:solidFill>
          <a:ln w="12700">
            <a:solidFill>
              <a:srgbClr val="8C6C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4｜成熟度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 AI 成熟度模型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成熟度不等于工具数量，而是组织能力深度。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0D2747"/>
          </a:solidFill>
          <a:ln w="12700">
            <a:solidFill>
              <a:srgbClr val="607A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446227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482803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Awareness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5376672"/>
            <a:ext cx="1627632" cy="-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认知与零散尝试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71800" y="3721608"/>
            <a:ext cx="1965960" cy="1353312"/>
          </a:xfrm>
          <a:prstGeom prst="roundRect">
            <a:avLst>
              <a:gd name="adj" fmla="val 5405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36392" y="38862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136392" y="425196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User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136392" y="4800600"/>
            <a:ext cx="16276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个人使用与提效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12080" y="3145536"/>
            <a:ext cx="1965960" cy="1929384"/>
          </a:xfrm>
          <a:prstGeom prst="roundRect">
            <a:avLst>
              <a:gd name="adj" fmla="val 3791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76672" y="33101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376672" y="367588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Team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376672" y="422452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团队复用与Workflow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52360" y="2569464"/>
            <a:ext cx="1965960" cy="2505456"/>
          </a:xfrm>
          <a:prstGeom prst="roundRect">
            <a:avLst>
              <a:gd name="adj" fmla="val 3721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16952" y="273405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616952" y="3099816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Process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616952" y="3648456"/>
            <a:ext cx="162763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流程智能化与Agent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692640" y="1993392"/>
            <a:ext cx="1965960" cy="3081528"/>
          </a:xfrm>
          <a:prstGeom prst="roundRect">
            <a:avLst>
              <a:gd name="adj" fmla="val 372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857232" y="21579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857232" y="252374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Native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9857232" y="3072384"/>
            <a:ext cx="1627632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产品、服务与组织重构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8C6CFF"/>
            </a:solidFill>
            <a:prstDash val="solid"/>
          </a:ln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企业可以在不同业务领域处于不同成熟度；评估的目的不是打分，而是确定下一步。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WORKSHOP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从今天开始：你的第一个 AI 行动是什么？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把培训中的启发，转化为一个可讨论、可验证的业务机会。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现场共创模板｜可打印使用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187452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0B263C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408" y="215798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63040" y="20391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1｜哪项工作最值得重新设计？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86968" y="2560320"/>
            <a:ext cx="3026664" cy="2359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它是否高频、耗时、信息密集、依赖经验？</a:t>
            </a:r>
            <a:endParaRPr lang="en-US" sz="1020" dirty="0"/>
          </a:p>
          <a:p>
            <a:pPr algn="l" indent="0" marL="0">
              <a:buNone/>
            </a:pP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请写出一个具体任务，而不是一个部门或岗位。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4370832" y="187452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0B263C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35424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3440" y="215798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148072" y="20391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2｜AI可以介入哪一步？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4572000" y="2560320"/>
            <a:ext cx="3026664" cy="2359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理解、检索、生成、判断、监控、执行？</a:t>
            </a:r>
            <a:endParaRPr lang="en-US" sz="1020" dirty="0"/>
          </a:p>
          <a:p>
            <a:pPr algn="l" indent="0" marL="0">
              <a:buNone/>
            </a:pP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AI应该做什么，人必须保留什么？</a:t>
            </a:r>
            <a:endParaRPr lang="en-US" sz="1020" dirty="0"/>
          </a:p>
        </p:txBody>
      </p:sp>
      <p:sp>
        <p:nvSpPr>
          <p:cNvPr id="25" name="Shape 21"/>
          <p:cNvSpPr/>
          <p:nvPr/>
        </p:nvSpPr>
        <p:spPr>
          <a:xfrm>
            <a:off x="8046720" y="187452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0B263C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21131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39328" y="215798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823960" y="20391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3｜如何证明有价值？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247888" y="2560320"/>
            <a:ext cx="3026664" cy="2359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时间、质量、体验、成本、收入或风险？</a:t>
            </a:r>
            <a:endParaRPr lang="en-US" sz="1020" dirty="0"/>
          </a:p>
          <a:p>
            <a:pPr algn="l" indent="0" marL="0">
              <a:buNone/>
            </a:pP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选择一个可以比较的基线指标。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2BD7D5">
              <a:alpha val="8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2BD7D5">
              <a:alpha val="7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2BD7D5">
              <a:alpha val="7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2BD7D5">
              <a:alpha val="67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2BD7D5">
              <a:alpha val="61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2BD7D5">
              <a:alpha val="55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2BD7D5">
              <a:alpha val="49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2BD7D5">
              <a:alpha val="43000"/>
            </a:srgbClr>
          </a:solidFill>
          <a:ln w="12700">
            <a:solidFill>
              <a:srgbClr val="2BD7D5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14300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 AI 转型，从重新设计第一项工作开始。</a:t>
            </a:r>
            <a:endParaRPr lang="en-US" sz="3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146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AI不会自动创造价值，重新设计工作的人才会。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94360" y="3794760"/>
            <a:ext cx="2029968" cy="1234440"/>
          </a:xfrm>
          <a:prstGeom prst="roundRect">
            <a:avLst>
              <a:gd name="adj" fmla="val 5926"/>
            </a:avLst>
          </a:prstGeom>
          <a:solidFill>
            <a:srgbClr val="0B203B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" y="395935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6968" y="4078224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371600" y="3959352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 AI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615184" y="4224528"/>
            <a:ext cx="2743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2898648" y="3794760"/>
            <a:ext cx="2029968" cy="1234440"/>
          </a:xfrm>
          <a:prstGeom prst="roundRect">
            <a:avLst>
              <a:gd name="adj" fmla="val 5926"/>
            </a:avLst>
          </a:prstGeom>
          <a:solidFill>
            <a:srgbClr val="0B203B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063240" y="395935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91256" y="4078224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3675888" y="3959352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发现机会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4919472" y="4224528"/>
            <a:ext cx="2743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18"/>
          <p:cNvSpPr/>
          <p:nvPr/>
        </p:nvSpPr>
        <p:spPr>
          <a:xfrm>
            <a:off x="5202936" y="3794760"/>
            <a:ext cx="2029968" cy="1234440"/>
          </a:xfrm>
          <a:prstGeom prst="roundRect">
            <a:avLst>
              <a:gd name="adj" fmla="val 5926"/>
            </a:avLst>
          </a:prstGeom>
          <a:solidFill>
            <a:srgbClr val="0B203B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367528" y="395935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95544" y="4078224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980176" y="3959352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设计方案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7223760" y="4224528"/>
            <a:ext cx="2743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2"/>
          <p:cNvSpPr/>
          <p:nvPr/>
        </p:nvSpPr>
        <p:spPr>
          <a:xfrm>
            <a:off x="7507224" y="3794760"/>
            <a:ext cx="2029968" cy="1234440"/>
          </a:xfrm>
          <a:prstGeom prst="roundRect">
            <a:avLst>
              <a:gd name="adj" fmla="val 5926"/>
            </a:avLst>
          </a:prstGeom>
          <a:solidFill>
            <a:srgbClr val="0B203B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671816" y="395935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99832" y="4078224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284464" y="3959352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验证价值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9528048" y="4224528"/>
            <a:ext cx="2743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A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32" name="Shape 26"/>
          <p:cNvSpPr/>
          <p:nvPr/>
        </p:nvSpPr>
        <p:spPr>
          <a:xfrm>
            <a:off x="9811512" y="3794760"/>
            <a:ext cx="2029968" cy="1234440"/>
          </a:xfrm>
          <a:prstGeom prst="roundRect">
            <a:avLst>
              <a:gd name="adj" fmla="val 5926"/>
            </a:avLst>
          </a:prstGeom>
          <a:solidFill>
            <a:srgbClr val="0B203B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9976104" y="395935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04120" y="4078224"/>
            <a:ext cx="237744" cy="237744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0588752" y="3959352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规模推广</a:t>
            </a:r>
            <a:endParaRPr lang="en-US" sz="1400" dirty="0"/>
          </a:p>
        </p:txBody>
      </p:sp>
      <p:sp>
        <p:nvSpPr>
          <p:cNvPr id="36" name="Text 29"/>
          <p:cNvSpPr txBox="1"/>
          <p:nvPr/>
        </p:nvSpPr>
        <p:spPr>
          <a:xfrm>
            <a:off x="1874520" y="55778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Discovery → Solution Design → Pilot Delivery → Scale Up</a:t>
            </a:r>
            <a:endParaRPr lang="en-US" sz="1400" dirty="0"/>
          </a:p>
        </p:txBody>
      </p:sp>
      <p:sp>
        <p:nvSpPr>
          <p:cNvPr id="37" name="Text 30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企业AI转型与应用实践｜Thank You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6583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234440"/>
            <a:ext cx="7955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附录与工作坊工具</a:t>
            </a:r>
            <a:endParaRPr lang="en-US" sz="35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" y="25420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可打印、可复用、可直接用于企业共创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58368" y="3703320"/>
            <a:ext cx="8046720" cy="1234440"/>
          </a:xfrm>
          <a:prstGeom prst="roundRect">
            <a:avLst>
              <a:gd name="adj" fmla="val 5926"/>
            </a:avLst>
          </a:prstGeom>
          <a:solidFill>
            <a:srgbClr val="11233F">
              <a:alpha val="97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688" y="4005072"/>
            <a:ext cx="502920" cy="5029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691640" y="3877056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以下模板用于培训现场或后续AI Discovery项目。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9464040" y="1325880"/>
            <a:ext cx="1920240" cy="1920240"/>
          </a:xfrm>
          <a:prstGeom prst="ellipse">
            <a:avLst/>
          </a:prstGeom>
          <a:solidFill>
            <a:srgbClr val="091D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48672" y="1810512"/>
            <a:ext cx="960120" cy="9601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619488" y="3840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0A</a:t>
            </a:r>
            <a:endParaRPr lang="en-US" sz="4000" dirty="0"/>
          </a:p>
        </p:txBody>
      </p:sp>
      <p:sp>
        <p:nvSpPr>
          <p:cNvPr id="19" name="Text 15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企业AI转型与应用实践｜模块导航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WORKSHOP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Opportunity Card｜机会卡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用一页纸描述一个值得探索的AI机会。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现场共创模板｜可打印使用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4360" y="178308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0B263C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" y="194767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6968" y="206654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371600" y="19476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业务领域 / 场景名称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95528" y="2468880"/>
            <a:ext cx="320954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部门、流程、具体任务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4389120" y="178308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0B263C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53712" y="194767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81728" y="206654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166360" y="19476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业务目标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4590288" y="2468880"/>
            <a:ext cx="320954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希望改善的业务结果</a:t>
            </a:r>
            <a:endParaRPr lang="en-US" sz="1020" dirty="0"/>
          </a:p>
        </p:txBody>
      </p:sp>
      <p:sp>
        <p:nvSpPr>
          <p:cNvPr id="25" name="Shape 21"/>
          <p:cNvSpPr/>
          <p:nvPr/>
        </p:nvSpPr>
        <p:spPr>
          <a:xfrm>
            <a:off x="8183880" y="178308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0B263C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348472" y="194767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76488" y="206654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961120" y="1947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参与角色 / Owner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385048" y="2468880"/>
            <a:ext cx="302666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谁使用、谁负责</a:t>
            </a:r>
            <a:endParaRPr lang="en-US" sz="1020" dirty="0"/>
          </a:p>
        </p:txBody>
      </p:sp>
      <p:sp>
        <p:nvSpPr>
          <p:cNvPr id="30" name="Shape 25"/>
          <p:cNvSpPr/>
          <p:nvPr/>
        </p:nvSpPr>
        <p:spPr>
          <a:xfrm>
            <a:off x="594360" y="3035808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0B263C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58952" y="3200400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6968" y="3319272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371600" y="3200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当前流程与痛点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795528" y="3721608"/>
            <a:ext cx="3209544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现在怎么做？哪里耗时、易错、响应慢、难复制？</a:t>
            </a:r>
            <a:endParaRPr lang="en-US" sz="1020" dirty="0"/>
          </a:p>
        </p:txBody>
      </p:sp>
      <p:sp>
        <p:nvSpPr>
          <p:cNvPr id="35" name="Shape 29"/>
          <p:cNvSpPr/>
          <p:nvPr/>
        </p:nvSpPr>
        <p:spPr>
          <a:xfrm>
            <a:off x="4389120" y="3035808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0B263C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4553712" y="3200400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81728" y="3319272"/>
            <a:ext cx="237744" cy="23774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5166360" y="3200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AI机会与人机分工</a:t>
            </a:r>
            <a:endParaRPr lang="en-US" sz="1400" dirty="0"/>
          </a:p>
        </p:txBody>
      </p:sp>
      <p:sp>
        <p:nvSpPr>
          <p:cNvPr id="39" name="Text 32"/>
          <p:cNvSpPr txBox="1"/>
          <p:nvPr/>
        </p:nvSpPr>
        <p:spPr>
          <a:xfrm>
            <a:off x="4590288" y="3721608"/>
            <a:ext cx="3209544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AI可以介入哪里？人必须保留什么？</a:t>
            </a:r>
            <a:endParaRPr lang="en-US" sz="1020" dirty="0"/>
          </a:p>
        </p:txBody>
      </p:sp>
      <p:sp>
        <p:nvSpPr>
          <p:cNvPr id="40" name="Shape 33"/>
          <p:cNvSpPr/>
          <p:nvPr/>
        </p:nvSpPr>
        <p:spPr>
          <a:xfrm>
            <a:off x="8183880" y="3035808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0B263C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8348472" y="3200400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76488" y="3319272"/>
            <a:ext cx="237744" cy="237744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8961120" y="32004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成功指标与下一步</a:t>
            </a:r>
            <a:endParaRPr lang="en-US" sz="1400" dirty="0"/>
          </a:p>
        </p:txBody>
      </p:sp>
      <p:sp>
        <p:nvSpPr>
          <p:cNvPr id="44" name="Text 36"/>
          <p:cNvSpPr txBox="1"/>
          <p:nvPr/>
        </p:nvSpPr>
        <p:spPr>
          <a:xfrm>
            <a:off x="8385048" y="3721608"/>
            <a:ext cx="3026664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如何衡量？未来30天做什么？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WORKSHOP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Opportunity Score｜机会评分表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建议使用1–5分，先独立评分，再小组讨论。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现场共创模板｜可打印使用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1828800"/>
            <a:ext cx="2057400" cy="3291840"/>
          </a:xfrm>
          <a:prstGeom prst="roundRect">
            <a:avLst>
              <a:gd name="adj" fmla="val 3556"/>
            </a:avLst>
          </a:prstGeom>
          <a:solidFill>
            <a:srgbClr val="0B263C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19933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408" y="211226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63040" y="19933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86968" y="2514600"/>
            <a:ext cx="1655064" cy="2450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 / 成本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 / 风险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战略重要性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2880360" y="1828800"/>
            <a:ext cx="2057400" cy="3291840"/>
          </a:xfrm>
          <a:prstGeom prst="roundRect">
            <a:avLst>
              <a:gd name="adj" fmla="val 3556"/>
            </a:avLst>
          </a:prstGeom>
          <a:solidFill>
            <a:srgbClr val="0B263C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044952" y="19933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2968" y="211226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3657600" y="19933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任务适配度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3081528" y="2514600"/>
            <a:ext cx="1655064" cy="2450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信息密集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规则存在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</a:t>
            </a:r>
            <a:endParaRPr lang="en-US" sz="1020" dirty="0"/>
          </a:p>
        </p:txBody>
      </p:sp>
      <p:sp>
        <p:nvSpPr>
          <p:cNvPr id="25" name="Shape 21"/>
          <p:cNvSpPr/>
          <p:nvPr/>
        </p:nvSpPr>
        <p:spPr>
          <a:xfrm>
            <a:off x="5074920" y="1828800"/>
            <a:ext cx="2057400" cy="3291840"/>
          </a:xfrm>
          <a:prstGeom prst="roundRect">
            <a:avLst>
              <a:gd name="adj" fmla="val 3556"/>
            </a:avLst>
          </a:prstGeom>
          <a:solidFill>
            <a:srgbClr val="0B263C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239512" y="19933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67528" y="211226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5852160" y="19933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数据基础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5276088" y="2514600"/>
            <a:ext cx="1655064" cy="2450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可访问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可理解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可信任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可运营</a:t>
            </a:r>
            <a:endParaRPr lang="en-US" sz="1020" dirty="0"/>
          </a:p>
        </p:txBody>
      </p:sp>
      <p:sp>
        <p:nvSpPr>
          <p:cNvPr id="30" name="Shape 25"/>
          <p:cNvSpPr/>
          <p:nvPr/>
        </p:nvSpPr>
        <p:spPr>
          <a:xfrm>
            <a:off x="7269480" y="1828800"/>
            <a:ext cx="2057400" cy="3291840"/>
          </a:xfrm>
          <a:prstGeom prst="roundRect">
            <a:avLst>
              <a:gd name="adj" fmla="val 3556"/>
            </a:avLst>
          </a:prstGeom>
          <a:solidFill>
            <a:srgbClr val="0B263C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34072" y="19933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62088" y="2112264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046720" y="19933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实施复杂度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7470648" y="2514600"/>
            <a:ext cx="1655064" cy="2450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系统连接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流程变化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安全治理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技术难度</a:t>
            </a:r>
            <a:endParaRPr lang="en-US" sz="1020" dirty="0"/>
          </a:p>
        </p:txBody>
      </p:sp>
      <p:sp>
        <p:nvSpPr>
          <p:cNvPr id="35" name="Shape 29"/>
          <p:cNvSpPr/>
          <p:nvPr/>
        </p:nvSpPr>
        <p:spPr>
          <a:xfrm>
            <a:off x="9464040" y="1828800"/>
            <a:ext cx="2057400" cy="3291840"/>
          </a:xfrm>
          <a:prstGeom prst="roundRect">
            <a:avLst>
              <a:gd name="adj" fmla="val 3556"/>
            </a:avLst>
          </a:prstGeom>
          <a:solidFill>
            <a:srgbClr val="0B263C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9628632" y="19933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56648" y="2112264"/>
            <a:ext cx="237744" cy="23774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0241280" y="19933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组织准备度</a:t>
            </a:r>
            <a:endParaRPr lang="en-US" sz="1400" dirty="0"/>
          </a:p>
        </p:txBody>
      </p:sp>
      <p:sp>
        <p:nvSpPr>
          <p:cNvPr id="39" name="Text 32"/>
          <p:cNvSpPr txBox="1"/>
          <p:nvPr/>
        </p:nvSpPr>
        <p:spPr>
          <a:xfrm>
            <a:off x="9665208" y="2514600"/>
            <a:ext cx="1655064" cy="2450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业务Owner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用户意愿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资源投入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跨部门协同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WORKSHOP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Solution Canvas｜方案画布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从机会进入方案设计。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现场共创模板｜可打印使用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173736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0B263C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190195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202082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325880" y="190195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用户与场景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" y="2423160"/>
            <a:ext cx="234086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谁、何时、为什么使用？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3456432" y="173736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0B263C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21024" y="190195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49040" y="202082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233672" y="190195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目标与成功标准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3657600" y="2423160"/>
            <a:ext cx="234086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希望完成什么结果？</a:t>
            </a:r>
            <a:endParaRPr lang="en-US" sz="1020" dirty="0"/>
          </a:p>
        </p:txBody>
      </p:sp>
      <p:sp>
        <p:nvSpPr>
          <p:cNvPr id="25" name="Shape 21"/>
          <p:cNvSpPr/>
          <p:nvPr/>
        </p:nvSpPr>
        <p:spPr>
          <a:xfrm>
            <a:off x="6364224" y="173736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0B263C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528816" y="190195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56832" y="202082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7141464" y="19019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输入与知识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6565392" y="2423160"/>
            <a:ext cx="211226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数据、资料、规则</a:t>
            </a:r>
            <a:endParaRPr lang="en-US" sz="1020" dirty="0"/>
          </a:p>
        </p:txBody>
      </p:sp>
      <p:sp>
        <p:nvSpPr>
          <p:cNvPr id="30" name="Shape 25"/>
          <p:cNvSpPr/>
          <p:nvPr/>
        </p:nvSpPr>
        <p:spPr>
          <a:xfrm>
            <a:off x="9043416" y="173736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0B263C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9208008" y="190195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36024" y="2020824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9820656" y="190195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AI能力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9244584" y="2423160"/>
            <a:ext cx="215798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理解、生成、判断、执行</a:t>
            </a:r>
            <a:endParaRPr lang="en-US" sz="1020" dirty="0"/>
          </a:p>
        </p:txBody>
      </p:sp>
      <p:sp>
        <p:nvSpPr>
          <p:cNvPr id="35" name="Shape 29"/>
          <p:cNvSpPr/>
          <p:nvPr/>
        </p:nvSpPr>
        <p:spPr>
          <a:xfrm>
            <a:off x="548640" y="3218688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0B263C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713232" y="3383280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3502152"/>
            <a:ext cx="237744" cy="23774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325880" y="33832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流程与状态</a:t>
            </a:r>
            <a:endParaRPr lang="en-US" sz="1400" dirty="0"/>
          </a:p>
        </p:txBody>
      </p:sp>
      <p:sp>
        <p:nvSpPr>
          <p:cNvPr id="39" name="Text 32"/>
          <p:cNvSpPr txBox="1"/>
          <p:nvPr/>
        </p:nvSpPr>
        <p:spPr>
          <a:xfrm>
            <a:off x="749808" y="3904488"/>
            <a:ext cx="234086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步骤、依赖、异常</a:t>
            </a:r>
            <a:endParaRPr lang="en-US" sz="1020" dirty="0"/>
          </a:p>
        </p:txBody>
      </p:sp>
      <p:sp>
        <p:nvSpPr>
          <p:cNvPr id="40" name="Shape 33"/>
          <p:cNvSpPr/>
          <p:nvPr/>
        </p:nvSpPr>
        <p:spPr>
          <a:xfrm>
            <a:off x="3456432" y="3218688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0B263C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3621024" y="3383280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49040" y="3502152"/>
            <a:ext cx="237744" cy="237744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4233672" y="33832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工具与系统</a:t>
            </a:r>
            <a:endParaRPr lang="en-US" sz="1400" dirty="0"/>
          </a:p>
        </p:txBody>
      </p:sp>
      <p:sp>
        <p:nvSpPr>
          <p:cNvPr id="44" name="Text 36"/>
          <p:cNvSpPr txBox="1"/>
          <p:nvPr/>
        </p:nvSpPr>
        <p:spPr>
          <a:xfrm>
            <a:off x="3657600" y="3904488"/>
            <a:ext cx="234086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API、SaaS、数据库</a:t>
            </a:r>
            <a:endParaRPr lang="en-US" sz="1020" dirty="0"/>
          </a:p>
        </p:txBody>
      </p:sp>
      <p:sp>
        <p:nvSpPr>
          <p:cNvPr id="45" name="Shape 37"/>
          <p:cNvSpPr/>
          <p:nvPr/>
        </p:nvSpPr>
        <p:spPr>
          <a:xfrm>
            <a:off x="6364224" y="3218688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0B263C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6528816" y="3383280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56832" y="3502152"/>
            <a:ext cx="237744" cy="237744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7141464" y="33832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人机控制</a:t>
            </a:r>
            <a:endParaRPr lang="en-US" sz="1400" dirty="0"/>
          </a:p>
        </p:txBody>
      </p:sp>
      <p:sp>
        <p:nvSpPr>
          <p:cNvPr id="49" name="Text 40"/>
          <p:cNvSpPr txBox="1"/>
          <p:nvPr/>
        </p:nvSpPr>
        <p:spPr>
          <a:xfrm>
            <a:off x="6565392" y="3904488"/>
            <a:ext cx="211226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确认、升级、停止、回滚</a:t>
            </a:r>
            <a:endParaRPr lang="en-US" sz="1020" dirty="0"/>
          </a:p>
        </p:txBody>
      </p:sp>
      <p:sp>
        <p:nvSpPr>
          <p:cNvPr id="50" name="Shape 41"/>
          <p:cNvSpPr/>
          <p:nvPr/>
        </p:nvSpPr>
        <p:spPr>
          <a:xfrm>
            <a:off x="9043416" y="3218688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0B263C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51" name="Shape 42"/>
          <p:cNvSpPr/>
          <p:nvPr/>
        </p:nvSpPr>
        <p:spPr>
          <a:xfrm>
            <a:off x="9208008" y="3383280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336024" y="3502152"/>
            <a:ext cx="237744" cy="237744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9820656" y="33832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评估指标</a:t>
            </a:r>
            <a:endParaRPr lang="en-US" sz="1400" dirty="0"/>
          </a:p>
        </p:txBody>
      </p:sp>
      <p:sp>
        <p:nvSpPr>
          <p:cNvPr id="54" name="Text 44"/>
          <p:cNvSpPr txBox="1"/>
          <p:nvPr/>
        </p:nvSpPr>
        <p:spPr>
          <a:xfrm>
            <a:off x="9244584" y="3904488"/>
            <a:ext cx="215798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体验、效率、质量、业务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WORKSHOP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Enterprise AI Case Card｜案例卡模板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用于把外部案例转化为本企业可讨论的启发。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现场共创模板｜可打印使用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182880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0B263C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19933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688" y="211226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17320" y="1993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业务背景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2514600"/>
            <a:ext cx="302666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行业、角色、任务和问题。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4370832" y="182880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0B263C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35424" y="19933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3440" y="211226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148072" y="1993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传统方式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4572000" y="2514600"/>
            <a:ext cx="302666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当前流程、痛点和限制。</a:t>
            </a:r>
            <a:endParaRPr lang="en-US" sz="1020" dirty="0"/>
          </a:p>
        </p:txBody>
      </p:sp>
      <p:sp>
        <p:nvSpPr>
          <p:cNvPr id="25" name="Shape 21"/>
          <p:cNvSpPr/>
          <p:nvPr/>
        </p:nvSpPr>
        <p:spPr>
          <a:xfrm>
            <a:off x="8101584" y="182880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0B263C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266176" y="199339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94192" y="211226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878824" y="1993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AI重新设计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302752" y="2514600"/>
            <a:ext cx="302666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能力、工具、流程与控制。</a:t>
            </a:r>
            <a:endParaRPr lang="en-US" sz="1020" dirty="0"/>
          </a:p>
        </p:txBody>
      </p:sp>
      <p:sp>
        <p:nvSpPr>
          <p:cNvPr id="30" name="Shape 25"/>
          <p:cNvSpPr/>
          <p:nvPr/>
        </p:nvSpPr>
        <p:spPr>
          <a:xfrm>
            <a:off x="640080" y="3584448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0B263C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04672" y="3749040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2688" y="3867912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417320" y="3749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人机分工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841248" y="4270248"/>
            <a:ext cx="302666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AI做什么？人负责什么？</a:t>
            </a:r>
            <a:endParaRPr lang="en-US" sz="1020" dirty="0"/>
          </a:p>
        </p:txBody>
      </p:sp>
      <p:sp>
        <p:nvSpPr>
          <p:cNvPr id="35" name="Shape 29"/>
          <p:cNvSpPr/>
          <p:nvPr/>
        </p:nvSpPr>
        <p:spPr>
          <a:xfrm>
            <a:off x="4370832" y="3584448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0B263C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4535424" y="3749040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63440" y="3867912"/>
            <a:ext cx="237744" cy="23774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5148072" y="3749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</a:t>
            </a:r>
            <a:endParaRPr lang="en-US" sz="1400" dirty="0"/>
          </a:p>
        </p:txBody>
      </p:sp>
      <p:sp>
        <p:nvSpPr>
          <p:cNvPr id="39" name="Text 32"/>
          <p:cNvSpPr txBox="1"/>
          <p:nvPr/>
        </p:nvSpPr>
        <p:spPr>
          <a:xfrm>
            <a:off x="4572000" y="4270248"/>
            <a:ext cx="302666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效率、质量、体验、收入、风险。</a:t>
            </a:r>
            <a:endParaRPr lang="en-US" sz="1020" dirty="0"/>
          </a:p>
        </p:txBody>
      </p:sp>
      <p:sp>
        <p:nvSpPr>
          <p:cNvPr id="40" name="Shape 33"/>
          <p:cNvSpPr/>
          <p:nvPr/>
        </p:nvSpPr>
        <p:spPr>
          <a:xfrm>
            <a:off x="8101584" y="3584448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0B263C"/>
          </a:solidFill>
          <a:ln w="12700">
            <a:solidFill>
              <a:srgbClr val="FFAA42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8266176" y="3749040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FFAA42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94192" y="3867912"/>
            <a:ext cx="237744" cy="237744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8878824" y="3749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适用条件与风险</a:t>
            </a:r>
            <a:endParaRPr lang="en-US" sz="1400" dirty="0"/>
          </a:p>
        </p:txBody>
      </p:sp>
      <p:sp>
        <p:nvSpPr>
          <p:cNvPr id="44" name="Text 36"/>
          <p:cNvSpPr txBox="1"/>
          <p:nvPr/>
        </p:nvSpPr>
        <p:spPr>
          <a:xfrm>
            <a:off x="8302752" y="4270248"/>
            <a:ext cx="302666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数据、系统、组织与治理前提。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APPENDIX｜WORKSHOP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一天工作坊建议节奏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讲授与共创交替，避免纯粹“听课”。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51560" y="3200400"/>
            <a:ext cx="10058400" cy="0"/>
          </a:xfrm>
          <a:prstGeom prst="line">
            <a:avLst/>
          </a:prstGeom>
          <a:noFill/>
          <a:ln w="25400">
            <a:solidFill>
              <a:srgbClr val="183C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2852928"/>
            <a:ext cx="658368" cy="658368"/>
          </a:xfrm>
          <a:prstGeom prst="ellipse">
            <a:avLst/>
          </a:prstGeom>
          <a:solidFill>
            <a:srgbClr val="0B2039"/>
          </a:solidFill>
          <a:ln w="15240">
            <a:solidFill>
              <a:srgbClr val="2E9B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29809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" y="19933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09:00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46888" y="363931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开场与认知冲击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71800" y="2852928"/>
            <a:ext cx="658368" cy="658368"/>
          </a:xfrm>
          <a:prstGeom prst="ellipse">
            <a:avLst/>
          </a:prstGeom>
          <a:solidFill>
            <a:srgbClr val="0B2039"/>
          </a:solidFill>
          <a:ln w="15240">
            <a:solidFill>
              <a:srgbClr val="2BD7D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71800" y="29809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331720" y="19933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10:00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258568" y="363931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理解AI能力进化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83480" y="2852928"/>
            <a:ext cx="658368" cy="658368"/>
          </a:xfrm>
          <a:prstGeom prst="ellipse">
            <a:avLst/>
          </a:prstGeom>
          <a:solidFill>
            <a:srgbClr val="0B2039"/>
          </a:solidFill>
          <a:ln w="15240">
            <a:solidFill>
              <a:srgbClr val="8C6C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83480" y="29809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6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343400" y="19933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11:15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270248" y="363931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个人与团队案例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95160" y="2852928"/>
            <a:ext cx="658368" cy="658368"/>
          </a:xfrm>
          <a:prstGeom prst="ellipse">
            <a:avLst/>
          </a:prstGeom>
          <a:solidFill>
            <a:srgbClr val="0B2039"/>
          </a:solidFill>
          <a:ln w="15240">
            <a:solidFill>
              <a:srgbClr val="FFAA4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95160" y="29809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19933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13:30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281928" y="363931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Agent与AI Native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006840" y="2852928"/>
            <a:ext cx="658368" cy="658368"/>
          </a:xfrm>
          <a:prstGeom prst="ellipse">
            <a:avLst/>
          </a:prstGeom>
          <a:solidFill>
            <a:srgbClr val="0B2039"/>
          </a:solidFill>
          <a:ln w="15240">
            <a:solidFill>
              <a:srgbClr val="35D49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006840" y="29809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366760" y="19933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15:00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293608" y="363931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机会卡与评分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1018520" y="2852928"/>
            <a:ext cx="658368" cy="658368"/>
          </a:xfrm>
          <a:prstGeom prst="ellipse">
            <a:avLst/>
          </a:prstGeom>
          <a:solidFill>
            <a:srgbClr val="0B2039"/>
          </a:solidFill>
          <a:ln w="15240">
            <a:solidFill>
              <a:srgbClr val="2E9B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1018520" y="29809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378440" y="19933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16:30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0305288" y="363931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小组汇报与下一步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42" name="Text 39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建议根据学员成熟度动态调整讲授深度，把更多时间留给本企业场景讨论。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6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32004" cy="32004"/>
          </a:xfrm>
          <a:prstGeom prst="ellipse">
            <a:avLst/>
          </a:prstGeom>
          <a:solidFill>
            <a:srgbClr val="35D49C">
              <a:alpha val="8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731520"/>
            <a:ext cx="42977" cy="42977"/>
          </a:xfrm>
          <a:prstGeom prst="ellipse">
            <a:avLst/>
          </a:prstGeom>
          <a:solidFill>
            <a:srgbClr val="35D49C">
              <a:alpha val="7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53950" cy="53950"/>
          </a:xfrm>
          <a:prstGeom prst="ellipse">
            <a:avLst/>
          </a:prstGeom>
          <a:solidFill>
            <a:srgbClr val="35D49C">
              <a:alpha val="7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126480"/>
            <a:ext cx="32004" cy="32004"/>
          </a:xfrm>
          <a:prstGeom prst="ellipse">
            <a:avLst/>
          </a:prstGeom>
          <a:solidFill>
            <a:srgbClr val="35D49C">
              <a:alpha val="67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5852160"/>
            <a:ext cx="42977" cy="42977"/>
          </a:xfrm>
          <a:prstGeom prst="ellipse">
            <a:avLst/>
          </a:prstGeom>
          <a:solidFill>
            <a:srgbClr val="35D49C">
              <a:alpha val="61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56032"/>
            <a:ext cx="53950" cy="53950"/>
          </a:xfrm>
          <a:prstGeom prst="ellipse">
            <a:avLst/>
          </a:prstGeom>
          <a:solidFill>
            <a:srgbClr val="35D49C">
              <a:alpha val="55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309360"/>
            <a:ext cx="32004" cy="32004"/>
          </a:xfrm>
          <a:prstGeom prst="ellipse">
            <a:avLst/>
          </a:prstGeom>
          <a:solidFill>
            <a:srgbClr val="35D49C">
              <a:alpha val="49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6080760"/>
            <a:ext cx="42977" cy="42977"/>
          </a:xfrm>
          <a:prstGeom prst="ellipse">
            <a:avLst/>
          </a:prstGeom>
          <a:solidFill>
            <a:srgbClr val="35D49C">
              <a:alpha val="43000"/>
            </a:srgbClr>
          </a:solidFill>
          <a:ln w="12700">
            <a:solidFill>
              <a:srgbClr val="35D49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19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4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APPENDIX｜术语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7607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关键术语：用业务语言理解技术概念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1338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FB4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培训中通俗词为主，专业术语作为对应关系保留。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11109960" cy="0"/>
          </a:xfrm>
          <a:prstGeom prst="line">
            <a:avLst/>
          </a:prstGeom>
          <a:noFill/>
          <a:ln w="12700">
            <a:solidFill>
              <a:srgbClr val="183C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651967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课程自制框架｜示意案例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187452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2E9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E9BF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408" y="215798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63040" y="203911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RAG｜先查再答</a:t>
            </a:r>
            <a:endParaRPr lang="en-US" sz="1620" dirty="0"/>
          </a:p>
        </p:txBody>
      </p:sp>
      <p:sp>
        <p:nvSpPr>
          <p:cNvPr id="19" name="Text 16"/>
          <p:cNvSpPr txBox="1"/>
          <p:nvPr/>
        </p:nvSpPr>
        <p:spPr>
          <a:xfrm>
            <a:off x="886968" y="256032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把相关资料临时拿到模型工作台上。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217920" y="187452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2BD7D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82512" y="203911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2BD7D5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0528" y="215798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995160" y="203911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Tools / MCP｜插座与通道</a:t>
            </a:r>
            <a:endParaRPr lang="en-US" sz="1620" dirty="0"/>
          </a:p>
        </p:txBody>
      </p:sp>
      <p:sp>
        <p:nvSpPr>
          <p:cNvPr id="24" name="Text 20"/>
          <p:cNvSpPr txBox="1"/>
          <p:nvPr/>
        </p:nvSpPr>
        <p:spPr>
          <a:xfrm>
            <a:off x="6419088" y="256032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让AI连接和使用外部系统。</a:t>
            </a:r>
            <a:endParaRPr lang="en-US" sz="1080" dirty="0"/>
          </a:p>
        </p:txBody>
      </p:sp>
      <p:sp>
        <p:nvSpPr>
          <p:cNvPr id="25" name="Shape 21"/>
          <p:cNvSpPr/>
          <p:nvPr/>
        </p:nvSpPr>
        <p:spPr>
          <a:xfrm>
            <a:off x="685800" y="374904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8C6CF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50392" y="39136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8C6CFF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8408" y="403250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463040" y="39136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 / State｜笔记与任务状态</a:t>
            </a:r>
            <a:endParaRPr lang="en-US" sz="1620" dirty="0"/>
          </a:p>
        </p:txBody>
      </p:sp>
      <p:sp>
        <p:nvSpPr>
          <p:cNvPr id="29" name="Text 24"/>
          <p:cNvSpPr txBox="1"/>
          <p:nvPr/>
        </p:nvSpPr>
        <p:spPr>
          <a:xfrm>
            <a:off x="886968" y="443484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跨任务保留信息并持续推进。</a:t>
            </a:r>
            <a:endParaRPr lang="en-US" sz="1080" dirty="0"/>
          </a:p>
        </p:txBody>
      </p:sp>
      <p:sp>
        <p:nvSpPr>
          <p:cNvPr id="30" name="Shape 25"/>
          <p:cNvSpPr/>
          <p:nvPr/>
        </p:nvSpPr>
        <p:spPr>
          <a:xfrm>
            <a:off x="6217920" y="374904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0D2747"/>
          </a:solidFill>
          <a:ln w="12700">
            <a:solidFill>
              <a:srgbClr val="35D49C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382512" y="3913632"/>
            <a:ext cx="493776" cy="493776"/>
          </a:xfrm>
          <a:prstGeom prst="ellipse">
            <a:avLst/>
          </a:prstGeom>
          <a:solidFill>
            <a:srgbClr val="0B1F37"/>
          </a:solidFill>
          <a:ln w="15240">
            <a:solidFill>
              <a:srgbClr val="35D49C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0528" y="4032504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995160" y="391363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Harness｜执行与控制系统</a:t>
            </a:r>
            <a:endParaRPr lang="en-US" sz="1620" dirty="0"/>
          </a:p>
        </p:txBody>
      </p:sp>
      <p:sp>
        <p:nvSpPr>
          <p:cNvPr id="34" name="Text 28"/>
          <p:cNvSpPr txBox="1"/>
          <p:nvPr/>
        </p:nvSpPr>
        <p:spPr>
          <a:xfrm>
            <a:off x="6419088" y="4434840"/>
            <a:ext cx="4882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权限、状态、日志、评估与异常处理。</a:t>
            </a:r>
            <a:endParaRPr lang="en-US" sz="1080" dirty="0"/>
          </a:p>
        </p:txBody>
      </p:sp>
      <p:sp>
        <p:nvSpPr>
          <p:cNvPr id="35" name="Shape 29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091F39">
              <a:alpha val="92000"/>
            </a:srgbClr>
          </a:solidFill>
          <a:ln w="12700">
            <a:solidFill>
              <a:srgbClr val="35D49C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248" y="5843016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124712" y="5797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4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技术术语不是课程主角；理解它们如何改变工作，才是关键。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892B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95</Slides>
  <Notes>95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Company>AI Matrix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企业AI转型与应用实践｜完整版</dc:title>
  <dc:subject>企业AI转型与应用实践</dc:subject>
  <dc:creator>Enterprise AI Transformation Workshop</dc:creator>
  <cp:lastModifiedBy>Enterprise AI Transformation Workshop</cp:lastModifiedBy>
  <cp:revision>1</cp:revision>
  <dcterms:created xsi:type="dcterms:W3CDTF">2026-07-31T06:09:21Z</dcterms:created>
  <dcterms:modified xsi:type="dcterms:W3CDTF">2026-07-31T06:09:21Z</dcterms:modified>
</cp:coreProperties>
</file>